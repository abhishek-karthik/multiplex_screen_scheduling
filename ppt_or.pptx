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74" r:id="rId9"/>
    <p:sldId id="275" r:id="rId10"/>
    <p:sldId id="267" r:id="rId11"/>
    <p:sldId id="268" r:id="rId12"/>
    <p:sldId id="269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74F"/>
          </a:solidFill>
          <a:ln>
            <a:solidFill>
              <a:srgbClr val="1F3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1051560"/>
            <a:ext cx="45720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00" b="1">
                <a:solidFill>
                  <a:srgbClr val="376092"/>
                </a:solidFill>
                <a:latin typeface="Aptos"/>
              </a:rPr>
              <a:t>OPERATIONS RESEARCH  |  FIRST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508760"/>
            <a:ext cx="9875520" cy="92948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lang="en-US" sz="2900" b="1" dirty="0">
                <a:solidFill>
                  <a:srgbClr val="1F374F"/>
                </a:solidFill>
                <a:latin typeface="Aptos"/>
              </a:rPr>
              <a:t>Multi-Model Optimization Framework for Multiplex Screen Scheduling and Revenue Management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68096" y="4160520"/>
            <a:ext cx="10341864" cy="0"/>
          </a:xfrm>
          <a:prstGeom prst="line">
            <a:avLst/>
          </a:prstGeom>
          <a:ln w="12700">
            <a:solidFill>
              <a:srgbClr val="CD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96E6F19-001A-C7BE-5A85-1BD8FA782855}"/>
              </a:ext>
            </a:extLst>
          </p:cNvPr>
          <p:cNvSpPr txBox="1"/>
          <p:nvPr/>
        </p:nvSpPr>
        <p:spPr>
          <a:xfrm>
            <a:off x="923544" y="4245152"/>
            <a:ext cx="614476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Group 14</a:t>
            </a:r>
          </a:p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</a:t>
            </a:r>
          </a:p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ABHISHEK KARTHIK - CB.SC.U4AIE23010</a:t>
            </a:r>
          </a:p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ABHISHEK R-CB.SC.U4AIE23011</a:t>
            </a:r>
          </a:p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MP MOTHISWARAN-CB.SC.U4AIE23041</a:t>
            </a:r>
          </a:p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M.S. BAVESH REDDY -CB.SC.U4AIE23044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37844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400" b="1">
                <a:solidFill>
                  <a:srgbClr val="1F374F"/>
                </a:solidFill>
                <a:latin typeface="Aptos"/>
              </a:rPr>
              <a:t>What Are We Actually Trying to Do?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804672"/>
            <a:ext cx="10972800" cy="0"/>
          </a:xfrm>
          <a:prstGeom prst="line">
            <a:avLst/>
          </a:prstGeom>
          <a:ln w="17780">
            <a:solidFill>
              <a:srgbClr val="1F3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09960" y="283464"/>
            <a:ext cx="41148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Aptos"/>
              </a:rPr>
              <a:t>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00800"/>
            <a:ext cx="10972800" cy="0"/>
          </a:xfrm>
          <a:prstGeom prst="line">
            <a:avLst/>
          </a:prstGeom>
          <a:ln w="8890">
            <a:solidFill>
              <a:srgbClr val="CD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09960" y="6464808"/>
            <a:ext cx="41148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800" b="0">
                <a:solidFill>
                  <a:srgbClr val="5A5A5A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78992"/>
            <a:ext cx="1069848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500" b="0">
                <a:solidFill>
                  <a:srgbClr val="232323"/>
                </a:solidFill>
                <a:latin typeface="Aptos"/>
              </a:rPr>
              <a:t>The main goal is not simply to choose popular movies. It is to build a decision-support system that answers a complete scheduling problem.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74519"/>
            <a:ext cx="27432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00" b="1">
                <a:solidFill>
                  <a:srgbClr val="376092"/>
                </a:solidFill>
                <a:latin typeface="Aptos"/>
              </a:rPr>
              <a:t>INPUT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176272"/>
            <a:ext cx="31546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2514600"/>
            <a:ext cx="274320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32323"/>
                </a:solidFill>
                <a:latin typeface="Aptos"/>
              </a:defRPr>
            </a:pPr>
            <a:r>
              <a:t>• Movie metadata</a:t>
            </a:r>
          </a:p>
          <a:p>
            <a:pPr>
              <a:spcAft>
                <a:spcPts val="500"/>
              </a:spcAft>
              <a:defRPr sz="1200">
                <a:solidFill>
                  <a:srgbClr val="232323"/>
                </a:solidFill>
                <a:latin typeface="Aptos"/>
              </a:defRPr>
            </a:pPr>
            <a:r>
              <a:t>• Release date / age</a:t>
            </a:r>
          </a:p>
          <a:p>
            <a:pPr>
              <a:spcAft>
                <a:spcPts val="500"/>
              </a:spcAft>
              <a:defRPr sz="1200">
                <a:solidFill>
                  <a:srgbClr val="232323"/>
                </a:solidFill>
                <a:latin typeface="Aptos"/>
              </a:defRPr>
            </a:pPr>
            <a:r>
              <a:t>• Popularity and revenue</a:t>
            </a:r>
          </a:p>
          <a:p>
            <a:pPr>
              <a:spcAft>
                <a:spcPts val="500"/>
              </a:spcAft>
              <a:defRPr sz="1200">
                <a:solidFill>
                  <a:srgbClr val="232323"/>
                </a:solidFill>
                <a:latin typeface="Aptos"/>
              </a:defRPr>
            </a:pPr>
            <a:r>
              <a:t>• Genres</a:t>
            </a:r>
          </a:p>
          <a:p>
            <a:pPr>
              <a:spcAft>
                <a:spcPts val="500"/>
              </a:spcAft>
              <a:defRPr sz="1200">
                <a:solidFill>
                  <a:srgbClr val="232323"/>
                </a:solidFill>
                <a:latin typeface="Aptos"/>
              </a:defRPr>
            </a:pPr>
            <a:r>
              <a:t>• Runtime</a:t>
            </a:r>
          </a:p>
          <a:p>
            <a:pPr>
              <a:spcAft>
                <a:spcPts val="500"/>
              </a:spcAft>
              <a:defRPr sz="1200">
                <a:solidFill>
                  <a:srgbClr val="232323"/>
                </a:solidFill>
                <a:latin typeface="Aptos"/>
              </a:defRPr>
            </a:pPr>
            <a:r>
              <a:t>• Screens and time slots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1874519"/>
            <a:ext cx="27432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00" b="1">
                <a:solidFill>
                  <a:srgbClr val="376092"/>
                </a:solidFill>
                <a:latin typeface="Aptos"/>
              </a:rPr>
              <a:t>DECISION PROCESS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98848" y="2176272"/>
            <a:ext cx="3154680" cy="2240280"/>
          </a:xfrm>
          <a:prstGeom prst="rect">
            <a:avLst/>
          </a:prstGeom>
          <a:solidFill>
            <a:srgbClr val="E7EFF7"/>
          </a:solidFill>
          <a:ln w="12700"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09160" y="2514600"/>
            <a:ext cx="2743200" cy="11798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32323"/>
                </a:solidFill>
                <a:latin typeface="Aptos"/>
              </a:defRPr>
            </a:pPr>
            <a:r>
              <a:rPr dirty="0"/>
              <a:t>• Which films to license?</a:t>
            </a:r>
          </a:p>
          <a:p>
            <a:pPr>
              <a:spcAft>
                <a:spcPts val="500"/>
              </a:spcAft>
              <a:defRPr sz="1200">
                <a:solidFill>
                  <a:srgbClr val="232323"/>
                </a:solidFill>
                <a:latin typeface="Aptos"/>
              </a:defRPr>
            </a:pPr>
            <a:r>
              <a:rPr dirty="0"/>
              <a:t>• How much screen capacity per genre?</a:t>
            </a:r>
          </a:p>
          <a:p>
            <a:pPr>
              <a:spcAft>
                <a:spcPts val="500"/>
              </a:spcAft>
              <a:defRPr sz="1200">
                <a:solidFill>
                  <a:srgbClr val="232323"/>
                </a:solidFill>
                <a:latin typeface="Aptos"/>
              </a:defRPr>
            </a:pPr>
            <a:r>
              <a:rPr dirty="0"/>
              <a:t>• Which film goes to which screen?</a:t>
            </a:r>
          </a:p>
          <a:p>
            <a:pPr>
              <a:spcAft>
                <a:spcPts val="500"/>
              </a:spcAft>
              <a:defRPr sz="1200">
                <a:solidFill>
                  <a:srgbClr val="232323"/>
                </a:solidFill>
                <a:latin typeface="Aptos"/>
              </a:defRPr>
            </a:pPr>
            <a:r>
              <a:rPr dirty="0"/>
              <a:t>• Which time slot should it occupy?</a:t>
            </a:r>
          </a:p>
          <a:p>
            <a:pPr>
              <a:spcAft>
                <a:spcPts val="500"/>
              </a:spcAft>
              <a:defRPr sz="1200">
                <a:solidFill>
                  <a:srgbClr val="232323"/>
                </a:solidFill>
                <a:latin typeface="Aptos"/>
              </a:defRPr>
            </a:pP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8229600" y="1874519"/>
            <a:ext cx="27432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00" b="1">
                <a:solidFill>
                  <a:srgbClr val="376092"/>
                </a:solidFill>
                <a:latin typeface="Aptos"/>
              </a:rPr>
              <a:t>OUTPUT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176272"/>
            <a:ext cx="31546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39912" y="2514600"/>
            <a:ext cx="274320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32323"/>
                </a:solidFill>
                <a:latin typeface="Aptos"/>
              </a:defRPr>
            </a:pPr>
            <a:r>
              <a:t>• Final one-day schedule</a:t>
            </a:r>
          </a:p>
          <a:p>
            <a:pPr>
              <a:spcAft>
                <a:spcPts val="500"/>
              </a:spcAft>
              <a:defRPr sz="1200">
                <a:solidFill>
                  <a:srgbClr val="232323"/>
                </a:solidFill>
                <a:latin typeface="Aptos"/>
              </a:defRPr>
            </a:pPr>
            <a:r>
              <a:t>• Film–screen–slot assignments</a:t>
            </a:r>
          </a:p>
          <a:p>
            <a:pPr>
              <a:spcAft>
                <a:spcPts val="500"/>
              </a:spcAft>
              <a:defRPr sz="1200">
                <a:solidFill>
                  <a:srgbClr val="232323"/>
                </a:solidFill>
                <a:latin typeface="Aptos"/>
              </a:defRPr>
            </a:pPr>
            <a:r>
              <a:t>• Revenue estimate</a:t>
            </a:r>
          </a:p>
          <a:p>
            <a:pPr>
              <a:spcAft>
                <a:spcPts val="500"/>
              </a:spcAft>
              <a:defRPr sz="1200">
                <a:solidFill>
                  <a:srgbClr val="232323"/>
                </a:solidFill>
                <a:latin typeface="Aptos"/>
              </a:defRPr>
            </a:pPr>
            <a:r>
              <a:t>• Occupancy estimate</a:t>
            </a:r>
          </a:p>
          <a:p>
            <a:pPr>
              <a:spcAft>
                <a:spcPts val="500"/>
              </a:spcAft>
              <a:defRPr sz="1200">
                <a:solidFill>
                  <a:srgbClr val="232323"/>
                </a:solidFill>
                <a:latin typeface="Aptos"/>
              </a:defRPr>
            </a:pPr>
            <a:r>
              <a:t>• Genre coverage</a:t>
            </a:r>
          </a:p>
          <a:p>
            <a:pPr>
              <a:spcAft>
                <a:spcPts val="500"/>
              </a:spcAft>
              <a:defRPr sz="1200">
                <a:solidFill>
                  <a:srgbClr val="232323"/>
                </a:solidFill>
                <a:latin typeface="Aptos"/>
              </a:defRPr>
            </a:pPr>
            <a:r>
              <a:t>• Goal-attainment report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892040"/>
            <a:ext cx="10607040" cy="658368"/>
          </a:xfrm>
          <a:prstGeom prst="rect">
            <a:avLst/>
          </a:prstGeom>
          <a:solidFill>
            <a:srgbClr val="F2F4F6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5093208"/>
            <a:ext cx="10241280" cy="2468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250" b="1">
                <a:solidFill>
                  <a:srgbClr val="1F374F"/>
                </a:solidFill>
                <a:latin typeface="Aptos"/>
              </a:rPr>
              <a:t>Key idea: each OR model solves one part of the decision; the models are then chained so the output of one becomes an input to the next.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37844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400" b="1">
                <a:solidFill>
                  <a:srgbClr val="1F374F"/>
                </a:solidFill>
                <a:latin typeface="Aptos"/>
              </a:rPr>
              <a:t>Problem Statement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804672"/>
            <a:ext cx="10972800" cy="0"/>
          </a:xfrm>
          <a:prstGeom prst="line">
            <a:avLst/>
          </a:prstGeom>
          <a:ln w="17780">
            <a:solidFill>
              <a:srgbClr val="1F3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09960" y="283464"/>
            <a:ext cx="41148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Aptos"/>
              </a:rPr>
              <a:t>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00800"/>
            <a:ext cx="10972800" cy="0"/>
          </a:xfrm>
          <a:prstGeom prst="line">
            <a:avLst/>
          </a:prstGeom>
          <a:ln w="8890">
            <a:solidFill>
              <a:srgbClr val="CD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09960" y="6464808"/>
            <a:ext cx="41148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800" b="0">
                <a:solidFill>
                  <a:srgbClr val="5A5A5A"/>
                </a:solidFill>
                <a:latin typeface="Apto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51560"/>
            <a:ext cx="27432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00" b="1">
                <a:solidFill>
                  <a:srgbClr val="376092"/>
                </a:solidFill>
                <a:latin typeface="Aptos"/>
              </a:rPr>
              <a:t>BUSINESS / OPERATIONAL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53312"/>
            <a:ext cx="1060704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1F374F"/>
                </a:solidFill>
                <a:latin typeface="Aptos"/>
              </a:rPr>
              <a:t>A multiplex has limited screens, fixed time slots, limited licensing budget and different audience demand for different films.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48840"/>
            <a:ext cx="64922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32323"/>
                </a:solidFill>
                <a:latin typeface="Aptos"/>
              </a:defRPr>
            </a:pPr>
            <a:r>
              <a:t>• Selecting only the most popular films can ignore budget and diversity requirements.</a:t>
            </a:r>
          </a:p>
          <a:p>
            <a:pPr>
              <a:spcAft>
                <a:spcPts val="700"/>
              </a:spcAft>
              <a:defRPr sz="1300">
                <a:solidFill>
                  <a:srgbClr val="232323"/>
                </a:solidFill>
                <a:latin typeface="Aptos"/>
              </a:defRPr>
            </a:pPr>
            <a:r>
              <a:t>• Different screens have different capacities, so capacity must be allocated intelligently.</a:t>
            </a:r>
          </a:p>
          <a:p>
            <a:pPr>
              <a:spcAft>
                <a:spcPts val="700"/>
              </a:spcAft>
              <a:defRPr sz="1300">
                <a:solidFill>
                  <a:srgbClr val="232323"/>
                </a:solidFill>
                <a:latin typeface="Aptos"/>
              </a:defRPr>
            </a:pPr>
            <a:r>
              <a:t>• Every film has a runtime, and a cleanup buffer must fit between consecutive shows.</a:t>
            </a:r>
          </a:p>
          <a:p>
            <a:pPr>
              <a:spcAft>
                <a:spcPts val="700"/>
              </a:spcAft>
              <a:defRPr sz="1300">
                <a:solidFill>
                  <a:srgbClr val="232323"/>
                </a:solidFill>
                <a:latin typeface="Aptos"/>
              </a:defRPr>
            </a:pPr>
            <a:r>
              <a:t>• Demand is not constant: the project models demand decay as a film gets older.</a:t>
            </a:r>
          </a:p>
          <a:p>
            <a:pPr>
              <a:spcAft>
                <a:spcPts val="700"/>
              </a:spcAft>
              <a:defRPr sz="1300">
                <a:solidFill>
                  <a:srgbClr val="232323"/>
                </a:solidFill>
                <a:latin typeface="Aptos"/>
              </a:defRPr>
            </a:pPr>
            <a:r>
              <a:t>• Revenue, occupancy, genre diversity and idle time can conflict with one another.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2148840"/>
            <a:ext cx="3657600" cy="2606040"/>
          </a:xfrm>
          <a:prstGeom prst="rect">
            <a:avLst/>
          </a:prstGeom>
          <a:solidFill>
            <a:srgbClr val="E7EFF7"/>
          </a:solidFill>
          <a:ln w="12700"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09560" y="2468880"/>
            <a:ext cx="31089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000" b="1">
                <a:solidFill>
                  <a:srgbClr val="376092"/>
                </a:solidFill>
                <a:latin typeface="Aptos"/>
              </a:rPr>
              <a:t>PROJECT 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36992" y="2971800"/>
            <a:ext cx="3063240" cy="13258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400" b="1">
                <a:solidFill>
                  <a:srgbClr val="1F374F"/>
                </a:solidFill>
                <a:latin typeface="Aptos"/>
              </a:rPr>
              <a:t>How can we generate a feasible one-day multiplex schedule that gives a better operating plan than a simple popularity-based schedule?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111496"/>
            <a:ext cx="1024128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200" b="0">
                <a:solidFill>
                  <a:srgbClr val="5A5A5A"/>
                </a:solidFill>
                <a:latin typeface="Aptos"/>
              </a:rPr>
              <a:t>This is the reason an OR pipeline is useful: the problem contains several connected decisions rather than one single decision.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37844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400" b="1">
                <a:solidFill>
                  <a:srgbClr val="1F374F"/>
                </a:solidFill>
                <a:latin typeface="Aptos"/>
              </a:rPr>
              <a:t>Dataset — What Data Do We Actually Have?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804672"/>
            <a:ext cx="10972800" cy="0"/>
          </a:xfrm>
          <a:prstGeom prst="line">
            <a:avLst/>
          </a:prstGeom>
          <a:ln w="17780">
            <a:solidFill>
              <a:srgbClr val="1F3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09960" y="283464"/>
            <a:ext cx="41148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Aptos"/>
              </a:rPr>
              <a:t>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00800"/>
            <a:ext cx="10972800" cy="0"/>
          </a:xfrm>
          <a:prstGeom prst="line">
            <a:avLst/>
          </a:prstGeom>
          <a:ln w="8890">
            <a:solidFill>
              <a:srgbClr val="CD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09960" y="6464808"/>
            <a:ext cx="41148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800" b="0">
                <a:solidFill>
                  <a:srgbClr val="5A5A5A"/>
                </a:solidFill>
                <a:latin typeface="Apto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51560"/>
            <a:ext cx="27432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00" b="1">
                <a:solidFill>
                  <a:srgbClr val="376092"/>
                </a:solidFill>
                <a:latin typeface="Aptos"/>
              </a:rPr>
              <a:t>PRIMARY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53312"/>
            <a:ext cx="640080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>
                <a:solidFill>
                  <a:srgbClr val="1F374F"/>
                </a:solidFill>
                <a:latin typeface="Aptos"/>
              </a:rPr>
              <a:t>TMDB 5000 Movie Dataset (Kaggle)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54864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1">
                <a:solidFill>
                  <a:srgbClr val="376092"/>
                </a:solidFill>
                <a:latin typeface="Aptos"/>
              </a:rPr>
              <a:t>Primary file: tmdb_5000_movies.csv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94560"/>
            <a:ext cx="502920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32323"/>
                </a:solidFill>
                <a:latin typeface="Aptos"/>
              </a:defRPr>
            </a:pPr>
            <a:r>
              <a:t>• Budget and revenue</a:t>
            </a:r>
          </a:p>
          <a:p>
            <a:pPr>
              <a:spcAft>
                <a:spcPts val="600"/>
              </a:spcAft>
              <a:defRPr sz="1200">
                <a:solidFill>
                  <a:srgbClr val="232323"/>
                </a:solidFill>
                <a:latin typeface="Aptos"/>
              </a:defRPr>
            </a:pPr>
            <a:r>
              <a:t>• Popularity and vote-related metrics</a:t>
            </a:r>
          </a:p>
          <a:p>
            <a:pPr>
              <a:spcAft>
                <a:spcPts val="600"/>
              </a:spcAft>
              <a:defRPr sz="1200">
                <a:solidFill>
                  <a:srgbClr val="232323"/>
                </a:solidFill>
                <a:latin typeface="Aptos"/>
              </a:defRPr>
            </a:pPr>
            <a:r>
              <a:t>• Runtime</a:t>
            </a:r>
          </a:p>
          <a:p>
            <a:pPr>
              <a:spcAft>
                <a:spcPts val="600"/>
              </a:spcAft>
              <a:defRPr sz="1200">
                <a:solidFill>
                  <a:srgbClr val="232323"/>
                </a:solidFill>
                <a:latin typeface="Aptos"/>
              </a:defRPr>
            </a:pPr>
            <a:r>
              <a:t>• Release date</a:t>
            </a:r>
          </a:p>
          <a:p>
            <a:pPr>
              <a:spcAft>
                <a:spcPts val="600"/>
              </a:spcAft>
              <a:defRPr sz="1200">
                <a:solidFill>
                  <a:srgbClr val="232323"/>
                </a:solidFill>
                <a:latin typeface="Aptos"/>
              </a:defRPr>
            </a:pPr>
            <a:r>
              <a:t>• Genres</a:t>
            </a:r>
          </a:p>
          <a:p>
            <a:pPr>
              <a:spcAft>
                <a:spcPts val="600"/>
              </a:spcAft>
              <a:defRPr sz="1200">
                <a:solidFill>
                  <a:srgbClr val="232323"/>
                </a:solidFill>
                <a:latin typeface="Aptos"/>
              </a:defRPr>
            </a:pPr>
            <a:r>
              <a:t>• Spoken languages</a:t>
            </a:r>
          </a:p>
          <a:p>
            <a:pPr>
              <a:spcAft>
                <a:spcPts val="600"/>
              </a:spcAft>
              <a:defRPr sz="1200">
                <a:solidFill>
                  <a:srgbClr val="232323"/>
                </a:solidFill>
                <a:latin typeface="Aptos"/>
              </a:defRPr>
            </a:pPr>
            <a:r>
              <a:t>• Production companies</a:t>
            </a:r>
          </a:p>
          <a:p>
            <a:pPr>
              <a:spcAft>
                <a:spcPts val="600"/>
              </a:spcAft>
              <a:defRPr sz="1200">
                <a:solidFill>
                  <a:srgbClr val="232323"/>
                </a:solidFill>
                <a:latin typeface="Aptos"/>
              </a:defRPr>
            </a:pPr>
            <a:r>
              <a:t>• Movie 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417320"/>
            <a:ext cx="4983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1664208"/>
            <a:ext cx="43891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400" b="1">
                <a:solidFill>
                  <a:srgbClr val="1F374F"/>
                </a:solidFill>
                <a:latin typeface="Aptos"/>
              </a:rPr>
              <a:t>Dataset scale used in the project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03720" y="2240280"/>
            <a:ext cx="2331720" cy="530352"/>
          </a:xfrm>
          <a:prstGeom prst="rect">
            <a:avLst/>
          </a:prstGeom>
          <a:solidFill>
            <a:srgbClr val="F2F4F6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235440" y="2240280"/>
            <a:ext cx="1508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40880" y="2395728"/>
            <a:ext cx="201168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Original movies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386584"/>
            <a:ext cx="132588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200" b="1">
                <a:solidFill>
                  <a:srgbClr val="376092"/>
                </a:solidFill>
                <a:latin typeface="Aptos"/>
              </a:rPr>
              <a:t>4,803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03720" y="2953512"/>
            <a:ext cx="2331720" cy="530352"/>
          </a:xfrm>
          <a:prstGeom prst="rect">
            <a:avLst/>
          </a:prstGeom>
          <a:solidFill>
            <a:srgbClr val="F2F4F6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235440" y="2953512"/>
            <a:ext cx="1508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40880" y="3108960"/>
            <a:ext cx="201168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Columns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099816"/>
            <a:ext cx="132588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200" b="1">
                <a:solidFill>
                  <a:srgbClr val="376092"/>
                </a:solidFill>
                <a:latin typeface="Aptos"/>
              </a:rPr>
              <a:t>20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03720" y="3666744"/>
            <a:ext cx="2331720" cy="530352"/>
          </a:xfrm>
          <a:prstGeom prst="rect">
            <a:avLst/>
          </a:prstGeom>
          <a:solidFill>
            <a:srgbClr val="F2F4F6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235440" y="3666744"/>
            <a:ext cx="1508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40880" y="3822191"/>
            <a:ext cx="201168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After cleaning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3813048"/>
            <a:ext cx="132588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200" b="1">
                <a:solidFill>
                  <a:srgbClr val="376092"/>
                </a:solidFill>
                <a:latin typeface="Aptos"/>
              </a:rPr>
              <a:t>2,571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349240"/>
            <a:ext cx="10561320" cy="530352"/>
          </a:xfrm>
          <a:prstGeom prst="rect">
            <a:avLst/>
          </a:prstGeom>
          <a:solidFill>
            <a:srgbClr val="E7EFF7"/>
          </a:solidFill>
          <a:ln w="12700"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5504688"/>
            <a:ext cx="1019556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050" b="1">
                <a:solidFill>
                  <a:srgbClr val="1F374F"/>
                </a:solidFill>
                <a:latin typeface="Aptos"/>
              </a:rPr>
              <a:t>Important limitation: the dataset does NOT contain actual daily ticket sales for the multiplex. Therefore, demand and occupancy must be constructed using explicit modelling assumptions.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37844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400" b="1">
                <a:solidFill>
                  <a:srgbClr val="1F374F"/>
                </a:solidFill>
                <a:latin typeface="Aptos"/>
              </a:rPr>
              <a:t>Dataset Cleaning &amp; Weekly Market Construction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804672"/>
            <a:ext cx="10972800" cy="0"/>
          </a:xfrm>
          <a:prstGeom prst="line">
            <a:avLst/>
          </a:prstGeom>
          <a:ln w="17780">
            <a:solidFill>
              <a:srgbClr val="1F3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09960" y="283464"/>
            <a:ext cx="41148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Aptos"/>
              </a:rPr>
              <a:t>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00800"/>
            <a:ext cx="10972800" cy="0"/>
          </a:xfrm>
          <a:prstGeom prst="line">
            <a:avLst/>
          </a:prstGeom>
          <a:ln w="8890">
            <a:solidFill>
              <a:srgbClr val="CD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09960" y="6464808"/>
            <a:ext cx="41148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800" b="0">
                <a:solidFill>
                  <a:srgbClr val="5A5A5A"/>
                </a:solidFill>
                <a:latin typeface="Apto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51560"/>
            <a:ext cx="27432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00" b="1">
                <a:solidFill>
                  <a:srgbClr val="376092"/>
                </a:solidFill>
                <a:latin typeface="Aptos"/>
              </a:rPr>
              <a:t>WHY CLEAN THE DATA?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89888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232323"/>
                </a:solidFill>
                <a:latin typeface="Aptos"/>
              </a:defRPr>
            </a:pPr>
            <a:r>
              <a:t>• Keep only released films.</a:t>
            </a:r>
          </a:p>
          <a:p>
            <a:pPr>
              <a:spcAft>
                <a:spcPts val="700"/>
              </a:spcAft>
              <a:defRPr sz="1250">
                <a:solidFill>
                  <a:srgbClr val="232323"/>
                </a:solidFill>
                <a:latin typeface="Aptos"/>
              </a:defRPr>
            </a:pPr>
            <a:r>
              <a:t>• Remove very low-information records using the vote-count threshold.</a:t>
            </a:r>
          </a:p>
          <a:p>
            <a:pPr>
              <a:spcAft>
                <a:spcPts val="700"/>
              </a:spcAft>
              <a:defRPr sz="1250">
                <a:solidFill>
                  <a:srgbClr val="232323"/>
                </a:solidFill>
                <a:latin typeface="Aptos"/>
              </a:defRPr>
            </a:pPr>
            <a:r>
              <a:t>• Require valid runtime and release-date information.</a:t>
            </a:r>
          </a:p>
          <a:p>
            <a:pPr>
              <a:spcAft>
                <a:spcPts val="700"/>
              </a:spcAft>
              <a:defRPr sz="1250">
                <a:solidFill>
                  <a:srgbClr val="232323"/>
                </a:solidFill>
                <a:latin typeface="Aptos"/>
              </a:defRPr>
            </a:pPr>
            <a:r>
              <a:t>• Create a clean candidate pool for the scheduling model.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1051560"/>
            <a:ext cx="27432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00" b="1">
                <a:solidFill>
                  <a:srgbClr val="376092"/>
                </a:solidFill>
                <a:latin typeface="Aptos"/>
              </a:rPr>
              <a:t>CLEANING 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97880" y="1508760"/>
            <a:ext cx="1508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71032" y="1618488"/>
            <a:ext cx="1353312" cy="2103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300" b="1">
                <a:solidFill>
                  <a:srgbClr val="376092"/>
                </a:solidFill>
                <a:latin typeface="Aptos"/>
              </a:rPr>
              <a:t>4,803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71032" y="1874519"/>
            <a:ext cx="1353312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850" b="0">
                <a:solidFill>
                  <a:srgbClr val="5A5A5A"/>
                </a:solidFill>
                <a:latin typeface="Aptos"/>
              </a:rPr>
              <a:t>Initial rows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34072" y="1691639"/>
            <a:ext cx="201168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500" b="1">
                <a:solidFill>
                  <a:srgbClr val="5A5A5A"/>
                </a:solidFill>
                <a:latin typeface="Aptos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1508760"/>
            <a:ext cx="1508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54112" y="1618488"/>
            <a:ext cx="1353312" cy="2103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300" b="1">
                <a:solidFill>
                  <a:srgbClr val="376092"/>
                </a:solidFill>
                <a:latin typeface="Aptos"/>
              </a:rPr>
              <a:t>Released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874519"/>
            <a:ext cx="1353312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850" b="0">
                <a:solidFill>
                  <a:srgbClr val="5A5A5A"/>
                </a:solidFill>
                <a:latin typeface="Aptos"/>
              </a:rPr>
              <a:t>Status filter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7152" y="1691639"/>
            <a:ext cx="201168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500" b="1">
                <a:solidFill>
                  <a:srgbClr val="5A5A5A"/>
                </a:solidFill>
                <a:latin typeface="Aptos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64040" y="1508760"/>
            <a:ext cx="1508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37192" y="1618488"/>
            <a:ext cx="1353312" cy="2103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300" b="1">
                <a:solidFill>
                  <a:srgbClr val="376092"/>
                </a:solidFill>
                <a:latin typeface="Aptos"/>
              </a:rPr>
              <a:t>≥ 200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37192" y="1874519"/>
            <a:ext cx="1353312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850" b="0">
                <a:solidFill>
                  <a:srgbClr val="5A5A5A"/>
                </a:solidFill>
                <a:latin typeface="Aptos"/>
              </a:rPr>
              <a:t>Vote-count filter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97880" y="2514600"/>
            <a:ext cx="1508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71032" y="2624328"/>
            <a:ext cx="1353312" cy="2103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300" b="1">
                <a:solidFill>
                  <a:srgbClr val="376092"/>
                </a:solidFill>
                <a:latin typeface="Aptos"/>
              </a:rPr>
              <a:t>Valid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71032" y="2880360"/>
            <a:ext cx="1353312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850" b="0">
                <a:solidFill>
                  <a:srgbClr val="5A5A5A"/>
                </a:solidFill>
                <a:latin typeface="Aptos"/>
              </a:rPr>
              <a:t>Runtime + date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0" y="2514600"/>
            <a:ext cx="1508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54112" y="2624328"/>
            <a:ext cx="1353312" cy="2103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300" b="1">
                <a:solidFill>
                  <a:srgbClr val="376092"/>
                </a:solidFill>
                <a:latin typeface="Aptos"/>
              </a:rPr>
              <a:t>2,571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2880360"/>
            <a:ext cx="1353312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850" b="0">
                <a:solidFill>
                  <a:srgbClr val="5A5A5A"/>
                </a:solidFill>
                <a:latin typeface="Aptos"/>
              </a:rPr>
              <a:t>Usable rows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0ADC7FE-9108-38E3-A190-FCEAA4D03562}"/>
              </a:ext>
            </a:extLst>
          </p:cNvPr>
          <p:cNvSpPr txBox="1"/>
          <p:nvPr/>
        </p:nvSpPr>
        <p:spPr>
          <a:xfrm>
            <a:off x="777240" y="3611880"/>
            <a:ext cx="27432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00" b="1">
                <a:solidFill>
                  <a:srgbClr val="376092"/>
                </a:solidFill>
                <a:latin typeface="Aptos"/>
              </a:rPr>
              <a:t>WEEKLY MARKET SYNTHESIS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08DC98A-A5B7-9633-A1A6-C52CE714B11B}"/>
              </a:ext>
            </a:extLst>
          </p:cNvPr>
          <p:cNvSpPr/>
          <p:nvPr/>
        </p:nvSpPr>
        <p:spPr>
          <a:xfrm>
            <a:off x="777240" y="3931920"/>
            <a:ext cx="10561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3442880-F606-C3DA-E587-2D463AFAC30B}"/>
              </a:ext>
            </a:extLst>
          </p:cNvPr>
          <p:cNvSpPr txBox="1"/>
          <p:nvPr/>
        </p:nvSpPr>
        <p:spPr>
          <a:xfrm>
            <a:off x="1005840" y="4187952"/>
            <a:ext cx="123444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00" b="1">
                <a:solidFill>
                  <a:srgbClr val="376092"/>
                </a:solidFill>
                <a:latin typeface="Aptos"/>
              </a:rPr>
              <a:t>weeks_out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1B46DB5-7F6B-D53F-C44F-FACDFB52ECCE}"/>
              </a:ext>
            </a:extLst>
          </p:cNvPr>
          <p:cNvSpPr txBox="1"/>
          <p:nvPr/>
        </p:nvSpPr>
        <p:spPr>
          <a:xfrm>
            <a:off x="2423160" y="4187952"/>
            <a:ext cx="32004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How old the film is at the selected schedule week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0C6DA14-E87E-F7C1-E732-57331855D946}"/>
              </a:ext>
            </a:extLst>
          </p:cNvPr>
          <p:cNvSpPr txBox="1"/>
          <p:nvPr/>
        </p:nvSpPr>
        <p:spPr>
          <a:xfrm>
            <a:off x="1005840" y="4590288"/>
            <a:ext cx="123444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00" b="1">
                <a:solidFill>
                  <a:srgbClr val="376092"/>
                </a:solidFill>
                <a:latin typeface="Aptos"/>
              </a:rPr>
              <a:t>weekly_decay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3C00445-E9AF-2266-DC4F-652019637C4A}"/>
              </a:ext>
            </a:extLst>
          </p:cNvPr>
          <p:cNvSpPr txBox="1"/>
          <p:nvPr/>
        </p:nvSpPr>
        <p:spPr>
          <a:xfrm>
            <a:off x="2423160" y="4590288"/>
            <a:ext cx="32004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exp(−λ × weeks_out) — models demand decay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0BDD4AF-6430-0793-D705-127B9C8F8625}"/>
              </a:ext>
            </a:extLst>
          </p:cNvPr>
          <p:cNvSpPr txBox="1"/>
          <p:nvPr/>
        </p:nvSpPr>
        <p:spPr>
          <a:xfrm>
            <a:off x="5806440" y="4187952"/>
            <a:ext cx="141732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00" b="1">
                <a:solidFill>
                  <a:srgbClr val="1B7F86"/>
                </a:solidFill>
                <a:latin typeface="Aptos"/>
              </a:rPr>
              <a:t>effective_demand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9ECB418-1205-4186-86A6-87286F054D4F}"/>
              </a:ext>
            </a:extLst>
          </p:cNvPr>
          <p:cNvSpPr txBox="1"/>
          <p:nvPr/>
        </p:nvSpPr>
        <p:spPr>
          <a:xfrm>
            <a:off x="7406640" y="4187952"/>
            <a:ext cx="301752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normalized popularity × weekly_decay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BADAF36-E5B6-859B-E06D-3D2C0318FE86}"/>
              </a:ext>
            </a:extLst>
          </p:cNvPr>
          <p:cNvSpPr txBox="1"/>
          <p:nvPr/>
        </p:nvSpPr>
        <p:spPr>
          <a:xfrm>
            <a:off x="5806440" y="4590288"/>
            <a:ext cx="141732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00" b="1">
                <a:solidFill>
                  <a:srgbClr val="1B7F86"/>
                </a:solidFill>
                <a:latin typeface="Aptos"/>
              </a:rPr>
              <a:t>market_status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E035A9A-BFE4-0094-7B40-C230BE19A1CE}"/>
              </a:ext>
            </a:extLst>
          </p:cNvPr>
          <p:cNvSpPr txBox="1"/>
          <p:nvPr/>
        </p:nvSpPr>
        <p:spPr>
          <a:xfrm>
            <a:off x="7406640" y="4590288"/>
            <a:ext cx="301752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new / running / catalogue / future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19456"/>
            <a:ext cx="92811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F374F"/>
                </a:solidFill>
                <a:latin typeface="Aptos"/>
              </a:rPr>
              <a:t>OR MODELS — DECISION CHAIN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31520"/>
            <a:ext cx="9985248" cy="16459"/>
          </a:xfrm>
          <a:prstGeom prst="rect">
            <a:avLst/>
          </a:prstGeom>
          <a:solidFill>
            <a:srgbClr val="CD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930384" y="256032"/>
            <a:ext cx="3657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5A5A5A"/>
                </a:solidFill>
                <a:latin typeface="Aptos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30384" y="5907024"/>
            <a:ext cx="3657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 i="0">
                <a:solidFill>
                  <a:srgbClr val="5A5A5A"/>
                </a:solidFill>
                <a:latin typeface="Aptos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5852160"/>
            <a:ext cx="9985248" cy="16459"/>
          </a:xfrm>
          <a:prstGeom prst="rect">
            <a:avLst/>
          </a:prstGeom>
          <a:solidFill>
            <a:srgbClr val="CD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5216" y="987552"/>
            <a:ext cx="9692640" cy="2923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 dirty="0">
                <a:solidFill>
                  <a:srgbClr val="232323"/>
                </a:solidFill>
                <a:latin typeface="Aptos"/>
              </a:rPr>
              <a:t>One large scheduling problem is decomposed into  connected decisions.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572768"/>
            <a:ext cx="530352" cy="502920"/>
          </a:xfrm>
          <a:prstGeom prst="roundRect">
            <a:avLst/>
          </a:prstGeom>
          <a:solidFill>
            <a:srgbClr val="E7EFF7"/>
          </a:solidFill>
          <a:ln w="10160"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636776"/>
            <a:ext cx="530352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 i="0">
                <a:solidFill>
                  <a:srgbClr val="376092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563624"/>
            <a:ext cx="19202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F374F"/>
                </a:solidFill>
                <a:latin typeface="Aptos"/>
              </a:rPr>
              <a:t>KNAPSACK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563624"/>
            <a:ext cx="2788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1" i="0">
                <a:solidFill>
                  <a:srgbClr val="232323"/>
                </a:solidFill>
                <a:latin typeface="Aptos"/>
              </a:rPr>
              <a:t>What films can we afford?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563624"/>
            <a:ext cx="20574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5A5A5A"/>
                </a:solidFill>
                <a:latin typeface="Aptos"/>
              </a:rPr>
              <a:t>INPUT: Candidate films + cost + budget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1563624"/>
            <a:ext cx="19659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1" i="0">
                <a:solidFill>
                  <a:srgbClr val="1B7F86"/>
                </a:solidFill>
                <a:latin typeface="Aptos"/>
              </a:rPr>
              <a:t>→ Licensed film set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2487168"/>
            <a:ext cx="530352" cy="502920"/>
          </a:xfrm>
          <a:prstGeom prst="roundRect">
            <a:avLst/>
          </a:prstGeom>
          <a:solidFill>
            <a:srgbClr val="E7EFF7"/>
          </a:solidFill>
          <a:ln w="10160"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2551176"/>
            <a:ext cx="530352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 i="0">
                <a:solidFill>
                  <a:srgbClr val="376092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2478024"/>
            <a:ext cx="19202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F374F"/>
                </a:solidFill>
                <a:latin typeface="Aptos"/>
              </a:rPr>
              <a:t>TRANSPORTATION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478024"/>
            <a:ext cx="2788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1" i="0">
                <a:solidFill>
                  <a:srgbClr val="232323"/>
                </a:solidFill>
                <a:latin typeface="Aptos"/>
              </a:rPr>
              <a:t>Where should capacity go?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478024"/>
            <a:ext cx="20574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5A5A5A"/>
                </a:solidFill>
                <a:latin typeface="Aptos"/>
              </a:rPr>
              <a:t>INPUT: Screen capacities + genre demand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478024"/>
            <a:ext cx="19659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1" i="0">
                <a:solidFill>
                  <a:srgbClr val="1B7F86"/>
                </a:solidFill>
                <a:latin typeface="Aptos"/>
              </a:rPr>
              <a:t>→ Preferred genre per screen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3401568"/>
            <a:ext cx="530352" cy="502920"/>
          </a:xfrm>
          <a:prstGeom prst="roundRect">
            <a:avLst/>
          </a:prstGeom>
          <a:solidFill>
            <a:srgbClr val="E7EFF7"/>
          </a:solidFill>
          <a:ln w="10160"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9808" y="3465576"/>
            <a:ext cx="530352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 i="0">
                <a:solidFill>
                  <a:srgbClr val="376092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3392424"/>
            <a:ext cx="19202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F374F"/>
                </a:solidFill>
                <a:latin typeface="Aptos"/>
              </a:rPr>
              <a:t>ASSIGNMENT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3392424"/>
            <a:ext cx="2788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1" i="0">
                <a:solidFill>
                  <a:srgbClr val="232323"/>
                </a:solidFill>
                <a:latin typeface="Aptos"/>
              </a:rPr>
              <a:t>Where and when should each film play?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392424"/>
            <a:ext cx="20574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5A5A5A"/>
                </a:solidFill>
                <a:latin typeface="Aptos"/>
              </a:rPr>
              <a:t>INPUT: Licensed films + preferred genres + slots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3392424"/>
            <a:ext cx="19659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1" i="0">
                <a:solidFill>
                  <a:srgbClr val="1B7F86"/>
                </a:solidFill>
                <a:latin typeface="Aptos"/>
              </a:rPr>
              <a:t>→ Film–screen–slot schedule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9052560" cy="3657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50" b="1">
                <a:solidFill>
                  <a:srgbClr val="1F3D5B"/>
                </a:solidFill>
                <a:latin typeface="Aptos"/>
              </a:rPr>
              <a:t>Optimization 1: Film Selection &amp; Licensing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23192" y="256032"/>
            <a:ext cx="182880" cy="14630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646A70"/>
                </a:solidFill>
                <a:latin typeface="Aptos"/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8368"/>
            <a:ext cx="11082528" cy="13716"/>
          </a:xfrm>
          <a:prstGeom prst="rect">
            <a:avLst/>
          </a:prstGeom>
          <a:solidFill>
            <a:srgbClr val="1F3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6656" y="841248"/>
            <a:ext cx="1313693" cy="221599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dirty="0">
                <a:solidFill>
                  <a:srgbClr val="2B5B89"/>
                </a:solidFill>
                <a:latin typeface="Aptos"/>
              </a:rPr>
              <a:t>Q1. Film Selection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069848"/>
            <a:ext cx="6342890" cy="221599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dirty="0">
                <a:solidFill>
                  <a:srgbClr val="26303B"/>
                </a:solidFill>
                <a:latin typeface="Aptos"/>
              </a:rPr>
              <a:t>Given a limited licensing budget, which films should the multiplex select for the selected week?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9516" y="1751075"/>
            <a:ext cx="1417320" cy="329184"/>
          </a:xfrm>
          <a:prstGeom prst="roundRect">
            <a:avLst/>
          </a:prstGeom>
          <a:solidFill>
            <a:srgbClr val="D2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76656" y="1719072"/>
            <a:ext cx="1417320" cy="329184"/>
          </a:xfrm>
          <a:prstGeom prst="roundRect">
            <a:avLst/>
          </a:prstGeom>
          <a:solidFill>
            <a:srgbClr val="E8F0F8"/>
          </a:solidFill>
          <a:ln w="10160">
            <a:solidFill>
              <a:srgbClr val="5B8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728216"/>
            <a:ext cx="1234440" cy="31089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2B5B89"/>
                </a:solidFill>
                <a:latin typeface="Apto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9696" y="1793550"/>
            <a:ext cx="5163337" cy="19851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dirty="0">
                <a:solidFill>
                  <a:srgbClr val="26303B"/>
                </a:solidFill>
                <a:latin typeface="Aptos"/>
              </a:rPr>
              <a:t>Given candidate films and their modelled licensing fees: which films should be selected?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" y="2299716"/>
            <a:ext cx="1417320" cy="329184"/>
          </a:xfrm>
          <a:prstGeom prst="roundRect">
            <a:avLst/>
          </a:prstGeom>
          <a:solidFill>
            <a:srgbClr val="D2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76656" y="2267712"/>
            <a:ext cx="1417320" cy="329184"/>
          </a:xfrm>
          <a:prstGeom prst="roundRect">
            <a:avLst/>
          </a:prstGeom>
          <a:solidFill>
            <a:srgbClr val="E8F0F8"/>
          </a:solidFill>
          <a:ln w="10160">
            <a:solidFill>
              <a:srgbClr val="5B8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8096" y="2276856"/>
            <a:ext cx="1234440" cy="31089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2B5B89"/>
                </a:solidFill>
                <a:latin typeface="Aptos"/>
              </a:rPr>
              <a:t>Objective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39696" y="2342190"/>
            <a:ext cx="3315075" cy="19851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dirty="0">
                <a:solidFill>
                  <a:srgbClr val="26303B"/>
                </a:solidFill>
                <a:latin typeface="Aptos"/>
              </a:rPr>
              <a:t>Maximize total revenue-potential score of selected films.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9516" y="2866644"/>
            <a:ext cx="1417320" cy="329184"/>
          </a:xfrm>
          <a:prstGeom prst="roundRect">
            <a:avLst/>
          </a:prstGeom>
          <a:solidFill>
            <a:srgbClr val="D2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76656" y="2834640"/>
            <a:ext cx="1417320" cy="329184"/>
          </a:xfrm>
          <a:prstGeom prst="roundRect">
            <a:avLst/>
          </a:prstGeom>
          <a:solidFill>
            <a:srgbClr val="E8F0F8"/>
          </a:solidFill>
          <a:ln w="10160">
            <a:solidFill>
              <a:srgbClr val="5B8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8096" y="2843784"/>
            <a:ext cx="1234440" cy="31089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2B5B89"/>
                </a:solidFill>
                <a:latin typeface="Aptos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39696" y="2816352"/>
            <a:ext cx="2576090" cy="379719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dirty="0">
                <a:solidFill>
                  <a:srgbClr val="26303B"/>
                </a:solidFill>
                <a:latin typeface="Aptos"/>
              </a:rPr>
              <a:t>Selected / licensed film set
8–12 films satisfying coverage requirements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03036" y="2866644"/>
            <a:ext cx="1508760" cy="329184"/>
          </a:xfrm>
          <a:prstGeom prst="roundRect">
            <a:avLst/>
          </a:prstGeom>
          <a:solidFill>
            <a:srgbClr val="D2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980176" y="2834640"/>
            <a:ext cx="1508760" cy="329184"/>
          </a:xfrm>
          <a:prstGeom prst="roundRect">
            <a:avLst/>
          </a:prstGeom>
          <a:solidFill>
            <a:srgbClr val="E8F0F8"/>
          </a:solidFill>
          <a:ln w="10160">
            <a:solidFill>
              <a:srgbClr val="5B8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71616" y="2843784"/>
            <a:ext cx="1325880" cy="31089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2B5B89"/>
                </a:solidFill>
                <a:latin typeface="Aptos"/>
              </a:rPr>
              <a:t>Constraint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71231" y="2807208"/>
            <a:ext cx="1963743" cy="92666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 dirty="0">
                <a:solidFill>
                  <a:srgbClr val="26303B"/>
                </a:solidFill>
                <a:latin typeface="Aptos"/>
              </a:rPr>
              <a:t>Budget: Σ Feeᵢ yᵢ ≤ ₹40L
Binary decision: yᵢ ∈ {0,1}
Film count: 8 ≤ </a:t>
            </a:r>
            <a:r>
              <a:rPr sz="1100" b="0" dirty="0" err="1">
                <a:solidFill>
                  <a:srgbClr val="26303B"/>
                </a:solidFill>
                <a:latin typeface="Aptos"/>
              </a:rPr>
              <a:t>Σy</a:t>
            </a:r>
            <a:r>
              <a:rPr sz="1100" b="0" dirty="0">
                <a:solidFill>
                  <a:srgbClr val="26303B"/>
                </a:solidFill>
                <a:latin typeface="Aptos"/>
              </a:rPr>
              <a:t>ᵢ ≤ 12
Content coverage requirements
Non-selected films: yᵢ = 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9516" y="4165091"/>
            <a:ext cx="1783080" cy="329184"/>
          </a:xfrm>
          <a:prstGeom prst="roundRect">
            <a:avLst/>
          </a:prstGeom>
          <a:solidFill>
            <a:srgbClr val="D2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76656" y="4133087"/>
            <a:ext cx="1783080" cy="329184"/>
          </a:xfrm>
          <a:prstGeom prst="roundRect">
            <a:avLst/>
          </a:prstGeom>
          <a:solidFill>
            <a:srgbClr val="E8F0F8"/>
          </a:solidFill>
          <a:ln w="10160">
            <a:solidFill>
              <a:srgbClr val="5B8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8096" y="4142231"/>
            <a:ext cx="1600200" cy="31089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2B5B89"/>
                </a:solidFill>
                <a:latin typeface="Aptos"/>
              </a:rPr>
              <a:t>OR Technique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4198421"/>
            <a:ext cx="2314801" cy="19851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dirty="0">
                <a:solidFill>
                  <a:srgbClr val="26303B"/>
                </a:solidFill>
                <a:latin typeface="Aptos"/>
              </a:rPr>
              <a:t>Binary Integer Programming / Knapsack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071616"/>
            <a:ext cx="11082528" cy="2286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823192" y="6117336"/>
            <a:ext cx="182880" cy="14630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646A70"/>
                </a:solidFill>
                <a:latin typeface="Aptos"/>
              </a:rPr>
              <a:t>4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E02B09A-74D9-85B5-988B-0134C551F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79"/>
            <a:ext cx="12192000" cy="68378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9052560" cy="3657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50" b="1">
                <a:solidFill>
                  <a:srgbClr val="1F3D5B"/>
                </a:solidFill>
                <a:latin typeface="Aptos"/>
              </a:rPr>
              <a:t>Optimization 2: Screen–Genre Capacity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23192" y="256032"/>
            <a:ext cx="182880" cy="14630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646A70"/>
                </a:solidFill>
                <a:latin typeface="Aptos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8368"/>
            <a:ext cx="11082528" cy="13716"/>
          </a:xfrm>
          <a:prstGeom prst="rect">
            <a:avLst/>
          </a:prstGeom>
          <a:solidFill>
            <a:srgbClr val="1F3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6656" y="841248"/>
            <a:ext cx="1341778" cy="20621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dirty="0">
                <a:solidFill>
                  <a:srgbClr val="2B5B89"/>
                </a:solidFill>
                <a:latin typeface="Aptos"/>
              </a:rPr>
              <a:t>Q2. Screen Capacity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069848"/>
            <a:ext cx="8192564" cy="221599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dirty="0">
                <a:solidFill>
                  <a:srgbClr val="26303B"/>
                </a:solidFill>
                <a:latin typeface="Aptos"/>
              </a:rPr>
              <a:t>Given limited screen capacity and genre-level demand, how should screen capacity be aligned with the demand for genres?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9516" y="1751075"/>
            <a:ext cx="1417320" cy="329184"/>
          </a:xfrm>
          <a:prstGeom prst="roundRect">
            <a:avLst/>
          </a:prstGeom>
          <a:solidFill>
            <a:srgbClr val="D2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76656" y="1719072"/>
            <a:ext cx="1417320" cy="329184"/>
          </a:xfrm>
          <a:prstGeom prst="roundRect">
            <a:avLst/>
          </a:prstGeom>
          <a:solidFill>
            <a:srgbClr val="E8F0F8"/>
          </a:solidFill>
          <a:ln w="10160">
            <a:solidFill>
              <a:srgbClr val="5B8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728216"/>
            <a:ext cx="1234440" cy="31089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2B5B89"/>
                </a:solidFill>
                <a:latin typeface="Apto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9696" y="1782009"/>
            <a:ext cx="4662367" cy="221599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dirty="0">
                <a:solidFill>
                  <a:srgbClr val="26303B"/>
                </a:solidFill>
                <a:latin typeface="Aptos"/>
              </a:rPr>
              <a:t>How should </a:t>
            </a:r>
            <a:r>
              <a:rPr sz="1200" b="0">
                <a:solidFill>
                  <a:srgbClr val="26303B"/>
                </a:solidFill>
                <a:latin typeface="Aptos"/>
              </a:rPr>
              <a:t>available screen </a:t>
            </a:r>
            <a:r>
              <a:rPr sz="1200" b="0" dirty="0">
                <a:solidFill>
                  <a:srgbClr val="26303B"/>
                </a:solidFill>
                <a:latin typeface="Aptos"/>
              </a:rPr>
              <a:t>capacity be distributed across genres?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" y="2299716"/>
            <a:ext cx="1417320" cy="329184"/>
          </a:xfrm>
          <a:prstGeom prst="roundRect">
            <a:avLst/>
          </a:prstGeom>
          <a:solidFill>
            <a:srgbClr val="D2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76656" y="2267712"/>
            <a:ext cx="1417320" cy="329184"/>
          </a:xfrm>
          <a:prstGeom prst="roundRect">
            <a:avLst/>
          </a:prstGeom>
          <a:solidFill>
            <a:srgbClr val="E8F0F8"/>
          </a:solidFill>
          <a:ln w="10160">
            <a:solidFill>
              <a:srgbClr val="5B8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8096" y="2276856"/>
            <a:ext cx="1234440" cy="31089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2B5B89"/>
                </a:solidFill>
                <a:latin typeface="Aptos"/>
              </a:rPr>
              <a:t>Objective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39696" y="2338343"/>
            <a:ext cx="4983800" cy="20621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dirty="0">
                <a:solidFill>
                  <a:srgbClr val="26303B"/>
                </a:solidFill>
                <a:latin typeface="Aptos"/>
              </a:rPr>
              <a:t>Minimize capacity–demand mismatch between screen supply and genre demand.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9516" y="2866644"/>
            <a:ext cx="1417320" cy="329184"/>
          </a:xfrm>
          <a:prstGeom prst="roundRect">
            <a:avLst/>
          </a:prstGeom>
          <a:solidFill>
            <a:srgbClr val="D2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76656" y="2834640"/>
            <a:ext cx="1417320" cy="329184"/>
          </a:xfrm>
          <a:prstGeom prst="roundRect">
            <a:avLst/>
          </a:prstGeom>
          <a:solidFill>
            <a:srgbClr val="E8F0F8"/>
          </a:solidFill>
          <a:ln w="10160">
            <a:solidFill>
              <a:srgbClr val="5B8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8096" y="2843784"/>
            <a:ext cx="1234440" cy="31089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2B5B89"/>
                </a:solidFill>
                <a:latin typeface="Aptos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39696" y="2816352"/>
            <a:ext cx="2427909" cy="627929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dirty="0">
                <a:solidFill>
                  <a:srgbClr val="26303B"/>
                </a:solidFill>
                <a:latin typeface="Aptos"/>
              </a:rPr>
              <a:t>Preferred genre for each screen
Capacity allocation / genre mapping
Input to Model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03036" y="2866644"/>
            <a:ext cx="1508760" cy="329184"/>
          </a:xfrm>
          <a:prstGeom prst="roundRect">
            <a:avLst/>
          </a:prstGeom>
          <a:solidFill>
            <a:srgbClr val="D2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980176" y="2834640"/>
            <a:ext cx="1508760" cy="329184"/>
          </a:xfrm>
          <a:prstGeom prst="roundRect">
            <a:avLst/>
          </a:prstGeom>
          <a:solidFill>
            <a:srgbClr val="E8F0F8"/>
          </a:solidFill>
          <a:ln w="10160">
            <a:solidFill>
              <a:srgbClr val="5B8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71616" y="2843784"/>
            <a:ext cx="1325880" cy="31089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2B5B89"/>
                </a:solidFill>
                <a:latin typeface="Aptos"/>
              </a:rPr>
              <a:t>Constraint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71231" y="2807208"/>
            <a:ext cx="2746008" cy="928203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 dirty="0">
                <a:solidFill>
                  <a:srgbClr val="26303B"/>
                </a:solidFill>
                <a:latin typeface="Aptos"/>
              </a:rPr>
              <a:t>Screen capacities: 250 / 180 / 180 / 120 / 120
Supply cannot exceed available capacity
Genre demand must be balanced
</a:t>
            </a:r>
            <a:r>
              <a:rPr sz="1100" b="0" dirty="0" err="1">
                <a:solidFill>
                  <a:srgbClr val="26303B"/>
                </a:solidFill>
                <a:latin typeface="Aptos"/>
              </a:rPr>
              <a:t>xₛg</a:t>
            </a:r>
            <a:r>
              <a:rPr sz="1100" b="0" dirty="0">
                <a:solidFill>
                  <a:srgbClr val="26303B"/>
                </a:solidFill>
                <a:latin typeface="Aptos"/>
              </a:rPr>
              <a:t> ≥ 0
All allocated capacity must remain feasible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9516" y="4165091"/>
            <a:ext cx="1783080" cy="329184"/>
          </a:xfrm>
          <a:prstGeom prst="roundRect">
            <a:avLst/>
          </a:prstGeom>
          <a:solidFill>
            <a:srgbClr val="D2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76656" y="4133087"/>
            <a:ext cx="1783080" cy="329184"/>
          </a:xfrm>
          <a:prstGeom prst="roundRect">
            <a:avLst/>
          </a:prstGeom>
          <a:solidFill>
            <a:srgbClr val="E8F0F8"/>
          </a:solidFill>
          <a:ln w="10160">
            <a:solidFill>
              <a:srgbClr val="5B8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8096" y="4142231"/>
            <a:ext cx="1600200" cy="31089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2B5B89"/>
                </a:solidFill>
                <a:latin typeface="Aptos"/>
              </a:rPr>
              <a:t>OR Technique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4194574"/>
            <a:ext cx="2265107" cy="20621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dirty="0">
                <a:solidFill>
                  <a:srgbClr val="26303B"/>
                </a:solidFill>
                <a:latin typeface="Aptos"/>
              </a:rPr>
              <a:t>Transportation / Linear Programming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071616"/>
            <a:ext cx="11082528" cy="2286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823192" y="6117336"/>
            <a:ext cx="182880" cy="14630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646A70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9052560" cy="3657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50" b="1">
                <a:solidFill>
                  <a:srgbClr val="1F3D5B"/>
                </a:solidFill>
                <a:latin typeface="Aptos"/>
              </a:rPr>
              <a:t>Optimization 3: Movie–Screen–Slot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23192" y="256032"/>
            <a:ext cx="182880" cy="14630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646A70"/>
                </a:solidFill>
                <a:latin typeface="Aptos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8368"/>
            <a:ext cx="11082528" cy="13716"/>
          </a:xfrm>
          <a:prstGeom prst="rect">
            <a:avLst/>
          </a:prstGeom>
          <a:solidFill>
            <a:srgbClr val="1F3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6656" y="841248"/>
            <a:ext cx="1303306" cy="19851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dirty="0">
                <a:solidFill>
                  <a:srgbClr val="2B5B89"/>
                </a:solidFill>
                <a:latin typeface="Aptos"/>
              </a:rPr>
              <a:t>Q3. Daily Scheduling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069848"/>
            <a:ext cx="7331751" cy="221599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dirty="0">
                <a:solidFill>
                  <a:srgbClr val="26303B"/>
                </a:solidFill>
                <a:latin typeface="Aptos"/>
              </a:rPr>
              <a:t>Given selected films, screens and time slots, which film should be assigned to which screen and at what time?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9516" y="1751075"/>
            <a:ext cx="1417320" cy="329184"/>
          </a:xfrm>
          <a:prstGeom prst="roundRect">
            <a:avLst/>
          </a:prstGeom>
          <a:solidFill>
            <a:srgbClr val="D2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76656" y="1719072"/>
            <a:ext cx="1417320" cy="329184"/>
          </a:xfrm>
          <a:prstGeom prst="roundRect">
            <a:avLst/>
          </a:prstGeom>
          <a:solidFill>
            <a:srgbClr val="E8F0F8"/>
          </a:solidFill>
          <a:ln w="10160">
            <a:solidFill>
              <a:srgbClr val="5B8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728216"/>
            <a:ext cx="1234440" cy="31089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2B5B89"/>
                </a:solidFill>
                <a:latin typeface="Apto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9696" y="1789703"/>
            <a:ext cx="3834448" cy="20621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dirty="0">
                <a:solidFill>
                  <a:srgbClr val="26303B"/>
                </a:solidFill>
                <a:latin typeface="Aptos"/>
              </a:rPr>
              <a:t>How should films be assigned across 5 screens × 6 daily slots?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" y="2299716"/>
            <a:ext cx="1417320" cy="329184"/>
          </a:xfrm>
          <a:prstGeom prst="roundRect">
            <a:avLst/>
          </a:prstGeom>
          <a:solidFill>
            <a:srgbClr val="D2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76656" y="2267712"/>
            <a:ext cx="1417320" cy="329184"/>
          </a:xfrm>
          <a:prstGeom prst="roundRect">
            <a:avLst/>
          </a:prstGeom>
          <a:solidFill>
            <a:srgbClr val="E8F0F8"/>
          </a:solidFill>
          <a:ln w="10160">
            <a:solidFill>
              <a:srgbClr val="5B8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8096" y="2276856"/>
            <a:ext cx="1234440" cy="31089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2B5B89"/>
                </a:solidFill>
                <a:latin typeface="Aptos"/>
              </a:rPr>
              <a:t>Objective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39696" y="2338343"/>
            <a:ext cx="4855560" cy="20621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dirty="0">
                <a:solidFill>
                  <a:srgbClr val="26303B"/>
                </a:solidFill>
                <a:latin typeface="Aptos"/>
              </a:rPr>
              <a:t>Maximize estimated ticket revenue from feasible film–screen–slot assignments.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9516" y="2866644"/>
            <a:ext cx="1417320" cy="329184"/>
          </a:xfrm>
          <a:prstGeom prst="roundRect">
            <a:avLst/>
          </a:prstGeom>
          <a:solidFill>
            <a:srgbClr val="D2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76656" y="2834640"/>
            <a:ext cx="1417320" cy="329184"/>
          </a:xfrm>
          <a:prstGeom prst="roundRect">
            <a:avLst/>
          </a:prstGeom>
          <a:solidFill>
            <a:srgbClr val="E8F0F8"/>
          </a:solidFill>
          <a:ln w="10160">
            <a:solidFill>
              <a:srgbClr val="5B8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8096" y="2843784"/>
            <a:ext cx="1234440" cy="31089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2B5B89"/>
                </a:solidFill>
                <a:latin typeface="Aptos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39696" y="2816352"/>
            <a:ext cx="2487925" cy="39594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dirty="0">
                <a:solidFill>
                  <a:srgbClr val="26303B"/>
                </a:solidFill>
                <a:latin typeface="Aptos"/>
              </a:rPr>
              <a:t>Final one-day film–screen–slot schedule
Expected occupancy and revenue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03036" y="2866644"/>
            <a:ext cx="1508760" cy="329184"/>
          </a:xfrm>
          <a:prstGeom prst="roundRect">
            <a:avLst/>
          </a:prstGeom>
          <a:solidFill>
            <a:srgbClr val="D2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980176" y="2834640"/>
            <a:ext cx="1508760" cy="329184"/>
          </a:xfrm>
          <a:prstGeom prst="roundRect">
            <a:avLst/>
          </a:prstGeom>
          <a:solidFill>
            <a:srgbClr val="E8F0F8"/>
          </a:solidFill>
          <a:ln w="10160">
            <a:solidFill>
              <a:srgbClr val="5B8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71616" y="2843784"/>
            <a:ext cx="1325880" cy="31089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2B5B89"/>
                </a:solidFill>
                <a:latin typeface="Aptos"/>
              </a:rPr>
              <a:t>Constraint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71231" y="2807208"/>
            <a:ext cx="2491131" cy="1107611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 dirty="0">
                <a:solidFill>
                  <a:srgbClr val="26303B"/>
                </a:solidFill>
                <a:latin typeface="Aptos"/>
              </a:rPr>
              <a:t>At most one film per screen-slot
Runtime + 20 min cleanup ≤ 180 min
No simultaneous simulcast of same film
Maximum showings per film
Minimum operating screens per slot
Genre / preferred-screen feasibility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9516" y="4165091"/>
            <a:ext cx="1783080" cy="329184"/>
          </a:xfrm>
          <a:prstGeom prst="roundRect">
            <a:avLst/>
          </a:prstGeom>
          <a:solidFill>
            <a:srgbClr val="D2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76656" y="4133087"/>
            <a:ext cx="1783080" cy="329184"/>
          </a:xfrm>
          <a:prstGeom prst="roundRect">
            <a:avLst/>
          </a:prstGeom>
          <a:solidFill>
            <a:srgbClr val="E8F0F8"/>
          </a:solidFill>
          <a:ln w="10160">
            <a:solidFill>
              <a:srgbClr val="5B8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8096" y="4142231"/>
            <a:ext cx="1600200" cy="31089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2B5B89"/>
                </a:solidFill>
                <a:latin typeface="Aptos"/>
              </a:rPr>
              <a:t>OR Technique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4198421"/>
            <a:ext cx="2428614" cy="19851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dirty="0">
                <a:solidFill>
                  <a:srgbClr val="26303B"/>
                </a:solidFill>
                <a:latin typeface="Aptos"/>
              </a:rPr>
              <a:t>Binary Integer Programming / Assignment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071616"/>
            <a:ext cx="11082528" cy="2286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823192" y="6117336"/>
            <a:ext cx="182880" cy="14630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646A70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378440" cy="40626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400" b="1" dirty="0">
                <a:solidFill>
                  <a:srgbClr val="1F374F"/>
                </a:solidFill>
                <a:latin typeface="Aptos"/>
              </a:rPr>
              <a:t>How the  Models Will Be Chained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804672"/>
            <a:ext cx="10972800" cy="0"/>
          </a:xfrm>
          <a:prstGeom prst="line">
            <a:avLst/>
          </a:prstGeom>
          <a:ln w="17780">
            <a:solidFill>
              <a:srgbClr val="1F3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09960" y="283464"/>
            <a:ext cx="41148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Aptos"/>
              </a:rPr>
              <a:t>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00800"/>
            <a:ext cx="10972800" cy="0"/>
          </a:xfrm>
          <a:prstGeom prst="line">
            <a:avLst/>
          </a:prstGeom>
          <a:ln w="8890">
            <a:solidFill>
              <a:srgbClr val="CD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09960" y="6464808"/>
            <a:ext cx="41148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800" b="0">
                <a:solidFill>
                  <a:srgbClr val="5A5A5A"/>
                </a:solidFill>
                <a:latin typeface="Aptos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360" y="987552"/>
            <a:ext cx="63550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1F3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90672" y="1115568"/>
            <a:ext cx="150876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50" b="1">
                <a:solidFill>
                  <a:srgbClr val="376092"/>
                </a:solidFill>
                <a:latin typeface="Aptos"/>
              </a:rPr>
              <a:t>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106424"/>
            <a:ext cx="43434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1">
                <a:solidFill>
                  <a:srgbClr val="232323"/>
                </a:solidFill>
                <a:latin typeface="Aptos"/>
              </a:rPr>
              <a:t>Cleaned movies + selected week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3872" y="1481328"/>
            <a:ext cx="27432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100" b="1">
                <a:solidFill>
                  <a:srgbClr val="5A5A5A"/>
                </a:solidFill>
                <a:latin typeface="Aptos"/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360" y="1746504"/>
            <a:ext cx="63550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90672" y="1874520"/>
            <a:ext cx="150876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50" b="1">
                <a:solidFill>
                  <a:srgbClr val="376092"/>
                </a:solidFill>
                <a:latin typeface="Aptos"/>
              </a:rPr>
              <a:t>DEMAND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865376"/>
            <a:ext cx="43434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1">
                <a:solidFill>
                  <a:srgbClr val="232323"/>
                </a:solidFill>
                <a:latin typeface="Aptos"/>
              </a:rPr>
              <a:t>effective_demand using popularity + decay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33872" y="2240280"/>
            <a:ext cx="27432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100" b="1">
                <a:solidFill>
                  <a:srgbClr val="5A5A5A"/>
                </a:solidFill>
                <a:latin typeface="Aptos"/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360" y="2505456"/>
            <a:ext cx="63550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90672" y="2633472"/>
            <a:ext cx="150876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50" b="1">
                <a:solidFill>
                  <a:srgbClr val="376092"/>
                </a:solidFill>
                <a:latin typeface="Aptos"/>
              </a:rPr>
              <a:t>MODEL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624328"/>
            <a:ext cx="43434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1">
                <a:solidFill>
                  <a:srgbClr val="232323"/>
                </a:solidFill>
                <a:latin typeface="Aptos"/>
              </a:rPr>
              <a:t>licensed_films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3872" y="2999232"/>
            <a:ext cx="27432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100" b="1">
                <a:solidFill>
                  <a:srgbClr val="5A5A5A"/>
                </a:solidFill>
                <a:latin typeface="Aptos"/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80360" y="3264408"/>
            <a:ext cx="63550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090672" y="3392424"/>
            <a:ext cx="150876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50" b="1">
                <a:solidFill>
                  <a:srgbClr val="376092"/>
                </a:solidFill>
                <a:latin typeface="Aptos"/>
              </a:rPr>
              <a:t>MODEL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383279"/>
            <a:ext cx="43434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1">
                <a:solidFill>
                  <a:srgbClr val="232323"/>
                </a:solidFill>
                <a:latin typeface="Aptos"/>
              </a:rPr>
              <a:t>screen_preferred_genre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33872" y="3758183"/>
            <a:ext cx="27432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100" b="1">
                <a:solidFill>
                  <a:srgbClr val="5A5A5A"/>
                </a:solidFill>
                <a:latin typeface="Aptos"/>
              </a:rPr>
              <a:t>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80360" y="4023360"/>
            <a:ext cx="63550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090672" y="4151376"/>
            <a:ext cx="150876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50" b="1">
                <a:solidFill>
                  <a:srgbClr val="376092"/>
                </a:solidFill>
                <a:latin typeface="Aptos"/>
              </a:rPr>
              <a:t>MODEL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142232"/>
            <a:ext cx="43434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1">
                <a:solidFill>
                  <a:srgbClr val="232323"/>
                </a:solidFill>
                <a:latin typeface="Aptos"/>
              </a:rPr>
              <a:t>schedule grid + occupancy + idle time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1828800"/>
            <a:ext cx="1783080" cy="1280160"/>
          </a:xfrm>
          <a:prstGeom prst="rect">
            <a:avLst/>
          </a:prstGeom>
          <a:solidFill>
            <a:srgbClr val="F2F4F6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2057400"/>
            <a:ext cx="14173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50" b="1">
                <a:solidFill>
                  <a:srgbClr val="376092"/>
                </a:solidFill>
                <a:latin typeface="Aptos"/>
              </a:rPr>
              <a:t>BASELINE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2423160"/>
            <a:ext cx="141732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19" b="0">
                <a:solidFill>
                  <a:srgbClr val="232323"/>
                </a:solidFill>
                <a:latin typeface="Aptos"/>
              </a:rPr>
              <a:t>Naive top-5 popularity schedule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6920" y="1828800"/>
            <a:ext cx="1783080" cy="1280160"/>
          </a:xfrm>
          <a:prstGeom prst="rect">
            <a:avLst/>
          </a:prstGeom>
          <a:solidFill>
            <a:srgbClr val="F2F4F6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802368" y="2057400"/>
            <a:ext cx="146304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50" b="1">
                <a:solidFill>
                  <a:srgbClr val="1B7F86"/>
                </a:solidFill>
                <a:latin typeface="Aptos"/>
              </a:rPr>
              <a:t>VALIDATION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02368" y="2423160"/>
            <a:ext cx="146304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19" b="0">
                <a:solidFill>
                  <a:srgbClr val="232323"/>
                </a:solidFill>
                <a:latin typeface="Aptos"/>
              </a:rPr>
              <a:t>Compare + sensitivity tests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715000"/>
            <a:ext cx="10652760" cy="475488"/>
          </a:xfrm>
          <a:prstGeom prst="rect">
            <a:avLst/>
          </a:prstGeom>
          <a:solidFill>
            <a:srgbClr val="E7EFF7"/>
          </a:solidFill>
          <a:ln w="12700"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" y="5843016"/>
            <a:ext cx="102870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80" b="1">
                <a:solidFill>
                  <a:srgbClr val="1F374F"/>
                </a:solidFill>
                <a:latin typeface="Aptos"/>
              </a:rPr>
              <a:t>This is the central architecture of the project: every stage has a defined input and output, so the full system can be tested step-by-step.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19456"/>
            <a:ext cx="92811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F374F"/>
                </a:solidFill>
                <a:latin typeface="Aptos"/>
              </a:rPr>
              <a:t>FINAL OUTPUT &amp; EVALUATION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31520"/>
            <a:ext cx="9985248" cy="16459"/>
          </a:xfrm>
          <a:prstGeom prst="rect">
            <a:avLst/>
          </a:prstGeom>
          <a:solidFill>
            <a:srgbClr val="CD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930384" y="256032"/>
            <a:ext cx="3657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5A5A5A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30384" y="5907024"/>
            <a:ext cx="3657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 i="0">
                <a:solidFill>
                  <a:srgbClr val="5A5A5A"/>
                </a:solidFill>
                <a:latin typeface="Aptos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5852160"/>
            <a:ext cx="9985248" cy="16459"/>
          </a:xfrm>
          <a:prstGeom prst="rect">
            <a:avLst/>
          </a:prstGeom>
          <a:solidFill>
            <a:srgbClr val="CD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960120"/>
            <a:ext cx="4617720" cy="310896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973836"/>
            <a:ext cx="4471416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376092"/>
                </a:solidFill>
                <a:latin typeface="Aptos"/>
              </a:rPr>
              <a:t>WHAT THE FINAL SYSTEM PRODUCES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371600"/>
            <a:ext cx="4617720" cy="4114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600200"/>
            <a:ext cx="4288536" cy="3840480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50">
                <a:solidFill>
                  <a:srgbClr val="232323"/>
                </a:solidFill>
                <a:latin typeface="Aptos"/>
              </a:defRPr>
            </a:pPr>
            <a:r>
              <a:t>• A one-day multiplex operating plan.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50">
                <a:solidFill>
                  <a:srgbClr val="232323"/>
                </a:solidFill>
                <a:latin typeface="Aptos"/>
              </a:defRPr>
            </a:pPr>
            <a:r>
              <a:t>• Which films are licensed.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50">
                <a:solidFill>
                  <a:srgbClr val="232323"/>
                </a:solidFill>
                <a:latin typeface="Aptos"/>
              </a:defRPr>
            </a:pPr>
            <a:r>
              <a:t>• Which film plays on each screen.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50">
                <a:solidFill>
                  <a:srgbClr val="232323"/>
                </a:solidFill>
                <a:latin typeface="Aptos"/>
              </a:defRPr>
            </a:pPr>
            <a:r>
              <a:t>• Start time / slot for every show.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50">
                <a:solidFill>
                  <a:srgbClr val="232323"/>
                </a:solidFill>
                <a:latin typeface="Aptos"/>
              </a:defRPr>
            </a:pPr>
            <a:r>
              <a:t>• Estimated occupancy and revenue.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50">
                <a:solidFill>
                  <a:srgbClr val="232323"/>
                </a:solidFill>
                <a:latin typeface="Aptos"/>
              </a:defRPr>
            </a:pPr>
            <a:r>
              <a:t>• Genre coverage and idle time per screen.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50">
                <a:solidFill>
                  <a:srgbClr val="232323"/>
                </a:solidFill>
                <a:latin typeface="Aptos"/>
              </a:defRPr>
            </a:pPr>
            <a:r>
              <a:t>• Goal-attainment summary.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960120"/>
            <a:ext cx="4617720" cy="310896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71032" y="973836"/>
            <a:ext cx="4471416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376092"/>
                </a:solidFill>
                <a:latin typeface="Aptos"/>
              </a:rPr>
              <a:t>HOW WE WILL EVALUATE 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97880" y="1371600"/>
            <a:ext cx="4617720" cy="4114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62472" y="1600200"/>
            <a:ext cx="4288536" cy="3840480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50">
                <a:solidFill>
                  <a:srgbClr val="232323"/>
                </a:solidFill>
                <a:latin typeface="Aptos"/>
              </a:defRPr>
            </a:pPr>
            <a:r>
              <a:t>• Compare against a simple popularity-based baseline.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50">
                <a:solidFill>
                  <a:srgbClr val="232323"/>
                </a:solidFill>
                <a:latin typeface="Aptos"/>
              </a:defRPr>
            </a:pPr>
            <a:r>
              <a:t>• Check all hard constraints.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50">
                <a:solidFill>
                  <a:srgbClr val="232323"/>
                </a:solidFill>
                <a:latin typeface="Aptos"/>
              </a:defRPr>
            </a:pPr>
            <a:r>
              <a:t>• Measure revenue, occupancy, diversity and idle time.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50">
                <a:solidFill>
                  <a:srgbClr val="232323"/>
                </a:solidFill>
                <a:latin typeface="Aptos"/>
              </a:defRPr>
            </a:pPr>
            <a:r>
              <a:t>• Sensitivity analysis for demand-decay λ.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50">
                <a:solidFill>
                  <a:srgbClr val="232323"/>
                </a:solidFill>
                <a:latin typeface="Aptos"/>
              </a:defRPr>
            </a:pPr>
            <a:r>
              <a:t>• Sensitivity analysis for licensing budget.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50">
                <a:solidFill>
                  <a:srgbClr val="232323"/>
                </a:solidFill>
                <a:latin typeface="Aptos"/>
              </a:defRPr>
            </a:pPr>
            <a:r>
              <a:t>• Check whether the schedule remains feasible and interpretable.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5532120"/>
            <a:ext cx="9555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 i="0" dirty="0">
                <a:solidFill>
                  <a:srgbClr val="5A5A5A"/>
                </a:solidFill>
                <a:latin typeface="Aptos"/>
              </a:rPr>
              <a:t>These are planned evaluation steps for the first review; final experimental results are reported only after implementation.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19456"/>
            <a:ext cx="92811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F374F"/>
                </a:solidFill>
                <a:latin typeface="Aptos"/>
              </a:rPr>
              <a:t>TOOLS, ASSUMPTIONS &amp; MODELLING BRIDGE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31520"/>
            <a:ext cx="9985248" cy="16459"/>
          </a:xfrm>
          <a:prstGeom prst="rect">
            <a:avLst/>
          </a:prstGeom>
          <a:solidFill>
            <a:srgbClr val="CD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930384" y="256032"/>
            <a:ext cx="3657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5A5A5A"/>
                </a:solidFill>
                <a:latin typeface="Apto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30384" y="5907024"/>
            <a:ext cx="3657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 i="0">
                <a:solidFill>
                  <a:srgbClr val="5A5A5A"/>
                </a:solidFill>
                <a:latin typeface="Aptos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5852160"/>
            <a:ext cx="9985248" cy="16459"/>
          </a:xfrm>
          <a:prstGeom prst="rect">
            <a:avLst/>
          </a:prstGeom>
          <a:solidFill>
            <a:srgbClr val="CD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932688"/>
            <a:ext cx="1417320" cy="310896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946404"/>
            <a:ext cx="1271016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376092"/>
                </a:solidFill>
                <a:latin typeface="Aptos"/>
              </a:rPr>
              <a:t>TOOLS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344168"/>
            <a:ext cx="4617720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1554480"/>
            <a:ext cx="4206240" cy="1783080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120">
                <a:solidFill>
                  <a:srgbClr val="232323"/>
                </a:solidFill>
                <a:latin typeface="Aptos"/>
              </a:defRPr>
            </a:pPr>
            <a:r>
              <a:t>• Python — data processing, demand modelling and OR models.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120">
                <a:solidFill>
                  <a:srgbClr val="232323"/>
                </a:solidFill>
                <a:latin typeface="Aptos"/>
              </a:defRPr>
            </a:pPr>
            <a:r>
              <a:t>• Pandas — load, clean, filter and transform TMDB data.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120">
                <a:solidFill>
                  <a:srgbClr val="232323"/>
                </a:solidFill>
                <a:latin typeface="Aptos"/>
              </a:defRPr>
            </a:pPr>
            <a:r>
              <a:t>• NumPy — normalization, decay, demand and revenue calculations.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120">
                <a:solidFill>
                  <a:srgbClr val="232323"/>
                </a:solidFill>
                <a:latin typeface="Aptos"/>
              </a:defRPr>
            </a:pPr>
            <a:r>
              <a:t>• PuLP + CBC — LP/ILP/MILP formulation and open-source solving.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120">
                <a:solidFill>
                  <a:srgbClr val="232323"/>
                </a:solidFill>
                <a:latin typeface="Aptos"/>
              </a:defRPr>
            </a:pPr>
            <a:r>
              <a:t>• Matplotlib / Seaborn + Jupyter — EDA, visualization, debugging and scenario testing.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932688"/>
            <a:ext cx="1645920" cy="310896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59552" y="946404"/>
            <a:ext cx="1499616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376092"/>
                </a:solidFill>
                <a:latin typeface="Aptos"/>
              </a:rPr>
              <a:t>KEY ASSUMPTIONS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1344168"/>
            <a:ext cx="4846320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87568" y="1554480"/>
            <a:ext cx="4434840" cy="1783080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120">
                <a:solidFill>
                  <a:srgbClr val="232323"/>
                </a:solidFill>
                <a:latin typeface="Aptos"/>
              </a:defRPr>
            </a:pPr>
            <a:r>
              <a:t>• 5 screens: 250 / 180 / 180 / 120 / 120 seats.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120">
                <a:solidFill>
                  <a:srgbClr val="232323"/>
                </a:solidFill>
                <a:latin typeface="Aptos"/>
              </a:defRPr>
            </a:pPr>
            <a:r>
              <a:t>• Six fixed slots: 9am, 12pm, 3pm, 6pm, 9pm, 11pm.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120">
                <a:solidFill>
                  <a:srgbClr val="232323"/>
                </a:solidFill>
                <a:latin typeface="Aptos"/>
              </a:defRPr>
            </a:pPr>
            <a:r>
              <a:t>• 180-minute slots with 20-minute cleanup buffer.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120">
                <a:solidFill>
                  <a:srgbClr val="232323"/>
                </a:solidFill>
                <a:latin typeface="Aptos"/>
              </a:defRPr>
            </a:pPr>
            <a:r>
              <a:t>• Synthetic ticket prices: ₹120–₹280 by slot.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120">
                <a:solidFill>
                  <a:srgbClr val="232323"/>
                </a:solidFill>
                <a:latin typeface="Aptos"/>
              </a:defRPr>
            </a:pPr>
            <a:r>
              <a:t>• ₹40L licensing budget; λ = 0.55 base assumption.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49039"/>
            <a:ext cx="2148840" cy="310896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" y="3762755"/>
            <a:ext cx="2002536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376092"/>
                </a:solidFill>
                <a:latin typeface="Aptos"/>
              </a:rPr>
              <a:t>DEMAND / OCCUPANCY BRIDGE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60520"/>
            <a:ext cx="9784080" cy="1051560"/>
          </a:xfrm>
          <a:prstGeom prst="roundRect">
            <a:avLst/>
          </a:prstGeom>
          <a:solidFill>
            <a:srgbClr val="F2F4F6"/>
          </a:solidFill>
          <a:ln w="1016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4270248"/>
            <a:ext cx="950976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50" b="1" i="0">
                <a:solidFill>
                  <a:srgbClr val="1B7F86"/>
                </a:solidFill>
                <a:latin typeface="Aptos"/>
              </a:rPr>
              <a:t>synthetic_demand = effective_demand × slot_factor × genre_slot_affinity × demand_scale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901184"/>
            <a:ext cx="95097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 i="0">
                <a:solidFill>
                  <a:srgbClr val="5A5A5A"/>
                </a:solidFill>
                <a:latin typeface="Aptos"/>
              </a:rPr>
              <a:t>Constructed from explicit assumptions because TMDB has no multiplex ticket transactions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19456"/>
            <a:ext cx="92811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F374F"/>
                </a:solidFill>
                <a:latin typeface="Aptos"/>
              </a:rPr>
              <a:t>LIMITATIONS &amp; CURRENT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31520"/>
            <a:ext cx="9985248" cy="16459"/>
          </a:xfrm>
          <a:prstGeom prst="rect">
            <a:avLst/>
          </a:prstGeom>
          <a:solidFill>
            <a:srgbClr val="CD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930384" y="256032"/>
            <a:ext cx="3657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5A5A5A"/>
                </a:solidFill>
                <a:latin typeface="Aptos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30384" y="5907024"/>
            <a:ext cx="3657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 i="0">
                <a:solidFill>
                  <a:srgbClr val="5A5A5A"/>
                </a:solidFill>
                <a:latin typeface="Aptos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5852160"/>
            <a:ext cx="9985248" cy="16459"/>
          </a:xfrm>
          <a:prstGeom prst="rect">
            <a:avLst/>
          </a:prstGeom>
          <a:solidFill>
            <a:srgbClr val="CD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94360" y="932688"/>
            <a:ext cx="1691640" cy="310896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946404"/>
            <a:ext cx="1545336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376092"/>
                </a:solidFill>
                <a:latin typeface="Aptos"/>
              </a:rPr>
              <a:t>DATA LIMITATION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50592" y="932688"/>
            <a:ext cx="822960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96896" y="987552"/>
            <a:ext cx="7909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232323"/>
                </a:solidFill>
                <a:latin typeface="Aptos"/>
              </a:rPr>
              <a:t>TMDB provides movie-level metadata, not actual multiplex ticket transactions or weekly ticket-demand history.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572768"/>
            <a:ext cx="1691640" cy="310896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586484"/>
            <a:ext cx="1545336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376092"/>
                </a:solidFill>
                <a:latin typeface="Aptos"/>
              </a:rPr>
              <a:t>POPULARITY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0592" y="1572768"/>
            <a:ext cx="822960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96896" y="1627632"/>
            <a:ext cx="7909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232323"/>
                </a:solidFill>
                <a:latin typeface="Aptos"/>
              </a:rPr>
              <a:t>Popularity is a static dataset value here; the model does not observe weekly popularity updates.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212848"/>
            <a:ext cx="1691640" cy="310896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" y="2226564"/>
            <a:ext cx="1545336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376092"/>
                </a:solidFill>
                <a:latin typeface="Aptos"/>
              </a:rPr>
              <a:t>COLD START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50592" y="2212848"/>
            <a:ext cx="822960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96896" y="2267712"/>
            <a:ext cx="7909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232323"/>
                </a:solidFill>
                <a:latin typeface="Aptos"/>
              </a:rPr>
              <a:t>A genuinely new film with no usable historical metadata is not explicitly handled.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2852927"/>
            <a:ext cx="1691640" cy="310896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" y="2866643"/>
            <a:ext cx="1545336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376092"/>
                </a:solidFill>
                <a:latin typeface="Aptos"/>
              </a:rPr>
              <a:t>SYNTHETIC INPUTS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50592" y="2852927"/>
            <a:ext cx="822960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596896" y="2907791"/>
            <a:ext cx="7909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232323"/>
                </a:solidFill>
                <a:latin typeface="Aptos"/>
              </a:rPr>
              <a:t>Capacities, prices, demand scale, slot factors, genre-slot affinity and licensing fees are assumptions.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493008"/>
            <a:ext cx="1691640" cy="310896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7512" y="3506724"/>
            <a:ext cx="1545336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376092"/>
                </a:solidFill>
                <a:latin typeface="Aptos"/>
              </a:rPr>
              <a:t>LONG RUNTIMES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50592" y="3493008"/>
            <a:ext cx="822960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596896" y="3547872"/>
            <a:ext cx="7909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232323"/>
                </a:solidFill>
                <a:latin typeface="Aptos"/>
              </a:rPr>
              <a:t>With fixed 180-minute slots and 20-minute cleanup, movies requiring more than 160 minutes are infeasible.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4133087"/>
            <a:ext cx="1691640" cy="310896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7512" y="4146803"/>
            <a:ext cx="1545336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376092"/>
                </a:solidFill>
                <a:latin typeface="Aptos"/>
              </a:rPr>
              <a:t>HISTORICAL REVENUE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50592" y="4133087"/>
            <a:ext cx="822960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596896" y="4187951"/>
            <a:ext cx="7909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232323"/>
                </a:solidFill>
                <a:latin typeface="Aptos"/>
              </a:rPr>
              <a:t>TMDB revenue/budget are not directly used as the ticket-revenue objective; projected revenue uses modelled occupancy × capacity × price.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773167"/>
            <a:ext cx="1691640" cy="310896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7512" y="4786883"/>
            <a:ext cx="1545336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376092"/>
                </a:solidFill>
                <a:latin typeface="Aptos"/>
              </a:rPr>
              <a:t>SENSITIVITY SCOPE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50592" y="4773167"/>
            <a:ext cx="822960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596896" y="4828031"/>
            <a:ext cx="7909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232323"/>
                </a:solidFill>
                <a:latin typeface="Aptos"/>
              </a:rPr>
              <a:t>Parameter sweeps are planned at the demand/licensing layer; full end-to-end reoptimization for every sweep is future work.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468112"/>
            <a:ext cx="95554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 i="0">
                <a:solidFill>
                  <a:srgbClr val="1F374F"/>
                </a:solidFill>
                <a:latin typeface="Aptos"/>
              </a:rPr>
              <a:t>These limitations define the prototype scope and keep synthetic assumptions distinct from real-world observations.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19456"/>
            <a:ext cx="92811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F374F"/>
                </a:solidFill>
                <a:latin typeface="Aptos"/>
              </a:rPr>
              <a:t>FIRST REVIEW TAKEAWAY &amp; PROJECT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31520"/>
            <a:ext cx="9985248" cy="16459"/>
          </a:xfrm>
          <a:prstGeom prst="rect">
            <a:avLst/>
          </a:prstGeom>
          <a:solidFill>
            <a:srgbClr val="CD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930384" y="256032"/>
            <a:ext cx="3657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5A5A5A"/>
                </a:solidFill>
                <a:latin typeface="Aptos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30384" y="5907024"/>
            <a:ext cx="3657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 i="0">
                <a:solidFill>
                  <a:srgbClr val="5A5A5A"/>
                </a:solidFill>
                <a:latin typeface="Aptos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5852160"/>
            <a:ext cx="9985248" cy="16459"/>
          </a:xfrm>
          <a:prstGeom prst="rect">
            <a:avLst/>
          </a:prstGeom>
          <a:solidFill>
            <a:srgbClr val="CD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914400"/>
            <a:ext cx="9646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 i="0">
                <a:solidFill>
                  <a:srgbClr val="232323"/>
                </a:solidFill>
                <a:latin typeface="Aptos"/>
              </a:rPr>
              <a:t>From real movie metadata to an OR-based multiplex decision-support system.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536192"/>
            <a:ext cx="566928" cy="502920"/>
          </a:xfrm>
          <a:prstGeom prst="roundRect">
            <a:avLst/>
          </a:prstGeom>
          <a:solidFill>
            <a:srgbClr val="E7EFF7"/>
          </a:solidFill>
          <a:ln w="10160"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600200"/>
            <a:ext cx="5669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 i="0">
                <a:solidFill>
                  <a:srgbClr val="376092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527048"/>
            <a:ext cx="1920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1" i="0">
                <a:solidFill>
                  <a:srgbClr val="1F374F"/>
                </a:solidFill>
                <a:latin typeface="Aptos"/>
              </a:rPr>
              <a:t>Problem defined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1527048"/>
            <a:ext cx="6720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232323"/>
                </a:solidFill>
                <a:latin typeface="Aptos"/>
              </a:rPr>
              <a:t>Selection, allocation, assignment and multi-objective scheduling are connected decisions.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249424"/>
            <a:ext cx="566928" cy="502920"/>
          </a:xfrm>
          <a:prstGeom prst="roundRect">
            <a:avLst/>
          </a:prstGeom>
          <a:solidFill>
            <a:srgbClr val="E7EFF7"/>
          </a:solidFill>
          <a:ln w="10160"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313432"/>
            <a:ext cx="5669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 i="0">
                <a:solidFill>
                  <a:srgbClr val="376092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27632" y="2240280"/>
            <a:ext cx="1920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1" i="0">
                <a:solidFill>
                  <a:srgbClr val="1F374F"/>
                </a:solidFill>
                <a:latin typeface="Aptos"/>
              </a:rPr>
              <a:t>Dataset understood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240280"/>
            <a:ext cx="6720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232323"/>
                </a:solidFill>
                <a:latin typeface="Aptos"/>
              </a:rPr>
              <a:t>TMDB provides movie-level metadata; explicit assumptions create the weekly demand bridge.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962656"/>
            <a:ext cx="566928" cy="502920"/>
          </a:xfrm>
          <a:prstGeom prst="roundRect">
            <a:avLst/>
          </a:prstGeom>
          <a:solidFill>
            <a:srgbClr val="E7EFF7"/>
          </a:solidFill>
          <a:ln w="10160"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3026664"/>
            <a:ext cx="5669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 i="0">
                <a:solidFill>
                  <a:srgbClr val="376092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2953512"/>
            <a:ext cx="1920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1" i="0">
                <a:solidFill>
                  <a:srgbClr val="1F374F"/>
                </a:solidFill>
                <a:latin typeface="Aptos"/>
              </a:rPr>
              <a:t>OR methodology defined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2953512"/>
            <a:ext cx="6720840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 dirty="0">
                <a:solidFill>
                  <a:srgbClr val="232323"/>
                </a:solidFill>
                <a:latin typeface="Aptos"/>
              </a:rPr>
              <a:t>Knapsack → Transportation → Assignment 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675887"/>
            <a:ext cx="566928" cy="502920"/>
          </a:xfrm>
          <a:prstGeom prst="roundRect">
            <a:avLst/>
          </a:prstGeom>
          <a:solidFill>
            <a:srgbClr val="E7EFF7"/>
          </a:solidFill>
          <a:ln w="10160"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3739896"/>
            <a:ext cx="5669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 i="0">
                <a:solidFill>
                  <a:srgbClr val="376092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27632" y="3666744"/>
            <a:ext cx="1920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1" i="0">
                <a:solidFill>
                  <a:srgbClr val="1F374F"/>
                </a:solidFill>
                <a:latin typeface="Aptos"/>
              </a:rPr>
              <a:t>Inputs / outputs defined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3666744"/>
            <a:ext cx="6720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232323"/>
                </a:solidFill>
                <a:latin typeface="Aptos"/>
              </a:rPr>
              <a:t>Every model has a clear purpose and a clear hand-off to the next model.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389120"/>
            <a:ext cx="566928" cy="502920"/>
          </a:xfrm>
          <a:prstGeom prst="roundRect">
            <a:avLst/>
          </a:prstGeom>
          <a:solidFill>
            <a:srgbClr val="E7EFF7"/>
          </a:solidFill>
          <a:ln w="10160"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4453128"/>
            <a:ext cx="5669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 i="0">
                <a:solidFill>
                  <a:srgbClr val="376092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27632" y="4379976"/>
            <a:ext cx="1920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1" i="0">
                <a:solidFill>
                  <a:srgbClr val="1F374F"/>
                </a:solidFill>
                <a:latin typeface="Aptos"/>
              </a:rPr>
              <a:t>Evaluation planned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4379976"/>
            <a:ext cx="6720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232323"/>
                </a:solidFill>
                <a:latin typeface="Aptos"/>
              </a:rPr>
              <a:t>Baseline comparison, feasibility checks and sensitivity analysis follow implementation.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1560" y="5166360"/>
            <a:ext cx="9144000" cy="502920"/>
          </a:xfrm>
          <a:prstGeom prst="roundRect">
            <a:avLst/>
          </a:prstGeom>
          <a:solidFill>
            <a:srgbClr val="F2F4F6"/>
          </a:solidFill>
          <a:ln w="1016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88720" y="5276088"/>
            <a:ext cx="8869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 i="0">
                <a:solidFill>
                  <a:srgbClr val="1B7F86"/>
                </a:solidFill>
                <a:latin typeface="Aptos"/>
              </a:rPr>
              <a:t>Next milestone: implement the four models, verify the model chain, and generate the first complete schedule.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F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96012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600" b="1" i="0">
                <a:solidFill>
                  <a:srgbClr val="1F374F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1677</Words>
  <Application>Microsoft Office PowerPoint</Application>
  <PresentationFormat>Widescreen</PresentationFormat>
  <Paragraphs>259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Abhishek Karthik J</cp:lastModifiedBy>
  <cp:revision>11</cp:revision>
  <dcterms:created xsi:type="dcterms:W3CDTF">2013-01-27T09:14:16Z</dcterms:created>
  <dcterms:modified xsi:type="dcterms:W3CDTF">2026-08-19T07:24:24Z</dcterms:modified>
  <cp:category/>
</cp:coreProperties>
</file>