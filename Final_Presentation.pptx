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62965a7-a9c1-916d-3c5c-9a26e2b3cc80}">
          <p14:sldIdLst>
            <p14:sldId id="256"/>
            <p14:sldId id="257"/>
            <p14:sldId id="258"/>
            <p14:sldId id="259"/>
          </p14:sldIdLst>
        </p14:section>
        <p14:section name="Methodology" id="{9790679b-f657-f12c-9396-cb3613a75b2f}">
          <p14:sldIdLst>
            <p14:sldId id="260"/>
            <p14:sldId id="261"/>
            <p14:sldId id="262"/>
            <p14:sldId id="263"/>
            <p14:sldId id="264"/>
            <p14:sldId id="265"/>
            <p14:sldId id="266"/>
            <p14:sldId id="267"/>
          </p14:sldIdLst>
        </p14:section>
        <p14:section name="Results" id="{93274562-69c1-9e64-413b-db6a412c896f}">
          <p14:sldIdLst>
            <p14:sldId id="268"/>
            <p14:sldId id="269"/>
            <p14:sldId id="270"/>
            <p14:sldId id="271"/>
            <p14:sldId id="272"/>
            <p14:sldId id="273"/>
          </p14:sldIdLst>
        </p14:section>
        <p14:section name="Review, UI and code" id="{12b32671-df1c-88bc-171f-5332160334cc}">
          <p14:sldIdLst>
            <p14:sldId id="274"/>
            <p14:sldId id="275"/>
            <p14:sldId id="276"/>
          </p14:sldIdLst>
        </p14:section>
        <p14:section name="Conclusion" id="{2ba0304e-4238-3613-9b7c-b0d8d6736b5a}">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Cleaning: rows remaining after each step</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9B1B30"/>
            </a:solidFill>
            <a:effectLst/>
          </c:spPr>
          <c:invertIfNegative val="0"/>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cat>
            <c:multiLvlStrRef>
              <c:f>Sheet1!$A$2:$A$6</c:f>
              <c:multiLvlStrCache>
                <c:ptCount val="5"/>
                <c:lvl>
                  <c:pt idx="0">
                    <c:v>Initial</c:v>
                  </c:pt>
                  <c:pt idx="1">
                    <c:v>Released only</c:v>
                  </c:pt>
                  <c:pt idx="2">
                    <c:v>≥ 200 votes</c:v>
                  </c:pt>
                  <c:pt idx="3">
                    <c:v>Valid runtime</c:v>
                  </c:pt>
                  <c:pt idx="4">
                    <c:v>Valid date</c:v>
                  </c:pt>
                </c:lvl>
              </c:multiLvlStrCache>
            </c:multiLvlStrRef>
          </c:cat>
          <c:val>
            <c:numRef>
              <c:f>Sheet1!$B$2:$B$6</c:f>
              <c:numCache>
                <c:formatCode>General</c:formatCode>
                <c:ptCount val="5"/>
                <c:pt idx="0">
                  <c:v>4803</c:v>
                </c:pt>
                <c:pt idx="1">
                  <c:v>4795</c:v>
                </c:pt>
                <c:pt idx="2">
                  <c:v>2571</c:v>
                </c:pt>
                <c:pt idx="3">
                  <c:v>2571</c:v>
                </c:pt>
                <c:pt idx="4">
                  <c:v>2571</c:v>
                </c:pt>
              </c:numCache>
            </c:numRef>
          </c:val>
        </c:ser>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Share of popularity left after n weeks (λ = 0.55)</a:t>
            </a:r>
          </a:p>
        </c:rich>
      </c:tx>
      <c:layout/>
      <c:overlay val="0"/>
    </c:title>
    <c:autoTitleDeleted val="0"/>
    <c:plotArea>
      <c:layout/>
      <c:lineChart>
        <c:varyColors val="0"/>
        <c:ser>
          <c:idx val="0"/>
          <c:order val="0"/>
          <c:tx>
            <c:strRef>
              <c:f>Sheet1!$B$1</c:f>
              <c:strCache>
                <c:ptCount val="1"/>
                <c:pt idx="0">
                  <c:v>Share of demand left</c:v>
                </c:pt>
              </c:strCache>
            </c:strRef>
          </c:tx>
          <c:spPr>
            <a:solidFill>
              <a:srgbClr val="9B1B30"/>
            </a:solidFill>
            <a:ln w="38100" cap="flat">
              <a:solidFill>
                <a:srgbClr val="9B1B30"/>
              </a:solidFill>
              <a:prstDash val="solid"/>
              <a:round/>
            </a:ln>
            <a:effectLst/>
          </c:spPr>
          <c:invertIfNegative val="0"/>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c:symbol val="circle"/>
            <c:size val="7"/>
            <c:spPr>
              <a:solidFill>
                <a:srgbClr val="9B1B30"/>
              </a:solidFill>
              <a:ln w="9525" cap="flat">
                <a:solidFill>
                  <a:srgbClr val="9B1B30"/>
                </a:solidFill>
                <a:prstDash val="solid"/>
                <a:round/>
              </a:ln>
              <a:effectLst/>
            </c:spPr>
          </c:marker>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1</c:v>
                </c:pt>
                <c:pt idx="1">
                  <c:v>0.577</c:v>
                </c:pt>
                <c:pt idx="2">
                  <c:v>0.333</c:v>
                </c:pt>
                <c:pt idx="3">
                  <c:v>0.192</c:v>
                </c:pt>
                <c:pt idx="4">
                  <c:v>0.111</c:v>
                </c:pt>
                <c:pt idx="5">
                  <c:v>0.064</c:v>
                </c:pt>
                <c:pt idx="6">
                  <c:v>0.037</c:v>
                </c:pt>
                <c:pt idx="7">
                  <c:v>0.021</c:v>
                </c:pt>
                <c:pt idx="8">
                  <c:v>0.012</c:v>
                </c:pt>
              </c:numCache>
            </c:numRef>
          </c:val>
          <c:smooth val="0"/>
        </c:ser>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2252B"/>
                    </a:solidFill>
                    <a:latin typeface="Arial"/>
                  </a:defRPr>
                </a:pPr>
                <a:r>
                  <a:rPr sz="1200" b="0" i="0" u="none" strike="noStrike">
                    <a:solidFill>
                      <a:srgbClr val="22252B"/>
                    </a:solidFill>
                    <a:latin typeface="Arial"/>
                  </a:rPr>
                  <a:t>weeks since release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E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Daily capacity–demand mismatch cost (₹)</a:t>
            </a:r>
          </a:p>
        </c:rich>
      </c:tx>
      <c:layout/>
      <c:overlay val="0"/>
    </c:title>
    <c:autoTitleDeleted val="0"/>
    <c:plotArea>
      <c:layout/>
      <c:barChart>
        <c:barDir val="col"/>
        <c:grouping val="clustered"/>
        <c:varyColors val="0"/>
        <c:ser>
          <c:idx val="0"/>
          <c:order val="0"/>
          <c:tx>
            <c:strRef>
              <c:f>Sheet1!$B$1</c:f>
              <c:strCache>
                <c:ptCount val="1"/>
                <c:pt idx="0">
                  <c:v>Mismatch cost (₹/day)</c:v>
                </c:pt>
              </c:strCache>
            </c:strRef>
          </c:tx>
          <c:spPr>
            <a:solidFill>
              <a:srgbClr val="6B7280"/>
            </a:solidFill>
            <a:effectLst/>
          </c:spPr>
          <c:invertIfNegative val="0"/>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9B1B30"/>
              </a:solidFill>
              <a:effectLst/>
            </c:spPr>
          </c:dPt>
          <c:cat>
            <c:multiLvlStrRef>
              <c:f>Sheet1!$A$2:$A$3</c:f>
              <c:multiLvlStrCache>
                <c:ptCount val="2"/>
                <c:lvl>
                  <c:pt idx="0">
                    <c:v>Same mix on every screen</c:v>
                  </c:pt>
                  <c:pt idx="1">
                    <c:v>Optimal plan (Model 2)</c:v>
                  </c:pt>
                </c:lvl>
              </c:multiLvlStrCache>
            </c:multiLvlStrRef>
          </c:cat>
          <c:val>
            <c:numRef>
              <c:f>Sheet1!$B$2:$B$3</c:f>
              <c:numCache>
                <c:formatCode>General</c:formatCode>
                <c:ptCount val="2"/>
                <c:pt idx="0">
                  <c:v>143767</c:v>
                </c:pt>
                <c:pt idx="1">
                  <c:v>109548</c:v>
                </c:pt>
              </c:numCache>
            </c:numRef>
          </c:val>
        </c:ser>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Daily revenue (₹)</a:t>
            </a:r>
          </a:p>
        </c:rich>
      </c:tx>
      <c:layout/>
      <c:overlay val="0"/>
    </c:title>
    <c:autoTitleDeleted val="0"/>
    <c:plotArea>
      <c:layout/>
      <c:barChart>
        <c:barDir val="col"/>
        <c:grouping val="clustered"/>
        <c:varyColors val="0"/>
        <c:ser>
          <c:idx val="0"/>
          <c:order val="0"/>
          <c:tx>
            <c:strRef>
              <c:f>Sheet1!$B$1</c:f>
              <c:strCache>
                <c:ptCount val="1"/>
                <c:pt idx="0">
                  <c:v>Revenue per day (₹)</c:v>
                </c:pt>
              </c:strCache>
            </c:strRef>
          </c:tx>
          <c:spPr>
            <a:solidFill>
              <a:srgbClr val="6B7280"/>
            </a:solidFill>
            <a:effectLst/>
          </c:spPr>
          <c:invertIfNegative val="0"/>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D99A1E"/>
              </a:solidFill>
              <a:effectLst/>
            </c:spPr>
          </c:dPt>
          <c:dPt>
            <c:idx val="2"/>
            <c:invertIfNegative val="0"/>
            <c:bubble3D val="0"/>
            <c:spPr>
              <a:solidFill>
                <a:srgbClr val="3B5BA5"/>
              </a:solidFill>
              <a:effectLst/>
            </c:spPr>
          </c:dPt>
          <c:dPt>
            <c:idx val="3"/>
            <c:invertIfNegative val="0"/>
            <c:bubble3D val="0"/>
            <c:spPr>
              <a:solidFill>
                <a:srgbClr val="9B1B30"/>
              </a:solidFill>
              <a:effectLst/>
            </c:spPr>
          </c:dPt>
          <c:cat>
            <c:multiLvlStrRef>
              <c:f>Sheet1!$A$2:$A$5</c:f>
              <c:multiLvlStrCache>
                <c:ptCount val="4"/>
                <c:lvl>
                  <c:pt idx="0">
                    <c:v>B1 naive</c:v>
                  </c:pt>
                  <c:pt idx="1">
                    <c:v>B2 greedy</c:v>
                  </c:pt>
                  <c:pt idx="2">
                    <c:v>M3 optimum</c:v>
                  </c:pt>
                  <c:pt idx="3">
                    <c:v>M4 final</c:v>
                  </c:pt>
                </c:lvl>
              </c:multiLvlStrCache>
            </c:multiLvlStrRef>
          </c:cat>
          <c:val>
            <c:numRef>
              <c:f>Sheet1!$B$2:$B$5</c:f>
              <c:numCache>
                <c:formatCode>General</c:formatCode>
                <c:ptCount val="4"/>
                <c:pt idx="0">
                  <c:v>257294</c:v>
                </c:pt>
                <c:pt idx="1">
                  <c:v>419711</c:v>
                </c:pt>
                <c:pt idx="2">
                  <c:v>419711</c:v>
                </c:pt>
                <c:pt idx="3">
                  <c:v>416230</c:v>
                </c:pt>
              </c:numCache>
            </c:numRef>
          </c:val>
        </c:ser>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Daily revenue (₹) vs minimum number of films licensed</a:t>
            </a:r>
          </a:p>
        </c:rich>
      </c:tx>
      <c:layout/>
      <c:overlay val="0"/>
    </c:title>
    <c:autoTitleDeleted val="0"/>
    <c:plotArea>
      <c:layout/>
      <c:lineChart>
        <c:varyColors val="0"/>
        <c:ser>
          <c:idx val="0"/>
          <c:order val="0"/>
          <c:tx>
            <c:strRef>
              <c:f>Sheet1!$B$1</c:f>
              <c:strCache>
                <c:ptCount val="1"/>
                <c:pt idx="0">
                  <c:v>M3 revenue optimum</c:v>
                </c:pt>
              </c:strCache>
            </c:strRef>
          </c:tx>
          <c:spPr>
            <a:solidFill>
              <a:srgbClr val="3B5BA5"/>
            </a:solidFill>
            <a:ln w="38100" cap="flat">
              <a:solidFill>
                <a:srgbClr val="3B5BA5"/>
              </a:solidFill>
              <a:prstDash val="solid"/>
              <a:round/>
            </a:ln>
            <a:effectLst/>
          </c:spPr>
          <c:invertIfNegative val="0"/>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c:symbol val="circle"/>
            <c:size val="7"/>
            <c:spPr>
              <a:solidFill>
                <a:srgbClr val="3B5BA5"/>
              </a:solidFill>
              <a:ln w="9525" cap="flat">
                <a:solidFill>
                  <a:srgbClr val="3B5BA5"/>
                </a:solidFill>
                <a:prstDash val="solid"/>
                <a:round/>
              </a:ln>
              <a:effectLst/>
            </c:spPr>
          </c:marker>
          <c:cat>
            <c:multiLvlStrRef>
              <c:f>Sheet1!$A$2:$A$8</c:f>
              <c:multiLvlStrCache>
                <c:ptCount val="7"/>
                <c:lvl>
                  <c:pt idx="0">
                    <c:v>4</c:v>
                  </c:pt>
                  <c:pt idx="1">
                    <c:v>5</c:v>
                  </c:pt>
                  <c:pt idx="2">
                    <c:v>6</c:v>
                  </c:pt>
                  <c:pt idx="3">
                    <c:v>7</c:v>
                  </c:pt>
                  <c:pt idx="4">
                    <c:v>8 (policy)</c:v>
                  </c:pt>
                  <c:pt idx="5">
                    <c:v>9</c:v>
                  </c:pt>
                  <c:pt idx="6">
                    <c:v>10</c:v>
                  </c:pt>
                </c:lvl>
              </c:multiLvlStrCache>
            </c:multiLvlStrRef>
          </c:cat>
          <c:val>
            <c:numRef>
              <c:f>Sheet1!$B$2:$B$8</c:f>
              <c:numCache>
                <c:formatCode>General</c:formatCode>
                <c:ptCount val="7"/>
                <c:pt idx="0">
                  <c:v>463961</c:v>
                </c:pt>
                <c:pt idx="1">
                  <c:v>463961</c:v>
                </c:pt>
                <c:pt idx="2">
                  <c:v>463961</c:v>
                </c:pt>
                <c:pt idx="3">
                  <c:v>461144</c:v>
                </c:pt>
                <c:pt idx="4">
                  <c:v>419711</c:v>
                </c:pt>
                <c:pt idx="5">
                  <c:v>374925</c:v>
                </c:pt>
                <c:pt idx="6">
                  <c:v>247784</c:v>
                </c:pt>
              </c:numCache>
            </c:numRef>
          </c:val>
          <c:smooth val="0"/>
        </c:ser>
        <c:ser>
          <c:idx val="1"/>
          <c:order val="1"/>
          <c:tx>
            <c:strRef>
              <c:f>Sheet1!$C$1</c:f>
              <c:strCache>
                <c:ptCount val="1"/>
                <c:pt idx="0">
                  <c:v>M4 final</c:v>
                </c:pt>
              </c:strCache>
            </c:strRef>
          </c:tx>
          <c:spPr>
            <a:solidFill>
              <a:srgbClr val="9B1B30"/>
            </a:solidFill>
            <a:ln w="38100" cap="flat">
              <a:solidFill>
                <a:srgbClr val="9B1B30"/>
              </a:solidFill>
              <a:prstDash val="solid"/>
              <a:round/>
            </a:ln>
            <a:effectLst/>
          </c:spPr>
          <c:invertIfNegative val="0"/>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c:symbol val="circle"/>
            <c:size val="7"/>
            <c:spPr>
              <a:solidFill>
                <a:srgbClr val="9B1B30"/>
              </a:solidFill>
              <a:ln w="9525" cap="flat">
                <a:solidFill>
                  <a:srgbClr val="9B1B30"/>
                </a:solidFill>
                <a:prstDash val="solid"/>
                <a:round/>
              </a:ln>
              <a:effectLst/>
            </c:spPr>
          </c:marker>
          <c:cat>
            <c:multiLvlStrRef>
              <c:f>Sheet1!$A$2:$A$8</c:f>
              <c:multiLvlStrCache>
                <c:ptCount val="7"/>
                <c:lvl>
                  <c:pt idx="0">
                    <c:v>4</c:v>
                  </c:pt>
                  <c:pt idx="1">
                    <c:v>5</c:v>
                  </c:pt>
                  <c:pt idx="2">
                    <c:v>6</c:v>
                  </c:pt>
                  <c:pt idx="3">
                    <c:v>7</c:v>
                  </c:pt>
                  <c:pt idx="4">
                    <c:v>8 (policy)</c:v>
                  </c:pt>
                  <c:pt idx="5">
                    <c:v>9</c:v>
                  </c:pt>
                  <c:pt idx="6">
                    <c:v>10</c:v>
                  </c:pt>
                </c:lvl>
              </c:multiLvlStrCache>
            </c:multiLvlStrRef>
          </c:cat>
          <c:val>
            <c:numRef>
              <c:f>Sheet1!$C$2:$C$8</c:f>
              <c:numCache>
                <c:formatCode>General</c:formatCode>
                <c:ptCount val="7"/>
                <c:pt idx="0">
                  <c:v>459660</c:v>
                </c:pt>
                <c:pt idx="1">
                  <c:v>459660</c:v>
                </c:pt>
                <c:pt idx="2">
                  <c:v>459660</c:v>
                </c:pt>
                <c:pt idx="3">
                  <c:v>455318</c:v>
                </c:pt>
                <c:pt idx="4">
                  <c:v>416230</c:v>
                </c:pt>
                <c:pt idx="5">
                  <c:v>370272</c:v>
                </c:pt>
                <c:pt idx="6">
                  <c:v>241349</c:v>
                </c:pt>
              </c:numCache>
            </c:numRef>
          </c:val>
          <c:smooth val="0"/>
        </c:ser>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2252B"/>
                    </a:solidFill>
                    <a:latin typeface="Arial"/>
                  </a:defRPr>
                </a:pPr>
                <a:r>
                  <a:rPr sz="1200" b="0" i="0" u="none" strike="noStrike">
                    <a:solidFill>
                      <a:srgbClr val="22252B"/>
                    </a:solidFill>
                    <a:latin typeface="Arial"/>
                  </a:rPr>
                  <a:t>minimum films the policy requires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max val="480000"/>
          <c:min val="200000"/>
        </c:scaling>
        <c:delete val="0"/>
        <c:axPos val="l"/>
        <c:majorGridlines>
          <c:spPr>
            <a:ln w="6350" cap="flat">
              <a:solidFill>
                <a:srgbClr val="E3DE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5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Revenue (₹/day) vs decay rate λ</a:t>
            </a:r>
          </a:p>
        </c:rich>
      </c:tx>
      <c:layout/>
      <c:overlay val="0"/>
    </c:title>
    <c:autoTitleDeleted val="0"/>
    <c:plotArea>
      <c:layout/>
      <c:lineChart>
        <c:varyColors val="0"/>
        <c:ser>
          <c:idx val="0"/>
          <c:order val="0"/>
          <c:tx>
            <c:strRef>
              <c:f>Sheet1!$B$1</c:f>
              <c:strCache>
                <c:ptCount val="1"/>
                <c:pt idx="0">
                  <c:v>B1 naive</c:v>
                </c:pt>
              </c:strCache>
            </c:strRef>
          </c:tx>
          <c:spPr>
            <a:solidFill>
              <a:srgbClr val="6B7280"/>
            </a:solidFill>
            <a:ln w="38100" cap="flat">
              <a:solidFill>
                <a:srgbClr val="6B7280"/>
              </a:solidFill>
              <a:prstDash val="solid"/>
              <a:round/>
            </a:ln>
            <a:effectLst/>
          </c:spPr>
          <c:invertIfNegative val="0"/>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c:symbol val="circle"/>
            <c:size val="6"/>
            <c:spPr>
              <a:solidFill>
                <a:srgbClr val="6B7280"/>
              </a:solidFill>
              <a:ln w="9525" cap="flat">
                <a:solidFill>
                  <a:srgbClr val="6B7280"/>
                </a:solidFill>
                <a:prstDash val="solid"/>
                <a:round/>
              </a:ln>
              <a:effectLst/>
            </c:spPr>
          </c:marker>
          <c:cat>
            <c:multiLvlStrRef>
              <c:f>Sheet1!$A$2:$A$8</c:f>
              <c:multiLvlStrCache>
                <c:ptCount val="7"/>
                <c:lvl>
                  <c:pt idx="0">
                    <c:v>0.25</c:v>
                  </c:pt>
                  <c:pt idx="1">
                    <c:v>0.35</c:v>
                  </c:pt>
                  <c:pt idx="2">
                    <c:v>0.45</c:v>
                  </c:pt>
                  <c:pt idx="3">
                    <c:v>0.55</c:v>
                  </c:pt>
                  <c:pt idx="4">
                    <c:v>0.65</c:v>
                  </c:pt>
                  <c:pt idx="5">
                    <c:v>0.75</c:v>
                  </c:pt>
                  <c:pt idx="6">
                    <c:v>0.85</c:v>
                  </c:pt>
                </c:lvl>
              </c:multiLvlStrCache>
            </c:multiLvlStrRef>
          </c:cat>
          <c:val>
            <c:numRef>
              <c:f>Sheet1!$B$2:$B$8</c:f>
              <c:numCache>
                <c:formatCode>General</c:formatCode>
                <c:ptCount val="7"/>
                <c:pt idx="0">
                  <c:v>500767</c:v>
                </c:pt>
                <c:pt idx="1">
                  <c:v>389904</c:v>
                </c:pt>
                <c:pt idx="2">
                  <c:v>312034</c:v>
                </c:pt>
                <c:pt idx="3">
                  <c:v>257294</c:v>
                </c:pt>
                <c:pt idx="4">
                  <c:v>218703</c:v>
                </c:pt>
                <c:pt idx="5">
                  <c:v>192408</c:v>
                </c:pt>
                <c:pt idx="6">
                  <c:v>173920</c:v>
                </c:pt>
              </c:numCache>
            </c:numRef>
          </c:val>
          <c:smooth val="0"/>
        </c:ser>
        <c:ser>
          <c:idx val="1"/>
          <c:order val="1"/>
          <c:tx>
            <c:strRef>
              <c:f>Sheet1!$C$1</c:f>
              <c:strCache>
                <c:ptCount val="1"/>
                <c:pt idx="0">
                  <c:v>M4 final</c:v>
                </c:pt>
              </c:strCache>
            </c:strRef>
          </c:tx>
          <c:spPr>
            <a:solidFill>
              <a:srgbClr val="9B1B30"/>
            </a:solidFill>
            <a:ln w="38100" cap="flat">
              <a:solidFill>
                <a:srgbClr val="9B1B30"/>
              </a:solidFill>
              <a:prstDash val="solid"/>
              <a:round/>
            </a:ln>
            <a:effectLst/>
          </c:spPr>
          <c:invertIfNegative val="0"/>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c:symbol val="circle"/>
            <c:size val="6"/>
            <c:spPr>
              <a:solidFill>
                <a:srgbClr val="9B1B30"/>
              </a:solidFill>
              <a:ln w="9525" cap="flat">
                <a:solidFill>
                  <a:srgbClr val="9B1B30"/>
                </a:solidFill>
                <a:prstDash val="solid"/>
                <a:round/>
              </a:ln>
              <a:effectLst/>
            </c:spPr>
          </c:marker>
          <c:cat>
            <c:multiLvlStrRef>
              <c:f>Sheet1!$A$2:$A$8</c:f>
              <c:multiLvlStrCache>
                <c:ptCount val="7"/>
                <c:lvl>
                  <c:pt idx="0">
                    <c:v>0.25</c:v>
                  </c:pt>
                  <c:pt idx="1">
                    <c:v>0.35</c:v>
                  </c:pt>
                  <c:pt idx="2">
                    <c:v>0.45</c:v>
                  </c:pt>
                  <c:pt idx="3">
                    <c:v>0.55</c:v>
                  </c:pt>
                  <c:pt idx="4">
                    <c:v>0.65</c:v>
                  </c:pt>
                  <c:pt idx="5">
                    <c:v>0.75</c:v>
                  </c:pt>
                  <c:pt idx="6">
                    <c:v>0.85</c:v>
                  </c:pt>
                </c:lvl>
              </c:multiLvlStrCache>
            </c:multiLvlStrRef>
          </c:cat>
          <c:val>
            <c:numRef>
              <c:f>Sheet1!$C$2:$C$8</c:f>
              <c:numCache>
                <c:formatCode>General</c:formatCode>
                <c:ptCount val="7"/>
                <c:pt idx="0">
                  <c:v>372193</c:v>
                </c:pt>
                <c:pt idx="1">
                  <c:v>421287</c:v>
                </c:pt>
                <c:pt idx="2">
                  <c:v>326149</c:v>
                </c:pt>
                <c:pt idx="3">
                  <c:v>416230</c:v>
                </c:pt>
                <c:pt idx="4">
                  <c:v>405750</c:v>
                </c:pt>
                <c:pt idx="5">
                  <c:v>362972</c:v>
                </c:pt>
                <c:pt idx="6">
                  <c:v>331341</c:v>
                </c:pt>
              </c:numCache>
            </c:numRef>
          </c:val>
          <c:smooth val="0"/>
        </c:ser>
        <c:dLbls>
          <c:numFmt formatCode="#,##0" sourceLinked="0"/>
          <c:txPr>
            <a:bodyPr/>
            <a:lstStyle/>
            <a:p>
              <a:pPr>
                <a:defRPr b="0" i="0" strike="noStrike" sz="1200" u="none">
                  <a:solidFill>
                    <a:srgbClr val="2225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E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5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52B"/>
                </a:solidFill>
                <a:latin typeface="+mn-lt"/>
              </a:defRPr>
            </a:pPr>
            <a:r>
              <a:rPr sz="1400" b="0" i="0" u="none" strike="noStrike">
                <a:solidFill>
                  <a:srgbClr val="22252B"/>
                </a:solidFill>
                <a:latin typeface="+mn-lt"/>
              </a:rPr>
              <a:t>M4 revenue lift vs naive, 10 rule-selected weeks (%)</a:t>
            </a:r>
          </a:p>
        </c:rich>
      </c:tx>
      <c:layout/>
      <c:overlay val="0"/>
    </c:title>
    <c:autoTitleDeleted val="0"/>
    <c:plotArea>
      <c:layout/>
      <c:barChart>
        <c:barDir val="col"/>
        <c:grouping val="clustered"/>
        <c:varyColors val="0"/>
        <c:ser>
          <c:idx val="0"/>
          <c:order val="0"/>
          <c:tx>
            <c:strRef>
              <c:f>Sheet1!$B$1</c:f>
              <c:strCache>
                <c:ptCount val="1"/>
                <c:pt idx="0">
                  <c:v>Lift vs naive (%)</c:v>
                </c:pt>
              </c:strCache>
            </c:strRef>
          </c:tx>
          <c:spPr>
            <a:solidFill>
              <a:srgbClr val="9B1B30"/>
            </a:solidFill>
            <a:effectLst/>
          </c:spPr>
          <c:invertIfNegative val="0"/>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cat>
            <c:multiLvlStrRef>
              <c:f>Sheet1!$A$2:$A$11</c:f>
              <c:multiLvlStrCache>
                <c:ptCount val="10"/>
                <c:lvl>
                  <c:pt idx="0">
                    <c:v>2010-01</c:v>
                  </c:pt>
                  <c:pt idx="1">
                    <c:v>2010-09</c:v>
                  </c:pt>
                  <c:pt idx="2">
                    <c:v>2011-05</c:v>
                  </c:pt>
                  <c:pt idx="3">
                    <c:v>2012-02</c:v>
                  </c:pt>
                  <c:pt idx="4">
                    <c:v>2012-10</c:v>
                  </c:pt>
                  <c:pt idx="5">
                    <c:v>2013-07</c:v>
                  </c:pt>
                  <c:pt idx="6">
                    <c:v>2014-03</c:v>
                  </c:pt>
                  <c:pt idx="7">
                    <c:v>2014-12</c:v>
                  </c:pt>
                  <c:pt idx="8">
                    <c:v>2015-09</c:v>
                  </c:pt>
                  <c:pt idx="9">
                    <c:v>2016-06</c:v>
                  </c:pt>
                </c:lvl>
              </c:multiLvlStrCache>
            </c:multiLvlStrRef>
          </c:cat>
          <c:val>
            <c:numRef>
              <c:f>Sheet1!$B$2:$B$11</c:f>
              <c:numCache>
                <c:formatCode>General</c:formatCode>
                <c:ptCount val="10"/>
                <c:pt idx="0">
                  <c:v>29.9</c:v>
                </c:pt>
                <c:pt idx="1">
                  <c:v>15.2</c:v>
                </c:pt>
                <c:pt idx="2">
                  <c:v>-5.3</c:v>
                </c:pt>
                <c:pt idx="3">
                  <c:v>27</c:v>
                </c:pt>
                <c:pt idx="4">
                  <c:v>67.6</c:v>
                </c:pt>
                <c:pt idx="5">
                  <c:v>42.3</c:v>
                </c:pt>
                <c:pt idx="6">
                  <c:v>53.1</c:v>
                </c:pt>
                <c:pt idx="7">
                  <c:v>20.4</c:v>
                </c:pt>
                <c:pt idx="8">
                  <c:v>100</c:v>
                </c:pt>
                <c:pt idx="9">
                  <c:v>92.3</c:v>
                </c:pt>
              </c:numCache>
            </c:numRef>
          </c:val>
        </c:ser>
        <c:dLbls>
          <c:numFmt formatCode="0" sourceLinked="0"/>
          <c:txPr>
            <a:bodyPr/>
            <a:lstStyle/>
            <a:p>
              <a:pPr>
                <a:defRPr b="0" i="0" strike="noStrike" sz="1200" u="none">
                  <a:solidFill>
                    <a:srgbClr val="2225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52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5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built a four-model Operations Research pipeline that plans a multiplex's week: which films to license, how to split screens by genre, which film plays where and when, and how to balance revenue against other goals. The tile pattern on the right is our actual final schedule for the week of 16 July 2014, coloured by genre.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 manager faces four decisions every week and they are linked. Licensing decides what can be shown; screen capacity decides where blockbusters go; the timetable turns that into shows; and the manager also cares about occupancy, variety and idle screens, not just revenue. Our question is whether a chain of OR models gives a feasible plan better than the naive 'show the most popular films' plan, and what each trade-off costs. Setup: 5 screens of 250/180/180/120/120 seats, six fixed slots, a 20-lakh weekly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public TMDB 5000 movie dataset from Kaggle. It has real popularity, runtime, release date and genres, which is what we need to rank films and place them in time. It does not have ticket sales, so everything about the theatre and demand has to be an explicit assumption. We keep all of them in one config and test the important ones by sensitivity analysis. Cleaning takes 4,803 rows down to 2,571 usable films.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bridges real metadata to ticket demand. Effective demand is normalised popularity times an exponential decay in weeks since release, lambda 0.55. Demand per show multiplies in a slot factor and a genre-by-slot affinity, in persons. Crucially, seats sold are capped by the screen's capacity, so screen size matters, and the excess is spill. Example: Lucy at 9 pm has 363 demand, the 250-seat screen sells 250 and turns 113 away. The demand scale was calibrated once so average occupancy of the optimal schedule falls in a realistic 35 to 45 percent band, then frozen; we never tuned it to improve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problem is decomposed into four connected models, each answering one question and handing its output to the next. Model 1 chooses films with a knapsack integer program. Model 2 turns the licensed films into a genre quota per screen with a transportation LP. Model 3 builds the revenue-maximising timetable with an assignment-type integer program, using Model 2's preferred genre as a constraint. Model 4 is goal programming: it reconciles revenue with five other goals, and the goal weights come from AHP. Each hand-off is checked in code. The right-hand column maps each model to a topic from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is a 0/1 knapsack: one binary variable per film. The objective maximises a value score, which is the daily revenue a film could earn with one show per slot on an average screen. Constraints: budget, a film-count range of 8 to 12 which is our variety policy, at least one action-type and one family film, and films longer than 160 minutes are forced to zero because they can't fit a 180-minute slot with 20 minutes of cleanup. Fees rise with current demand. The solver licenses 8 films and uses almost exactly the whole 20-lakh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show the knapsack is doing real work. First, the greedy heuristic is not just worse, it is infeasible: it stops at 6 films and violates the minimum. Second, the LP relaxation, where films may be fractional, is 4.77% higher, which is the integrality gap. Third, the sensitivity report from the LP gives shadow prices: each extra rupee of budget is worth 0.273 value units within a range, and each extra film the variety policy requires costs about 24 thousand of value. We say honestly that without the film-count rule, the knapsack and a simple demand ranking agree; the contribution is satisfying all the rules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2 is a balanced transportation problem. The unit is a show-slot: each screen supplies six, each genre demands a quota. The cost of putting genre g on screen s is the expected lost ticket revenue when demand exceeds the screen plus the cost of empty seats when it doesn't, which is exactly the capacity-demand mismatch from the first review, in rupees. The quota is computed per film then summed per genre. Because transportation matrices are totally unimodular with integer supplies and demands, the simplex solution is integral with no integer constraints. The yellow cells show the optimal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Optimisation is worth ₹34 thousand a day of mismatch against giving every screen the same mix. The dual values, or MODI potentials, confirm optimality: reduced costs are nonnegative and zero on used cells. The sensitivity report also reveals something typical of transportation problems: there are alternative optima, equally cheap plans, so some preferred-genre assignments are ties. Finally, a correction after our audit: the original quota was set per genre, and a single blockbuster could give its whole genre the maximum number of shows, which then had to be filled by a weak film. Setting the quota per film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assigns licensed films to the 30 screen-slot cells. Seven families of constraints: one film per cell, no simultaneous duplicate shows of a film, the runtime plus cleanup must fit the slot, at most five shows of any film, every licensed film is shown at least once, at least four screens operate in each slot, and each screen must show its Model 2 preferred genre. Objective is pure revenue. It has 240 binaries and 105 constraints and the solver proves optimality in a tenth of a second. The result, R star, 4,19,711 rupees a day, is the best possible revenue and becomes Model 4's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reconciles six goals. Each goal has a target and deviation variables; we penalise only the unwanted deviation: shortfall for revenue, occupancy and variety, excess for idle time, and absolute deviation for following the Model 2 capacity plan. Targets are set one declared step better than what the revenue-only Model 3 achieves, which is why the goals really conflict. The weights come from AHP: pairwise comparisons on the Saaty scale, principal eigenvector, consistency ratio 0.004, far below the 0.10 limit. We wrote the judgments down before using them, and only checked their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goal programming buys. Revenue drops by 0.83 percent, 3,481 rupees a day, relative to the revenue-only optimum. In return prime time shows six genres instead of five, the schedule follows the Model 2 capacity plan exactly instead of being 35 shows off, and idle time falls six minutes. But average occupancy falls from 36.6 to 34.9 and prime-time occupancy from 54.6 to 51.4: we state that openly. Prime-time variety competes with prime-time occupancy. And note: Model 4 scoring best on its weighted deviation is circular, since it minimises exactly that, so we do not present it as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promised in the first review: a one-day plan with film, screen, start time, cleanup, expected attendance and revenue. The Gantt bars show each show's runtime followed by the hatched cleanup block, coloured by genre. The blockbuster Lucy takes the large screen in prime time; the 120-seat screens carry lower-demand genres. The plan earns about 4.16 lakh a day and passes all nine hard-constraint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naive popularity schedule the final plan earns 61.8 percent more. The bridge splits that: about 1.0 lakh from better placement of the same films, 61 thousand from licensing the right films, minus 3.5 thousand which is the price of balance. A greedy manager given Model 1's films gets the same revenue, within 0.9 percent across ten test weeks. That is an honest finding: for pure revenue, heuristics are close. What the exact models add is a proof of optimality, exact satisfaction of the rules, and the ability to price the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OR message. Revenue is not the only objective, and every rule we impose has a price. Balancing goals costs 0.83 percent of revenue. The variety policy of licensing at least eight films costs 44 thousand a day, about nine and a half percent, and is free up to six films. The budget has a shadow price. The fixed slot grid excludes long films, with a shadow price too. A revenue sacrifice is not a failure of the optimisation: Model 3 answers 'what is the most money possible', Model 4 answers 'what does it cost to care about the other goals'. Both are optimisations; the second prices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sweep re-solves the entire chain for each minimum number of films. Up to six films the rule is free because the optimal portfolio is six films anyway. At eight, our chosen policy, the revenue optimum drops from 4.64 lakh to 4.20 lakh, a price of about 44 thousand a day. The curve also explains why a few shows in the final plan have only a couple of viewers: weak, older films are forced in by the minimum and by the requirement that every licensed film is shown. We keep the policy from the first review, but now it is a priced choice the manager can revisit.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first-review limitation that sensitivity was only planned at the demand and licensing layer. Every sweep point here re-optimises the whole chain. The left chart varies lambda: the final plan beats the naive plan from lambda 0.35 up, and below that the naive plan would cost more than the budget, so it isn't attainable. The right chart runs ten weeks picked by a fixed rule; the final plan wins in nine. Varying the demand scale by plus or minus 30 percent changes revenue levels but not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what the results do not claim. A greedy manager is nearly as good on pure revenue. The naive plan wins in a few settings, mostly where it would not be affordable, but also at tight budgets, because Model 1 values each film separately while all films compete for the same 30 show-slots; solving the chain sequentially has a cost. Demand and fees are synthetic. And two quirks: idle time is a weak goal under fixed slot starts, and Model 2 has ties. Naming these makes the conclusions more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first review's commitments and stated limitations to what we delivered. [Presenter: add any specific suggestions the faculty gave verbally in the first review and say how each was handled; this table is based on the commitments and limitations written in the first-review deck.] The biggest closures are end-to-end sensitivity, the constraint validator and the honest greedy baseline, and we also fixed a time-grid flaw we found ourselves: the 9 pm slot only had 120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professor asked for a user interface where data can be loaded, statistics generated on demand, and at least two optimisations chosen by the user. Our Streamlit app has twelve pages. The data page loads the bundled dataset or an uploaded CSV, shows the cleaning funnel, and lets the user build statistics on demand. Each model has its own page showing the formulation, the real input data, the exact model sent to the solver, the solution and the sensitivity information. There is a what-if page where you pick the films yourself, a compare page with the validator, a sensitivity lab, and export of the final plan. [Live demo suggested here: solve Model 1, then Model 4 with AHP, then run the S6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the app both import one engine package, so there is a single implementation of every model. The snippet is Model 1 in PuLP: one binary variable per film, maximise value, budget and film-count constraints, solved by CBC with branch and bound. We have 26 automated tests: they check that the engine reproduces the first version's numbers, that the corrections change what we say they change, and that the sensitivity ranges are exact by re-solving the LP with perturbed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yes, the OR chain beats the naive schedule by 61.8 percent in the main week and in nine of ten test weeks, and every schedule is feasible. The deeper point is that the models do more than produce a number: duals, sweeps and goal programming price each trade-off, and we are honest that a greedy heuristic is close on pure revenue. Possible questions to prepare for: why is the transportation solution integral (total unimodularity); why goal programming rather than a single objective (different units, conflicting goals, explicit targets); where do the weights come from (AHP, consistency 0.004); why does a show have two viewers (variety policy, priced in S6); is the demand realistic (declared assumptions, calibrated once, swept plus or minus 30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51560"/>
            <a:ext cx="6858000" cy="26517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86200"/>
            <a:ext cx="6766560" cy="54864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Multiplex Screen Scheduling · Operations Research · Group 14</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bg2"/>
                </a:solidFill>
              </a:rPr>
              <a:t>Multiplex Screen Scheduling · Operations Research · Group 14</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051560"/>
            <a:ext cx="6858000" cy="2651760"/>
          </a:xfrm>
          <a:prstGeom prst="rect">
            <a:avLst/>
          </a:prstGeom>
          <a:noFill/>
          <a:ln/>
        </p:spPr>
        <p:txBody>
          <a:bodyPr wrap="square" lIns="0" tIns="0" rIns="0" bIns="0" rtlCol="0" anchor="t"/>
          <a:lstStyle/>
          <a:p>
            <a:pPr algn="l" indent="0" marL="0">
              <a:buNone/>
            </a:pPr>
            <a:r>
              <a:rPr lang="en-US" sz="4000" b="1" dirty="0">
                <a:solidFill>
                  <a:schemeClr val="bg1"/>
                </a:solidFill>
              </a:rPr>
              <a:t>Multi-Model Optimization for Multiplex Screen Scheduling and Revenue Management</a:t>
            </a:r>
            <a:endParaRPr lang="en-US" sz="4000" dirty="0"/>
          </a:p>
        </p:txBody>
      </p:sp>
      <p:sp>
        <p:nvSpPr>
          <p:cNvPr id="3" name="Text 0"/>
          <p:cNvSpPr/>
          <p:nvPr>
            <p:ph idx="101" type="body" hasCustomPrompt="1"/>
          </p:nvPr>
        </p:nvSpPr>
        <p:spPr>
          <a:xfrm>
            <a:off x="731520" y="3886200"/>
            <a:ext cx="6766560" cy="548640"/>
          </a:xfrm>
          <a:prstGeom prst="rect">
            <a:avLst/>
          </a:prstGeom>
          <a:noFill/>
          <a:ln/>
        </p:spPr>
        <p:txBody>
          <a:bodyPr wrap="square" lIns="0" tIns="0" rIns="0" bIns="0" rtlCol="0" anchor="t"/>
          <a:lstStyle/>
          <a:p>
            <a:pPr algn="l" indent="0" marL="0">
              <a:buNone/>
            </a:pPr>
            <a:r>
              <a:rPr lang="en-US" sz="2000" dirty="0">
                <a:solidFill>
                  <a:schemeClr val="accent2"/>
                </a:solidFill>
              </a:rPr>
              <a:t>Operations Research · Final Review</a:t>
            </a:r>
            <a:endParaRPr lang="en-US" sz="2000" dirty="0"/>
          </a:p>
        </p:txBody>
      </p:sp>
      <p:sp>
        <p:nvSpPr>
          <p:cNvPr id="4" name="Text 2"/>
          <p:cNvSpPr txBox="1"/>
          <p:nvPr/>
        </p:nvSpPr>
        <p:spPr>
          <a:xfrm>
            <a:off x="731520" y="4709160"/>
            <a:ext cx="6766560" cy="1371600"/>
          </a:xfrm>
          <a:prstGeom prst="rect">
            <a:avLst/>
          </a:prstGeom>
          <a:noFill/>
          <a:ln/>
        </p:spPr>
        <p:txBody>
          <a:bodyPr wrap="square" lIns="0" tIns="0" rIns="0" bIns="0" rtlCol="0" anchor="t"/>
          <a:lstStyle/>
          <a:p>
            <a:pPr indent="0" marL="0">
              <a:spcAft>
                <a:spcPts val="200"/>
              </a:spcAft>
              <a:buNone/>
            </a:pPr>
            <a:r>
              <a:rPr lang="en-US" sz="1400" b="1" dirty="0">
                <a:solidFill>
                  <a:schemeClr val="bg2"/>
                </a:solidFill>
              </a:rPr>
              <a:t>Group 14</a:t>
            </a:r>
            <a:endParaRPr lang="en-US" sz="1400" dirty="0"/>
          </a:p>
          <a:p>
            <a:pPr indent="0" marL="0">
              <a:spcAft>
                <a:spcPts val="200"/>
              </a:spcAft>
              <a:buNone/>
            </a:pPr>
            <a:r>
              <a:rPr lang="en-US" sz="1400" dirty="0">
                <a:solidFill>
                  <a:schemeClr val="bg2"/>
                </a:solidFill>
              </a:rPr>
              <a:t>Abhishek Karthik · CB.SC.U4AIE23010</a:t>
            </a:r>
            <a:endParaRPr lang="en-US" sz="1400" dirty="0"/>
          </a:p>
          <a:p>
            <a:pPr indent="0" marL="0">
              <a:spcAft>
                <a:spcPts val="200"/>
              </a:spcAft>
              <a:buNone/>
            </a:pPr>
            <a:r>
              <a:rPr lang="en-US" sz="1400" dirty="0">
                <a:solidFill>
                  <a:schemeClr val="bg2"/>
                </a:solidFill>
              </a:rPr>
              <a:t>Abhishek R · CB.SC.U4AIE23011</a:t>
            </a:r>
            <a:endParaRPr lang="en-US" sz="1400" dirty="0"/>
          </a:p>
          <a:p>
            <a:pPr indent="0" marL="0">
              <a:spcAft>
                <a:spcPts val="200"/>
              </a:spcAft>
              <a:buNone/>
            </a:pPr>
            <a:r>
              <a:rPr lang="en-US" sz="1400" dirty="0">
                <a:solidFill>
                  <a:schemeClr val="bg2"/>
                </a:solidFill>
              </a:rPr>
              <a:t>M P Mothiswaran · CB.SC.U4AIE23041</a:t>
            </a:r>
            <a:endParaRPr lang="en-US" sz="1400" dirty="0"/>
          </a:p>
          <a:p>
            <a:pPr indent="0" marL="0">
              <a:spcAft>
                <a:spcPts val="200"/>
              </a:spcAft>
              <a:buNone/>
            </a:pPr>
            <a:r>
              <a:rPr lang="en-US" sz="1400" dirty="0">
                <a:solidFill>
                  <a:schemeClr val="bg2"/>
                </a:solidFill>
              </a:rPr>
              <a:t>M S Bavesh Reddy · CB.SC.U4AIE23044</a:t>
            </a:r>
            <a:endParaRPr lang="en-US" sz="1400" dirty="0"/>
          </a:p>
        </p:txBody>
      </p:sp>
      <p:sp>
        <p:nvSpPr>
          <p:cNvPr id="5" name="slot r0c0"/>
          <p:cNvSpPr/>
          <p:nvPr/>
        </p:nvSpPr>
        <p:spPr>
          <a:xfrm>
            <a:off x="8001000" y="1554480"/>
            <a:ext cx="566928" cy="566928"/>
          </a:xfrm>
          <a:prstGeom prst="roundRect">
            <a:avLst>
              <a:gd name="adj" fmla="val 11290"/>
            </a:avLst>
          </a:prstGeom>
          <a:solidFill>
            <a:schemeClr val="accent1"/>
          </a:solidFill>
          <a:ln w="12700">
            <a:solidFill>
              <a:schemeClr val="accent1"/>
            </a:solidFill>
            <a:prstDash val="solid"/>
          </a:ln>
        </p:spPr>
      </p:sp>
      <p:sp>
        <p:nvSpPr>
          <p:cNvPr id="6" name="slot r0c1"/>
          <p:cNvSpPr/>
          <p:nvPr/>
        </p:nvSpPr>
        <p:spPr>
          <a:xfrm>
            <a:off x="8659368" y="1554480"/>
            <a:ext cx="566928" cy="566928"/>
          </a:xfrm>
          <a:prstGeom prst="roundRect">
            <a:avLst>
              <a:gd name="adj" fmla="val 11290"/>
            </a:avLst>
          </a:prstGeom>
          <a:solidFill>
            <a:schemeClr val="accent1"/>
          </a:solidFill>
          <a:ln w="12700">
            <a:solidFill>
              <a:schemeClr val="accent1"/>
            </a:solidFill>
            <a:prstDash val="solid"/>
          </a:ln>
        </p:spPr>
      </p:sp>
      <p:sp>
        <p:nvSpPr>
          <p:cNvPr id="7" name="slot r0c2"/>
          <p:cNvSpPr/>
          <p:nvPr/>
        </p:nvSpPr>
        <p:spPr>
          <a:xfrm>
            <a:off x="9317736" y="1554480"/>
            <a:ext cx="566928" cy="566928"/>
          </a:xfrm>
          <a:prstGeom prst="roundRect">
            <a:avLst>
              <a:gd name="adj" fmla="val 11290"/>
            </a:avLst>
          </a:prstGeom>
          <a:solidFill>
            <a:schemeClr val="accent1"/>
          </a:solidFill>
          <a:ln w="12700">
            <a:solidFill>
              <a:schemeClr val="accent1"/>
            </a:solidFill>
            <a:prstDash val="solid"/>
          </a:ln>
        </p:spPr>
      </p:sp>
      <p:sp>
        <p:nvSpPr>
          <p:cNvPr id="8" name="slot r0c3"/>
          <p:cNvSpPr/>
          <p:nvPr/>
        </p:nvSpPr>
        <p:spPr>
          <a:xfrm>
            <a:off x="9976104" y="1554480"/>
            <a:ext cx="566928" cy="566928"/>
          </a:xfrm>
          <a:prstGeom prst="roundRect">
            <a:avLst>
              <a:gd name="adj" fmla="val 11290"/>
            </a:avLst>
          </a:prstGeom>
          <a:solidFill>
            <a:schemeClr val="accent1"/>
          </a:solidFill>
          <a:ln w="12700">
            <a:solidFill>
              <a:schemeClr val="accent1"/>
            </a:solidFill>
            <a:prstDash val="solid"/>
          </a:ln>
        </p:spPr>
      </p:sp>
      <p:sp>
        <p:nvSpPr>
          <p:cNvPr id="9" name="slot r0c4"/>
          <p:cNvSpPr/>
          <p:nvPr/>
        </p:nvSpPr>
        <p:spPr>
          <a:xfrm>
            <a:off x="10634472" y="1554480"/>
            <a:ext cx="566928" cy="566928"/>
          </a:xfrm>
          <a:prstGeom prst="roundRect">
            <a:avLst>
              <a:gd name="adj" fmla="val 11290"/>
            </a:avLst>
          </a:prstGeom>
          <a:solidFill>
            <a:schemeClr val="accent1"/>
          </a:solidFill>
          <a:ln w="12700">
            <a:solidFill>
              <a:schemeClr val="accent1"/>
            </a:solidFill>
            <a:prstDash val="solid"/>
          </a:ln>
        </p:spPr>
      </p:sp>
      <p:sp>
        <p:nvSpPr>
          <p:cNvPr id="10" name="slot r0c5"/>
          <p:cNvSpPr/>
          <p:nvPr/>
        </p:nvSpPr>
        <p:spPr>
          <a:xfrm>
            <a:off x="11292840" y="1554480"/>
            <a:ext cx="566928" cy="566928"/>
          </a:xfrm>
          <a:prstGeom prst="roundRect">
            <a:avLst>
              <a:gd name="adj" fmla="val 11290"/>
            </a:avLst>
          </a:prstGeom>
          <a:solidFill>
            <a:schemeClr val="accent1"/>
          </a:solidFill>
          <a:ln w="12700">
            <a:solidFill>
              <a:schemeClr val="accent1"/>
            </a:solidFill>
            <a:prstDash val="solid"/>
          </a:ln>
        </p:spPr>
      </p:sp>
      <p:sp>
        <p:nvSpPr>
          <p:cNvPr id="11" name="slot r1c0"/>
          <p:cNvSpPr/>
          <p:nvPr/>
        </p:nvSpPr>
        <p:spPr>
          <a:xfrm>
            <a:off x="8001000" y="2212848"/>
            <a:ext cx="566928" cy="566928"/>
          </a:xfrm>
          <a:prstGeom prst="roundRect">
            <a:avLst>
              <a:gd name="adj" fmla="val 11290"/>
            </a:avLst>
          </a:prstGeom>
          <a:solidFill>
            <a:schemeClr val="accent5"/>
          </a:solidFill>
          <a:ln w="12700">
            <a:solidFill>
              <a:schemeClr val="accent5"/>
            </a:solidFill>
            <a:prstDash val="solid"/>
          </a:ln>
        </p:spPr>
      </p:sp>
      <p:sp>
        <p:nvSpPr>
          <p:cNvPr id="12" name="slot r1c1"/>
          <p:cNvSpPr/>
          <p:nvPr/>
        </p:nvSpPr>
        <p:spPr>
          <a:xfrm>
            <a:off x="8659368" y="2212848"/>
            <a:ext cx="566928" cy="566928"/>
          </a:xfrm>
          <a:prstGeom prst="roundRect">
            <a:avLst>
              <a:gd name="adj" fmla="val 11290"/>
            </a:avLst>
          </a:prstGeom>
          <a:solidFill>
            <a:schemeClr val="accent1"/>
          </a:solidFill>
          <a:ln w="12700">
            <a:solidFill>
              <a:schemeClr val="accent1"/>
            </a:solidFill>
            <a:prstDash val="solid"/>
          </a:ln>
        </p:spPr>
      </p:sp>
      <p:sp>
        <p:nvSpPr>
          <p:cNvPr id="13" name="slot r1c2"/>
          <p:cNvSpPr/>
          <p:nvPr/>
        </p:nvSpPr>
        <p:spPr>
          <a:xfrm>
            <a:off x="9317736" y="2212848"/>
            <a:ext cx="566928" cy="566928"/>
          </a:xfrm>
          <a:prstGeom prst="roundRect">
            <a:avLst>
              <a:gd name="adj" fmla="val 11290"/>
            </a:avLst>
          </a:prstGeom>
          <a:solidFill>
            <a:schemeClr val="accent5"/>
          </a:solidFill>
          <a:ln w="12700">
            <a:solidFill>
              <a:schemeClr val="accent5"/>
            </a:solidFill>
            <a:prstDash val="solid"/>
          </a:ln>
        </p:spPr>
      </p:sp>
      <p:sp>
        <p:nvSpPr>
          <p:cNvPr id="14" name="slot r1c3"/>
          <p:cNvSpPr/>
          <p:nvPr/>
        </p:nvSpPr>
        <p:spPr>
          <a:xfrm>
            <a:off x="9976104" y="2212848"/>
            <a:ext cx="566928" cy="566928"/>
          </a:xfrm>
          <a:prstGeom prst="roundRect">
            <a:avLst>
              <a:gd name="adj" fmla="val 11290"/>
            </a:avLst>
          </a:prstGeom>
          <a:solidFill>
            <a:schemeClr val="accent5"/>
          </a:solidFill>
          <a:ln w="12700">
            <a:solidFill>
              <a:schemeClr val="accent5"/>
            </a:solidFill>
            <a:prstDash val="solid"/>
          </a:ln>
        </p:spPr>
      </p:sp>
      <p:sp>
        <p:nvSpPr>
          <p:cNvPr id="15" name="slot r1c4"/>
          <p:cNvSpPr/>
          <p:nvPr/>
        </p:nvSpPr>
        <p:spPr>
          <a:xfrm>
            <a:off x="10634472" y="2212848"/>
            <a:ext cx="566928" cy="566928"/>
          </a:xfrm>
          <a:prstGeom prst="roundRect">
            <a:avLst>
              <a:gd name="adj" fmla="val 11290"/>
            </a:avLst>
          </a:prstGeom>
          <a:solidFill>
            <a:schemeClr val="accent5"/>
          </a:solidFill>
          <a:ln w="12700">
            <a:solidFill>
              <a:schemeClr val="accent5"/>
            </a:solidFill>
            <a:prstDash val="solid"/>
          </a:ln>
        </p:spPr>
      </p:sp>
      <p:sp>
        <p:nvSpPr>
          <p:cNvPr id="16" name="slot r1c5"/>
          <p:cNvSpPr/>
          <p:nvPr/>
        </p:nvSpPr>
        <p:spPr>
          <a:xfrm>
            <a:off x="11292840" y="2212848"/>
            <a:ext cx="566928" cy="566928"/>
          </a:xfrm>
          <a:prstGeom prst="roundRect">
            <a:avLst>
              <a:gd name="adj" fmla="val 11290"/>
            </a:avLst>
          </a:prstGeom>
          <a:solidFill>
            <a:schemeClr val="accent5"/>
          </a:solidFill>
          <a:ln w="12700">
            <a:solidFill>
              <a:schemeClr val="accent5"/>
            </a:solidFill>
            <a:prstDash val="solid"/>
          </a:ln>
        </p:spPr>
      </p:sp>
      <p:sp>
        <p:nvSpPr>
          <p:cNvPr id="17" name="slot r2c0"/>
          <p:cNvSpPr/>
          <p:nvPr/>
        </p:nvSpPr>
        <p:spPr>
          <a:xfrm>
            <a:off x="8001000" y="2871216"/>
            <a:ext cx="566928" cy="566928"/>
          </a:xfrm>
          <a:prstGeom prst="roundRect">
            <a:avLst>
              <a:gd name="adj" fmla="val 11290"/>
            </a:avLst>
          </a:prstGeom>
          <a:solidFill>
            <a:schemeClr val="accent6"/>
          </a:solidFill>
          <a:ln w="12700">
            <a:solidFill>
              <a:schemeClr val="accent6"/>
            </a:solidFill>
            <a:prstDash val="solid"/>
          </a:ln>
        </p:spPr>
      </p:sp>
      <p:sp>
        <p:nvSpPr>
          <p:cNvPr id="18" name="slot r2c1"/>
          <p:cNvSpPr/>
          <p:nvPr/>
        </p:nvSpPr>
        <p:spPr>
          <a:xfrm>
            <a:off x="8659368" y="2871216"/>
            <a:ext cx="566928" cy="566928"/>
          </a:xfrm>
          <a:prstGeom prst="roundRect">
            <a:avLst>
              <a:gd name="adj" fmla="val 11290"/>
            </a:avLst>
          </a:prstGeom>
          <a:solidFill>
            <a:schemeClr val="accent2"/>
          </a:solidFill>
          <a:ln w="12700">
            <a:solidFill>
              <a:schemeClr val="accent2"/>
            </a:solidFill>
            <a:prstDash val="solid"/>
          </a:ln>
        </p:spPr>
      </p:sp>
      <p:sp>
        <p:nvSpPr>
          <p:cNvPr id="19" name="slot r2c2"/>
          <p:cNvSpPr/>
          <p:nvPr/>
        </p:nvSpPr>
        <p:spPr>
          <a:xfrm>
            <a:off x="9317736" y="2871216"/>
            <a:ext cx="566928" cy="566928"/>
          </a:xfrm>
          <a:prstGeom prst="roundRect">
            <a:avLst>
              <a:gd name="adj" fmla="val 11290"/>
            </a:avLst>
          </a:prstGeom>
          <a:solidFill>
            <a:schemeClr val="accent2"/>
          </a:solidFill>
          <a:ln w="12700">
            <a:solidFill>
              <a:schemeClr val="accent2"/>
            </a:solidFill>
            <a:prstDash val="solid"/>
          </a:ln>
        </p:spPr>
      </p:sp>
      <p:sp>
        <p:nvSpPr>
          <p:cNvPr id="20" name="slot r2c3"/>
          <p:cNvSpPr/>
          <p:nvPr/>
        </p:nvSpPr>
        <p:spPr>
          <a:xfrm>
            <a:off x="9976104" y="2871216"/>
            <a:ext cx="566928" cy="566928"/>
          </a:xfrm>
          <a:prstGeom prst="roundRect">
            <a:avLst>
              <a:gd name="adj" fmla="val 11290"/>
            </a:avLst>
          </a:prstGeom>
          <a:solidFill>
            <a:schemeClr val="accent2"/>
          </a:solidFill>
          <a:ln w="12700">
            <a:solidFill>
              <a:schemeClr val="accent2"/>
            </a:solidFill>
            <a:prstDash val="solid"/>
          </a:ln>
        </p:spPr>
      </p:sp>
      <p:sp>
        <p:nvSpPr>
          <p:cNvPr id="21" name="slot r2c4"/>
          <p:cNvSpPr/>
          <p:nvPr/>
        </p:nvSpPr>
        <p:spPr>
          <a:xfrm>
            <a:off x="10634472" y="2871216"/>
            <a:ext cx="566928" cy="566928"/>
          </a:xfrm>
          <a:prstGeom prst="roundRect">
            <a:avLst>
              <a:gd name="adj" fmla="val 11290"/>
            </a:avLst>
          </a:prstGeom>
          <a:solidFill>
            <a:schemeClr val="accent6"/>
          </a:solidFill>
          <a:ln w="12700">
            <a:solidFill>
              <a:schemeClr val="accent6"/>
            </a:solidFill>
            <a:prstDash val="solid"/>
          </a:ln>
        </p:spPr>
      </p:sp>
      <p:sp>
        <p:nvSpPr>
          <p:cNvPr id="22" name="slot r2c5"/>
          <p:cNvSpPr/>
          <p:nvPr/>
        </p:nvSpPr>
        <p:spPr>
          <a:xfrm>
            <a:off x="11292840" y="2871216"/>
            <a:ext cx="566928" cy="566928"/>
          </a:xfrm>
          <a:prstGeom prst="roundRect">
            <a:avLst>
              <a:gd name="adj" fmla="val 11290"/>
            </a:avLst>
          </a:prstGeom>
          <a:solidFill>
            <a:schemeClr val="accent3"/>
          </a:solidFill>
          <a:ln w="12700">
            <a:solidFill>
              <a:schemeClr val="accent3"/>
            </a:solidFill>
            <a:prstDash val="solid"/>
          </a:ln>
        </p:spPr>
      </p:sp>
      <p:sp>
        <p:nvSpPr>
          <p:cNvPr id="23" name="slot r3c0"/>
          <p:cNvSpPr/>
          <p:nvPr/>
        </p:nvSpPr>
        <p:spPr>
          <a:xfrm>
            <a:off x="8001000" y="3529584"/>
            <a:ext cx="566928" cy="566928"/>
          </a:xfrm>
          <a:prstGeom prst="roundRect">
            <a:avLst>
              <a:gd name="adj" fmla="val 11290"/>
            </a:avLst>
          </a:prstGeom>
          <a:solidFill>
            <a:schemeClr val="accent3"/>
          </a:solidFill>
          <a:ln w="12700">
            <a:solidFill>
              <a:schemeClr val="accent3"/>
            </a:solidFill>
            <a:prstDash val="solid"/>
          </a:ln>
        </p:spPr>
      </p:sp>
      <p:sp>
        <p:nvSpPr>
          <p:cNvPr id="24" name="slot r3c1"/>
          <p:cNvSpPr/>
          <p:nvPr/>
        </p:nvSpPr>
        <p:spPr>
          <a:xfrm>
            <a:off x="8659368" y="3529584"/>
            <a:ext cx="566928" cy="566928"/>
          </a:xfrm>
          <a:prstGeom prst="roundRect">
            <a:avLst>
              <a:gd name="adj" fmla="val 11290"/>
            </a:avLst>
          </a:prstGeom>
          <a:solidFill>
            <a:schemeClr val="accent3"/>
          </a:solidFill>
          <a:ln w="12700">
            <a:solidFill>
              <a:schemeClr val="accent3"/>
            </a:solidFill>
            <a:prstDash val="solid"/>
          </a:ln>
        </p:spPr>
      </p:sp>
      <p:sp>
        <p:nvSpPr>
          <p:cNvPr id="25" name="slot r3c2"/>
          <p:cNvSpPr/>
          <p:nvPr/>
        </p:nvSpPr>
        <p:spPr>
          <a:xfrm>
            <a:off x="9317736" y="3529584"/>
            <a:ext cx="566928" cy="566928"/>
          </a:xfrm>
          <a:prstGeom prst="roundRect">
            <a:avLst>
              <a:gd name="adj" fmla="val 11290"/>
            </a:avLst>
          </a:prstGeom>
          <a:solidFill>
            <a:schemeClr val="accent3"/>
          </a:solidFill>
          <a:ln w="12700">
            <a:solidFill>
              <a:schemeClr val="accent3"/>
            </a:solidFill>
            <a:prstDash val="solid"/>
          </a:ln>
        </p:spPr>
      </p:sp>
      <p:sp>
        <p:nvSpPr>
          <p:cNvPr id="26" name="slot r3c3"/>
          <p:cNvSpPr/>
          <p:nvPr/>
        </p:nvSpPr>
        <p:spPr>
          <a:xfrm>
            <a:off x="9976104" y="3529584"/>
            <a:ext cx="566928" cy="566928"/>
          </a:xfrm>
          <a:prstGeom prst="roundRect">
            <a:avLst>
              <a:gd name="adj" fmla="val 11290"/>
            </a:avLst>
          </a:prstGeom>
          <a:solidFill>
            <a:schemeClr val="accent3"/>
          </a:solidFill>
          <a:ln w="12700">
            <a:solidFill>
              <a:schemeClr val="accent3"/>
            </a:solidFill>
            <a:prstDash val="solid"/>
          </a:ln>
        </p:spPr>
      </p:sp>
      <p:sp>
        <p:nvSpPr>
          <p:cNvPr id="27" name="slot r3c4"/>
          <p:cNvSpPr/>
          <p:nvPr/>
        </p:nvSpPr>
        <p:spPr>
          <a:xfrm>
            <a:off x="10634472" y="3529584"/>
            <a:ext cx="566928" cy="566928"/>
          </a:xfrm>
          <a:prstGeom prst="roundRect">
            <a:avLst>
              <a:gd name="adj" fmla="val 11290"/>
            </a:avLst>
          </a:prstGeom>
          <a:solidFill>
            <a:schemeClr val="accent3"/>
          </a:solidFill>
          <a:ln w="12700">
            <a:solidFill>
              <a:schemeClr val="accent3"/>
            </a:solidFill>
            <a:prstDash val="solid"/>
          </a:ln>
        </p:spPr>
      </p:sp>
      <p:sp>
        <p:nvSpPr>
          <p:cNvPr id="28" name="slot r3c5"/>
          <p:cNvSpPr/>
          <p:nvPr/>
        </p:nvSpPr>
        <p:spPr>
          <a:xfrm>
            <a:off x="11292840" y="3529584"/>
            <a:ext cx="566928" cy="566928"/>
          </a:xfrm>
          <a:prstGeom prst="roundRect">
            <a:avLst>
              <a:gd name="adj" fmla="val 11290"/>
            </a:avLst>
          </a:prstGeom>
          <a:solidFill>
            <a:schemeClr val="accent3"/>
          </a:solidFill>
          <a:ln w="12700">
            <a:solidFill>
              <a:schemeClr val="accent3"/>
            </a:solidFill>
            <a:prstDash val="solid"/>
          </a:ln>
        </p:spPr>
      </p:sp>
      <p:sp>
        <p:nvSpPr>
          <p:cNvPr id="29" name="slot r4c0"/>
          <p:cNvSpPr/>
          <p:nvPr/>
        </p:nvSpPr>
        <p:spPr>
          <a:xfrm>
            <a:off x="8001000" y="4187952"/>
            <a:ext cx="566928" cy="566928"/>
          </a:xfrm>
          <a:prstGeom prst="roundRect">
            <a:avLst>
              <a:gd name="adj" fmla="val 11290"/>
            </a:avLst>
          </a:prstGeom>
          <a:solidFill>
            <a:schemeClr val="accent2"/>
          </a:solidFill>
          <a:ln w="12700">
            <a:solidFill>
              <a:schemeClr val="accent2"/>
            </a:solidFill>
            <a:prstDash val="solid"/>
          </a:ln>
        </p:spPr>
      </p:sp>
      <p:sp>
        <p:nvSpPr>
          <p:cNvPr id="30" name="slot r4c1"/>
          <p:cNvSpPr/>
          <p:nvPr/>
        </p:nvSpPr>
        <p:spPr>
          <a:xfrm>
            <a:off x="8659368" y="4187952"/>
            <a:ext cx="566928" cy="566928"/>
          </a:xfrm>
          <a:prstGeom prst="roundRect">
            <a:avLst>
              <a:gd name="adj" fmla="val 11290"/>
            </a:avLst>
          </a:prstGeom>
          <a:solidFill>
            <a:schemeClr val="accent4"/>
          </a:solidFill>
          <a:ln w="12700">
            <a:solidFill>
              <a:schemeClr val="accent4"/>
            </a:solidFill>
            <a:prstDash val="solid"/>
          </a:ln>
        </p:spPr>
      </p:sp>
      <p:sp>
        <p:nvSpPr>
          <p:cNvPr id="31" name="slot r4c2"/>
          <p:cNvSpPr/>
          <p:nvPr/>
        </p:nvSpPr>
        <p:spPr>
          <a:xfrm>
            <a:off x="9317736" y="4187952"/>
            <a:ext cx="566928" cy="566928"/>
          </a:xfrm>
          <a:prstGeom prst="roundRect">
            <a:avLst>
              <a:gd name="adj" fmla="val 11290"/>
            </a:avLst>
          </a:prstGeom>
          <a:solidFill>
            <a:schemeClr val="accent4"/>
          </a:solidFill>
          <a:ln w="12700">
            <a:solidFill>
              <a:schemeClr val="accent4"/>
            </a:solidFill>
            <a:prstDash val="solid"/>
          </a:ln>
        </p:spPr>
      </p:sp>
      <p:sp>
        <p:nvSpPr>
          <p:cNvPr id="32" name="slot r4c3"/>
          <p:cNvSpPr/>
          <p:nvPr/>
        </p:nvSpPr>
        <p:spPr>
          <a:xfrm>
            <a:off x="9976104" y="4187952"/>
            <a:ext cx="566928" cy="566928"/>
          </a:xfrm>
          <a:prstGeom prst="roundRect">
            <a:avLst>
              <a:gd name="adj" fmla="val 11290"/>
            </a:avLst>
          </a:prstGeom>
          <a:solidFill>
            <a:schemeClr val="accent4"/>
          </a:solidFill>
          <a:ln w="12700">
            <a:solidFill>
              <a:schemeClr val="accent4"/>
            </a:solidFill>
            <a:prstDash val="solid"/>
          </a:ln>
        </p:spPr>
      </p:sp>
      <p:sp>
        <p:nvSpPr>
          <p:cNvPr id="33" name="slot r4c4"/>
          <p:cNvSpPr/>
          <p:nvPr/>
        </p:nvSpPr>
        <p:spPr>
          <a:xfrm>
            <a:off x="10634472" y="4187952"/>
            <a:ext cx="566928" cy="566928"/>
          </a:xfrm>
          <a:prstGeom prst="roundRect">
            <a:avLst>
              <a:gd name="adj" fmla="val 11290"/>
            </a:avLst>
          </a:prstGeom>
          <a:solidFill>
            <a:schemeClr val="accent4"/>
          </a:solidFill>
          <a:ln w="12700">
            <a:solidFill>
              <a:schemeClr val="accent4"/>
            </a:solidFill>
            <a:prstDash val="solid"/>
          </a:ln>
        </p:spPr>
      </p:sp>
      <p:sp>
        <p:nvSpPr>
          <p:cNvPr id="34" name="slot r4c5"/>
          <p:cNvSpPr/>
          <p:nvPr/>
        </p:nvSpPr>
        <p:spPr>
          <a:xfrm>
            <a:off x="11292840" y="4187952"/>
            <a:ext cx="566928" cy="566928"/>
          </a:xfrm>
          <a:prstGeom prst="roundRect">
            <a:avLst>
              <a:gd name="adj" fmla="val 11290"/>
            </a:avLst>
          </a:prstGeom>
          <a:solidFill>
            <a:schemeClr val="accent4"/>
          </a:solidFill>
          <a:ln w="12700">
            <a:solidFill>
              <a:schemeClr val="accent4"/>
            </a:solidFill>
            <a:prstDash val="solid"/>
          </a:ln>
        </p:spPr>
      </p:sp>
      <p:sp>
        <p:nvSpPr>
          <p:cNvPr id="35" name="Text 33"/>
          <p:cNvSpPr txBox="1"/>
          <p:nvPr/>
        </p:nvSpPr>
        <p:spPr>
          <a:xfrm>
            <a:off x="8001000" y="4937760"/>
            <a:ext cx="4023360" cy="457200"/>
          </a:xfrm>
          <a:prstGeom prst="rect">
            <a:avLst/>
          </a:prstGeom>
          <a:noFill/>
          <a:ln/>
        </p:spPr>
        <p:txBody>
          <a:bodyPr wrap="square" lIns="0" tIns="0" rIns="0" bIns="0" rtlCol="0" anchor="t"/>
          <a:lstStyle/>
          <a:p>
            <a:pPr indent="0" marL="0">
              <a:buNone/>
            </a:pPr>
            <a:r>
              <a:rPr lang="en-US" sz="1200" dirty="0">
                <a:solidFill>
                  <a:schemeClr val="bg2"/>
                </a:solidFill>
              </a:rPr>
              <a:t>The final plan: 5 screens × 6 slots, colour = genre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problem: four connected weekly decisions</a:t>
            </a:r>
            <a:endParaRPr lang="en-US" sz="3400" dirty="0"/>
          </a:p>
        </p:txBody>
      </p:sp>
      <p:sp>
        <p:nvSpPr>
          <p:cNvPr id="3" name="num 1"/>
          <p:cNvSpPr/>
          <p:nvPr/>
        </p:nvSpPr>
        <p:spPr>
          <a:xfrm>
            <a:off x="548640" y="137160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325880"/>
            <a:ext cx="5852160" cy="365760"/>
          </a:xfrm>
          <a:prstGeom prst="rect">
            <a:avLst/>
          </a:prstGeom>
          <a:noFill/>
          <a:ln/>
        </p:spPr>
        <p:txBody>
          <a:bodyPr wrap="square" lIns="0" tIns="0" rIns="0" bIns="0" rtlCol="0" anchor="t"/>
          <a:lstStyle/>
          <a:p>
            <a:pPr indent="0" marL="0">
              <a:buNone/>
            </a:pPr>
            <a:r>
              <a:rPr lang="en-US" sz="1800" b="1" dirty="0">
                <a:solidFill>
                  <a:schemeClr val="tx1"/>
                </a:solidFill>
              </a:rPr>
              <a:t>Which films to license?</a:t>
            </a:r>
            <a:endParaRPr lang="en-US" sz="1800" dirty="0"/>
          </a:p>
        </p:txBody>
      </p:sp>
      <p:sp>
        <p:nvSpPr>
          <p:cNvPr id="6" name="Text 4"/>
          <p:cNvSpPr txBox="1"/>
          <p:nvPr/>
        </p:nvSpPr>
        <p:spPr>
          <a:xfrm>
            <a:off x="1234440" y="1691640"/>
            <a:ext cx="5852160" cy="365760"/>
          </a:xfrm>
          <a:prstGeom prst="rect">
            <a:avLst/>
          </a:prstGeom>
          <a:noFill/>
          <a:ln/>
        </p:spPr>
        <p:txBody>
          <a:bodyPr wrap="square" lIns="0" tIns="0" rIns="0" bIns="0" rtlCol="0" anchor="t"/>
          <a:lstStyle/>
          <a:p>
            <a:pPr indent="0" marL="0">
              <a:buNone/>
            </a:pPr>
            <a:r>
              <a:rPr lang="en-US" sz="1400" dirty="0">
                <a:solidFill>
                  <a:schemeClr val="accent4"/>
                </a:solidFill>
              </a:rPr>
              <a:t>Weekly budget, 8–12 films, a content mix</a:t>
            </a:r>
            <a:endParaRPr lang="en-US" sz="1400" dirty="0"/>
          </a:p>
        </p:txBody>
      </p:sp>
      <p:sp>
        <p:nvSpPr>
          <p:cNvPr id="7" name="num 2"/>
          <p:cNvSpPr/>
          <p:nvPr/>
        </p:nvSpPr>
        <p:spPr>
          <a:xfrm>
            <a:off x="548640" y="2267712"/>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267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34440" y="2221992"/>
            <a:ext cx="5852160" cy="365760"/>
          </a:xfrm>
          <a:prstGeom prst="rect">
            <a:avLst/>
          </a:prstGeom>
          <a:noFill/>
          <a:ln/>
        </p:spPr>
        <p:txBody>
          <a:bodyPr wrap="square" lIns="0" tIns="0" rIns="0" bIns="0" rtlCol="0" anchor="t"/>
          <a:lstStyle/>
          <a:p>
            <a:pPr indent="0" marL="0">
              <a:buNone/>
            </a:pPr>
            <a:r>
              <a:rPr lang="en-US" sz="1800" b="1" dirty="0">
                <a:solidFill>
                  <a:schemeClr val="tx1"/>
                </a:solidFill>
              </a:rPr>
              <a:t>How much capacity per genre?</a:t>
            </a:r>
            <a:endParaRPr lang="en-US" sz="1800" dirty="0"/>
          </a:p>
        </p:txBody>
      </p:sp>
      <p:sp>
        <p:nvSpPr>
          <p:cNvPr id="10" name="Text 8"/>
          <p:cNvSpPr txBox="1"/>
          <p:nvPr/>
        </p:nvSpPr>
        <p:spPr>
          <a:xfrm>
            <a:off x="1234440" y="2587752"/>
            <a:ext cx="5852160" cy="365760"/>
          </a:xfrm>
          <a:prstGeom prst="rect">
            <a:avLst/>
          </a:prstGeom>
          <a:noFill/>
          <a:ln/>
        </p:spPr>
        <p:txBody>
          <a:bodyPr wrap="square" lIns="0" tIns="0" rIns="0" bIns="0" rtlCol="0" anchor="t"/>
          <a:lstStyle/>
          <a:p>
            <a:pPr indent="0" marL="0">
              <a:buNone/>
            </a:pPr>
            <a:r>
              <a:rPr lang="en-US" sz="1400" dirty="0">
                <a:solidFill>
                  <a:schemeClr val="accent4"/>
                </a:solidFill>
              </a:rPr>
              <a:t>Big screens should carry high-demand genres</a:t>
            </a:r>
            <a:endParaRPr lang="en-US" sz="1400" dirty="0"/>
          </a:p>
        </p:txBody>
      </p:sp>
      <p:sp>
        <p:nvSpPr>
          <p:cNvPr id="11" name="num 3"/>
          <p:cNvSpPr/>
          <p:nvPr/>
        </p:nvSpPr>
        <p:spPr>
          <a:xfrm>
            <a:off x="548640" y="3163824"/>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163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34440" y="3118104"/>
            <a:ext cx="5852160" cy="365760"/>
          </a:xfrm>
          <a:prstGeom prst="rect">
            <a:avLst/>
          </a:prstGeom>
          <a:noFill/>
          <a:ln/>
        </p:spPr>
        <p:txBody>
          <a:bodyPr wrap="square" lIns="0" tIns="0" rIns="0" bIns="0" rtlCol="0" anchor="t"/>
          <a:lstStyle/>
          <a:p>
            <a:pPr indent="0" marL="0">
              <a:buNone/>
            </a:pPr>
            <a:r>
              <a:rPr lang="en-US" sz="1800" b="1" dirty="0">
                <a:solidFill>
                  <a:schemeClr val="tx1"/>
                </a:solidFill>
              </a:rPr>
              <a:t>Which film on which screen, when?</a:t>
            </a:r>
            <a:endParaRPr lang="en-US" sz="1800" dirty="0"/>
          </a:p>
        </p:txBody>
      </p:sp>
      <p:sp>
        <p:nvSpPr>
          <p:cNvPr id="14" name="Text 12"/>
          <p:cNvSpPr txBox="1"/>
          <p:nvPr/>
        </p:nvSpPr>
        <p:spPr>
          <a:xfrm>
            <a:off x="1234440" y="3483864"/>
            <a:ext cx="5852160" cy="365760"/>
          </a:xfrm>
          <a:prstGeom prst="rect">
            <a:avLst/>
          </a:prstGeom>
          <a:noFill/>
          <a:ln/>
        </p:spPr>
        <p:txBody>
          <a:bodyPr wrap="square" lIns="0" tIns="0" rIns="0" bIns="0" rtlCol="0" anchor="t"/>
          <a:lstStyle/>
          <a:p>
            <a:pPr indent="0" marL="0">
              <a:buNone/>
            </a:pPr>
            <a:r>
              <a:rPr lang="en-US" sz="1400" dirty="0">
                <a:solidFill>
                  <a:schemeClr val="accent4"/>
                </a:solidFill>
              </a:rPr>
              <a:t>Runtime plus cleanup, no simultaneous duplicates</a:t>
            </a:r>
            <a:endParaRPr lang="en-US" sz="1400" dirty="0"/>
          </a:p>
        </p:txBody>
      </p:sp>
      <p:sp>
        <p:nvSpPr>
          <p:cNvPr id="15" name="num 4"/>
          <p:cNvSpPr/>
          <p:nvPr/>
        </p:nvSpPr>
        <p:spPr>
          <a:xfrm>
            <a:off x="548640" y="4059936"/>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40599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34440" y="4014216"/>
            <a:ext cx="5852160" cy="365760"/>
          </a:xfrm>
          <a:prstGeom prst="rect">
            <a:avLst/>
          </a:prstGeom>
          <a:noFill/>
          <a:ln/>
        </p:spPr>
        <p:txBody>
          <a:bodyPr wrap="square" lIns="0" tIns="0" rIns="0" bIns="0" rtlCol="0" anchor="t"/>
          <a:lstStyle/>
          <a:p>
            <a:pPr indent="0" marL="0">
              <a:buNone/>
            </a:pPr>
            <a:r>
              <a:rPr lang="en-US" sz="1800" b="1" dirty="0">
                <a:solidFill>
                  <a:schemeClr val="tx1"/>
                </a:solidFill>
              </a:rPr>
              <a:t>How to balance revenue with other goals?</a:t>
            </a:r>
            <a:endParaRPr lang="en-US" sz="1800" dirty="0"/>
          </a:p>
        </p:txBody>
      </p:sp>
      <p:sp>
        <p:nvSpPr>
          <p:cNvPr id="18" name="Text 16"/>
          <p:cNvSpPr txBox="1"/>
          <p:nvPr/>
        </p:nvSpPr>
        <p:spPr>
          <a:xfrm>
            <a:off x="1234440" y="4379976"/>
            <a:ext cx="5852160" cy="365760"/>
          </a:xfrm>
          <a:prstGeom prst="rect">
            <a:avLst/>
          </a:prstGeom>
          <a:noFill/>
          <a:ln/>
        </p:spPr>
        <p:txBody>
          <a:bodyPr wrap="square" lIns="0" tIns="0" rIns="0" bIns="0" rtlCol="0" anchor="t"/>
          <a:lstStyle/>
          <a:p>
            <a:pPr indent="0" marL="0">
              <a:buNone/>
            </a:pPr>
            <a:r>
              <a:rPr lang="en-US" sz="1400" dirty="0">
                <a:solidFill>
                  <a:schemeClr val="accent4"/>
                </a:solidFill>
              </a:rPr>
              <a:t>Occupancy, prime-time variety, idle time, capacity plan</a:t>
            </a:r>
            <a:endParaRPr lang="en-US" sz="1400" dirty="0"/>
          </a:p>
        </p:txBody>
      </p:sp>
      <p:sp>
        <p:nvSpPr>
          <p:cNvPr id="19" name="stat panel"/>
          <p:cNvSpPr/>
          <p:nvPr/>
        </p:nvSpPr>
        <p:spPr>
          <a:xfrm>
            <a:off x="7589520" y="1325880"/>
            <a:ext cx="4023360" cy="3474720"/>
          </a:xfrm>
          <a:prstGeom prst="roundRect">
            <a:avLst>
              <a:gd name="adj" fmla="val 2105"/>
            </a:avLst>
          </a:prstGeom>
          <a:solidFill>
            <a:schemeClr val="bg2"/>
          </a:solidFill>
          <a:ln w="12700">
            <a:solidFill>
              <a:schemeClr val="bg2"/>
            </a:solidFill>
            <a:prstDash val="solid"/>
          </a:ln>
        </p:spPr>
      </p:sp>
      <p:sp>
        <p:nvSpPr>
          <p:cNvPr id="20" name="stat screens (120–250 seats)"/>
          <p:cNvSpPr txBox="1"/>
          <p:nvPr/>
        </p:nvSpPr>
        <p:spPr>
          <a:xfrm>
            <a:off x="7863840" y="1463040"/>
            <a:ext cx="1737360" cy="640080"/>
          </a:xfrm>
          <a:prstGeom prst="rect">
            <a:avLst/>
          </a:prstGeom>
          <a:noFill/>
          <a:ln/>
        </p:spPr>
        <p:txBody>
          <a:bodyPr wrap="square" lIns="0" tIns="0" rIns="0" bIns="0" rtlCol="0" anchor="t"/>
          <a:lstStyle/>
          <a:p>
            <a:pPr indent="0" marL="0">
              <a:buNone/>
            </a:pPr>
            <a:r>
              <a:rPr lang="en-US" sz="3600" b="1" dirty="0">
                <a:solidFill>
                  <a:schemeClr val="accent1"/>
                </a:solidFill>
              </a:rPr>
              <a:t>5</a:t>
            </a:r>
            <a:endParaRPr lang="en-US" sz="3600" dirty="0"/>
          </a:p>
        </p:txBody>
      </p:sp>
      <p:sp>
        <p:nvSpPr>
          <p:cNvPr id="21" name="label screens (120–250 seats)"/>
          <p:cNvSpPr txBox="1"/>
          <p:nvPr/>
        </p:nvSpPr>
        <p:spPr>
          <a:xfrm>
            <a:off x="7863840" y="2084832"/>
            <a:ext cx="1737360" cy="548640"/>
          </a:xfrm>
          <a:prstGeom prst="rect">
            <a:avLst/>
          </a:prstGeom>
          <a:noFill/>
          <a:ln/>
        </p:spPr>
        <p:txBody>
          <a:bodyPr wrap="square" lIns="0" tIns="0" rIns="0" bIns="0" rtlCol="0" anchor="t"/>
          <a:lstStyle/>
          <a:p>
            <a:pPr indent="0" marL="0">
              <a:buNone/>
            </a:pPr>
            <a:r>
              <a:rPr lang="en-US" sz="1200" dirty="0">
                <a:solidFill>
                  <a:schemeClr val="accent4"/>
                </a:solidFill>
              </a:rPr>
              <a:t>screens (120–250 seats)</a:t>
            </a:r>
            <a:endParaRPr lang="en-US" sz="1200" dirty="0"/>
          </a:p>
        </p:txBody>
      </p:sp>
      <p:sp>
        <p:nvSpPr>
          <p:cNvPr id="22" name="stat daily slots, 180 min each"/>
          <p:cNvSpPr txBox="1"/>
          <p:nvPr/>
        </p:nvSpPr>
        <p:spPr>
          <a:xfrm>
            <a:off x="9784080" y="1463040"/>
            <a:ext cx="1737360" cy="640080"/>
          </a:xfrm>
          <a:prstGeom prst="rect">
            <a:avLst/>
          </a:prstGeom>
          <a:noFill/>
          <a:ln/>
        </p:spPr>
        <p:txBody>
          <a:bodyPr wrap="square" lIns="0" tIns="0" rIns="0" bIns="0" rtlCol="0" anchor="t"/>
          <a:lstStyle/>
          <a:p>
            <a:pPr indent="0" marL="0">
              <a:buNone/>
            </a:pPr>
            <a:r>
              <a:rPr lang="en-US" sz="3600" b="1" dirty="0">
                <a:solidFill>
                  <a:schemeClr val="accent1"/>
                </a:solidFill>
              </a:rPr>
              <a:t>6</a:t>
            </a:r>
            <a:endParaRPr lang="en-US" sz="3600" dirty="0"/>
          </a:p>
        </p:txBody>
      </p:sp>
      <p:sp>
        <p:nvSpPr>
          <p:cNvPr id="23" name="label daily slots, 180 min each"/>
          <p:cNvSpPr txBox="1"/>
          <p:nvPr/>
        </p:nvSpPr>
        <p:spPr>
          <a:xfrm>
            <a:off x="9784080" y="2084832"/>
            <a:ext cx="1737360" cy="548640"/>
          </a:xfrm>
          <a:prstGeom prst="rect">
            <a:avLst/>
          </a:prstGeom>
          <a:noFill/>
          <a:ln/>
        </p:spPr>
        <p:txBody>
          <a:bodyPr wrap="square" lIns="0" tIns="0" rIns="0" bIns="0" rtlCol="0" anchor="t"/>
          <a:lstStyle/>
          <a:p>
            <a:pPr indent="0" marL="0">
              <a:buNone/>
            </a:pPr>
            <a:r>
              <a:rPr lang="en-US" sz="1200" dirty="0">
                <a:solidFill>
                  <a:schemeClr val="accent4"/>
                </a:solidFill>
              </a:rPr>
              <a:t>daily slots, 180 min each</a:t>
            </a:r>
            <a:endParaRPr lang="en-US" sz="1200" dirty="0"/>
          </a:p>
        </p:txBody>
      </p:sp>
      <p:sp>
        <p:nvSpPr>
          <p:cNvPr id="24" name="stat weekly licensing budget"/>
          <p:cNvSpPr txBox="1"/>
          <p:nvPr/>
        </p:nvSpPr>
        <p:spPr>
          <a:xfrm>
            <a:off x="7863840" y="3108960"/>
            <a:ext cx="1737360" cy="640080"/>
          </a:xfrm>
          <a:prstGeom prst="rect">
            <a:avLst/>
          </a:prstGeom>
          <a:noFill/>
          <a:ln/>
        </p:spPr>
        <p:txBody>
          <a:bodyPr wrap="square" lIns="0" tIns="0" rIns="0" bIns="0" rtlCol="0" anchor="t"/>
          <a:lstStyle/>
          <a:p>
            <a:pPr indent="0" marL="0">
              <a:buNone/>
            </a:pPr>
            <a:r>
              <a:rPr lang="en-US" sz="3600" b="1" dirty="0">
                <a:solidFill>
                  <a:schemeClr val="accent1"/>
                </a:solidFill>
              </a:rPr>
              <a:t>₹20 L</a:t>
            </a:r>
            <a:endParaRPr lang="en-US" sz="3600" dirty="0"/>
          </a:p>
        </p:txBody>
      </p:sp>
      <p:sp>
        <p:nvSpPr>
          <p:cNvPr id="25" name="label weekly licensing budget"/>
          <p:cNvSpPr txBox="1"/>
          <p:nvPr/>
        </p:nvSpPr>
        <p:spPr>
          <a:xfrm>
            <a:off x="7863840" y="3730752"/>
            <a:ext cx="1737360" cy="548640"/>
          </a:xfrm>
          <a:prstGeom prst="rect">
            <a:avLst/>
          </a:prstGeom>
          <a:noFill/>
          <a:ln/>
        </p:spPr>
        <p:txBody>
          <a:bodyPr wrap="square" lIns="0" tIns="0" rIns="0" bIns="0" rtlCol="0" anchor="t"/>
          <a:lstStyle/>
          <a:p>
            <a:pPr indent="0" marL="0">
              <a:buNone/>
            </a:pPr>
            <a:r>
              <a:rPr lang="en-US" sz="1200" dirty="0">
                <a:solidFill>
                  <a:schemeClr val="accent4"/>
                </a:solidFill>
              </a:rPr>
              <a:t>weekly licensing budget</a:t>
            </a:r>
            <a:endParaRPr lang="en-US" sz="1200" dirty="0"/>
          </a:p>
        </p:txBody>
      </p:sp>
      <p:sp>
        <p:nvSpPr>
          <p:cNvPr id="26" name="stat schedulable films of 15 candidates"/>
          <p:cNvSpPr txBox="1"/>
          <p:nvPr/>
        </p:nvSpPr>
        <p:spPr>
          <a:xfrm>
            <a:off x="9784080" y="3108960"/>
            <a:ext cx="1737360" cy="640080"/>
          </a:xfrm>
          <a:prstGeom prst="rect">
            <a:avLst/>
          </a:prstGeom>
          <a:noFill/>
          <a:ln/>
        </p:spPr>
        <p:txBody>
          <a:bodyPr wrap="square" lIns="0" tIns="0" rIns="0" bIns="0" rtlCol="0" anchor="t"/>
          <a:lstStyle/>
          <a:p>
            <a:pPr indent="0" marL="0">
              <a:buNone/>
            </a:pPr>
            <a:r>
              <a:rPr lang="en-US" sz="3600" b="1" dirty="0">
                <a:solidFill>
                  <a:schemeClr val="accent1"/>
                </a:solidFill>
              </a:rPr>
              <a:t>13</a:t>
            </a:r>
            <a:endParaRPr lang="en-US" sz="3600" dirty="0"/>
          </a:p>
        </p:txBody>
      </p:sp>
      <p:sp>
        <p:nvSpPr>
          <p:cNvPr id="27" name="label schedulable films of 15 candidates"/>
          <p:cNvSpPr txBox="1"/>
          <p:nvPr/>
        </p:nvSpPr>
        <p:spPr>
          <a:xfrm>
            <a:off x="9784080" y="3730752"/>
            <a:ext cx="1737360" cy="548640"/>
          </a:xfrm>
          <a:prstGeom prst="rect">
            <a:avLst/>
          </a:prstGeom>
          <a:noFill/>
          <a:ln/>
        </p:spPr>
        <p:txBody>
          <a:bodyPr wrap="square" lIns="0" tIns="0" rIns="0" bIns="0" rtlCol="0" anchor="t"/>
          <a:lstStyle/>
          <a:p>
            <a:pPr indent="0" marL="0">
              <a:buNone/>
            </a:pPr>
            <a:r>
              <a:rPr lang="en-US" sz="1200" dirty="0">
                <a:solidFill>
                  <a:schemeClr val="accent4"/>
                </a:solidFill>
              </a:rPr>
              <a:t>schedulable films of 15 candidates</a:t>
            </a:r>
            <a:endParaRPr lang="en-US" sz="1200" dirty="0"/>
          </a:p>
        </p:txBody>
      </p:sp>
      <p:sp>
        <p:nvSpPr>
          <p:cNvPr id="28" name="question card"/>
          <p:cNvSpPr/>
          <p:nvPr/>
        </p:nvSpPr>
        <p:spPr>
          <a:xfrm>
            <a:off x="548640" y="5074920"/>
            <a:ext cx="11064240" cy="1188720"/>
          </a:xfrm>
          <a:prstGeom prst="roundRect">
            <a:avLst>
              <a:gd name="adj" fmla="val 6154"/>
            </a:avLst>
          </a:prstGeom>
          <a:solidFill>
            <a:schemeClr val="accent1"/>
          </a:solidFill>
          <a:ln w="12700">
            <a:solidFill>
              <a:schemeClr val="accent1"/>
            </a:solidFill>
            <a:prstDash val="solid"/>
          </a:ln>
        </p:spPr>
      </p:sp>
      <p:sp>
        <p:nvSpPr>
          <p:cNvPr id="29" name="Text 27"/>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500" b="1" dirty="0">
                <a:solidFill>
                  <a:schemeClr val="accent2"/>
                </a:solidFill>
              </a:rPr>
              <a:t>Project question  </a:t>
            </a:r>
            <a:pPr indent="0" marL="0">
              <a:buNone/>
            </a:pPr>
            <a:r>
              <a:rPr lang="en-US" sz="1500" dirty="0">
                <a:solidFill>
                  <a:schemeClr val="bg1"/>
                </a:solidFill>
              </a:rPr>
              <a:t>Can we build a feasible one-day schedule that beats a popularity-based one, and what does each trade-off cost? </a:t>
            </a:r>
            <a:endParaRPr lang="en-US" sz="1500" dirty="0"/>
          </a:p>
          <a:p>
            <a:pPr indent="0" marL="0">
              <a:buNone/>
            </a:pPr>
            <a:r>
              <a:rPr lang="en-US" sz="1500" dirty="0">
                <a:solidFill>
                  <a:schemeClr val="bg2"/>
                </a:solidFill>
              </a:rPr>
              <a:t>Why OR: picking only popular films ignores budget, capacity and variety, and the decisions interact, so no single model answers it.</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Dataset: TMDB 5000, real metadata without sales</a:t>
            </a:r>
            <a:endParaRPr lang="en-US" sz="3400" dirty="0"/>
          </a:p>
        </p:txBody>
      </p:sp>
      <p:graphicFrame>
        <p:nvGraphicFramePr>
          <p:cNvPr id="3" name="Chart 0" descr=""/>
          <p:cNvGraphicFramePr/>
          <p:nvPr/>
        </p:nvGraphicFramePr>
        <p:xfrm>
          <a:off x="548640" y="1234440"/>
          <a:ext cx="5669280" cy="3200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617720"/>
            <a:ext cx="5669280" cy="1645920"/>
          </a:xfrm>
          <a:prstGeom prst="rect">
            <a:avLst/>
          </a:prstGeom>
          <a:noFill/>
          <a:ln/>
        </p:spPr>
        <p:txBody>
          <a:bodyPr wrap="square" lIns="0" tIns="0" rIns="0" bIns="0" rtlCol="0" anchor="t"/>
          <a:lstStyle/>
          <a:p>
            <a:pPr indent="0" marL="0">
              <a:buNone/>
            </a:pPr>
            <a:r>
              <a:rPr lang="en-US" sz="1400" b="1" dirty="0">
                <a:solidFill>
                  <a:schemeClr val="tx1"/>
                </a:solidFill>
              </a:rPr>
              <a:t>Cleaning steps  </a:t>
            </a:r>
            <a:pPr indent="0" marL="0">
              <a:buNone/>
            </a:pPr>
            <a:r>
              <a:rPr lang="en-US" sz="1400" dirty="0">
                <a:solidFill>
                  <a:schemeClr val="tx1"/>
                </a:solidFill>
              </a:rPr>
              <a:t>released films only, at least 200 votes (drops low-information records), valid runtime and release date; popularity log-transformed and min–max scaled because raw values are heavily skewed. Zero budget or revenue means “not reported” and is not used.</a:t>
            </a:r>
            <a:endParaRPr lang="en-US" sz="1400" dirty="0"/>
          </a:p>
        </p:txBody>
      </p:sp>
      <p:sp>
        <p:nvSpPr>
          <p:cNvPr id="5" name="card What the data has"/>
          <p:cNvSpPr/>
          <p:nvPr/>
        </p:nvSpPr>
        <p:spPr>
          <a:xfrm>
            <a:off x="6583680" y="1234440"/>
            <a:ext cx="5029200" cy="2148840"/>
          </a:xfrm>
          <a:prstGeom prst="roundRect">
            <a:avLst>
              <a:gd name="adj" fmla="val 3404"/>
            </a:avLst>
          </a:prstGeom>
          <a:solidFill>
            <a:schemeClr val="bg2"/>
          </a:solidFill>
          <a:ln w="12700">
            <a:solidFill>
              <a:schemeClr val="bg2"/>
            </a:solidFill>
            <a:prstDash val="solid"/>
          </a:ln>
        </p:spPr>
      </p:sp>
      <p:sp>
        <p:nvSpPr>
          <p:cNvPr id="6" name="text What the data has"/>
          <p:cNvSpPr txBox="1"/>
          <p:nvPr/>
        </p:nvSpPr>
        <p:spPr>
          <a:xfrm>
            <a:off x="6766560" y="1371600"/>
            <a:ext cx="4663440" cy="187452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What the data has</a:t>
            </a:r>
            <a:endParaRPr lang="en-US" sz="1400" dirty="0"/>
          </a:p>
          <a:p>
            <a:pPr indent="0" marL="0">
              <a:spcAft>
                <a:spcPts val="400"/>
              </a:spcAft>
              <a:buNone/>
            </a:pPr>
            <a:r>
              <a:rPr lang="en-US" sz="1400" dirty="0">
                <a:solidFill>
                  <a:schemeClr val="tx1"/>
                </a:solidFill>
              </a:rPr>
              <a:t>4,803 films, 20 columns: popularity, vote counts and averages, runtime, release date, genres, languages, budget and revenue. After cleaning, 2,571 films from 1927 to 2016 remain.</a:t>
            </a:r>
            <a:endParaRPr lang="en-US" sz="1400" dirty="0"/>
          </a:p>
        </p:txBody>
      </p:sp>
      <p:sp>
        <p:nvSpPr>
          <p:cNvPr id="7" name="card What it lacks, so we declare it"/>
          <p:cNvSpPr/>
          <p:nvPr/>
        </p:nvSpPr>
        <p:spPr>
          <a:xfrm>
            <a:off x="6583680" y="3566160"/>
            <a:ext cx="5029200" cy="2697480"/>
          </a:xfrm>
          <a:prstGeom prst="roundRect">
            <a:avLst>
              <a:gd name="adj" fmla="val 2712"/>
            </a:avLst>
          </a:prstGeom>
          <a:solidFill>
            <a:schemeClr val="bg2"/>
          </a:solidFill>
          <a:ln w="12700">
            <a:solidFill>
              <a:schemeClr val="bg2"/>
            </a:solidFill>
            <a:prstDash val="solid"/>
          </a:ln>
        </p:spPr>
      </p:sp>
      <p:sp>
        <p:nvSpPr>
          <p:cNvPr id="8" name="text What it lacks, so we declare it"/>
          <p:cNvSpPr txBox="1"/>
          <p:nvPr/>
        </p:nvSpPr>
        <p:spPr>
          <a:xfrm>
            <a:off x="6766560" y="3703320"/>
            <a:ext cx="4663440" cy="242316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rPr>
              <a:t>What it lacks, so we declare it</a:t>
            </a:r>
            <a:endParaRPr lang="en-US" sz="1400" dirty="0"/>
          </a:p>
          <a:p>
            <a:pPr indent="0" marL="0">
              <a:spcAft>
                <a:spcPts val="400"/>
              </a:spcAft>
              <a:buNone/>
            </a:pPr>
            <a:r>
              <a:rPr lang="en-US" sz="1400" dirty="0">
                <a:solidFill>
                  <a:schemeClr val="tx1"/>
                </a:solidFill>
              </a:rPr>
              <a:t>No ticket sales, prices or weekly demand history. Theatre layout, prices, fees, slot factors, genre–slot affinity and the demand scale are declared synthetic assumptions, kept in one configuration. Revenue and occupancy are model estimates, not observations.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From metadata to tickets: the demand model</a:t>
            </a:r>
            <a:endParaRPr lang="en-US" sz="3400" dirty="0"/>
          </a:p>
        </p:txBody>
      </p:sp>
      <p:sp>
        <p:nvSpPr>
          <p:cNvPr id="3" name="card 1 · Weekly effective demand"/>
          <p:cNvSpPr/>
          <p:nvPr/>
        </p:nvSpPr>
        <p:spPr>
          <a:xfrm>
            <a:off x="548640" y="1234440"/>
            <a:ext cx="5852160" cy="1188720"/>
          </a:xfrm>
          <a:prstGeom prst="roundRect">
            <a:avLst>
              <a:gd name="adj" fmla="val 6154"/>
            </a:avLst>
          </a:prstGeom>
          <a:solidFill>
            <a:schemeClr val="bg2"/>
          </a:solidFill>
          <a:ln w="12700">
            <a:solidFill>
              <a:schemeClr val="bg2"/>
            </a:solidFill>
            <a:prstDash val="solid"/>
          </a:ln>
        </p:spPr>
      </p:sp>
      <p:sp>
        <p:nvSpPr>
          <p:cNvPr id="4" name="text 1 · Weekly effective demand"/>
          <p:cNvSpPr txBox="1"/>
          <p:nvPr/>
        </p:nvSpPr>
        <p:spPr>
          <a:xfrm>
            <a:off x="731520" y="1371600"/>
            <a:ext cx="5486400" cy="9144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1 · Weekly effective demand</a:t>
            </a:r>
            <a:endParaRPr lang="en-US" sz="1400" dirty="0"/>
          </a:p>
          <a:p>
            <a:pPr indent="0" marL="0">
              <a:spcAft>
                <a:spcPts val="400"/>
              </a:spcAft>
              <a:buNone/>
            </a:pPr>
            <a:r>
              <a:rPr lang="en-US" sz="1600" dirty="0">
                <a:solidFill>
                  <a:schemeClr val="tx1"/>
                </a:solidFill>
              </a:rPr>
              <a:t>e = popularity × exp(−λ · weeks since release),  λ = 0.55</a:t>
            </a:r>
            <a:endParaRPr lang="en-US" sz="1400" dirty="0"/>
          </a:p>
          <a:p>
            <a:pPr indent="0" marL="0">
              <a:spcAft>
                <a:spcPts val="400"/>
              </a:spcAft>
              <a:buNone/>
            </a:pPr>
            <a:r>
              <a:rPr lang="en-US" sz="1200" dirty="0">
                <a:solidFill>
                  <a:schemeClr val="accent4"/>
                </a:solidFill>
              </a:rPr>
              <a:t>about 42% of demand is lost each week</a:t>
            </a:r>
            <a:endParaRPr lang="en-US" sz="1400" dirty="0"/>
          </a:p>
        </p:txBody>
      </p:sp>
      <p:sp>
        <p:nvSpPr>
          <p:cNvPr id="5" name="card 2 · Demand per show (persons)"/>
          <p:cNvSpPr/>
          <p:nvPr/>
        </p:nvSpPr>
        <p:spPr>
          <a:xfrm>
            <a:off x="548640" y="2560320"/>
            <a:ext cx="5852160" cy="1371600"/>
          </a:xfrm>
          <a:prstGeom prst="roundRect">
            <a:avLst>
              <a:gd name="adj" fmla="val 5333"/>
            </a:avLst>
          </a:prstGeom>
          <a:solidFill>
            <a:schemeClr val="bg2"/>
          </a:solidFill>
          <a:ln w="12700">
            <a:solidFill>
              <a:schemeClr val="bg2"/>
            </a:solidFill>
            <a:prstDash val="solid"/>
          </a:ln>
        </p:spPr>
      </p:sp>
      <p:sp>
        <p:nvSpPr>
          <p:cNvPr id="6" name="text 2 · Demand per show (persons)"/>
          <p:cNvSpPr txBox="1"/>
          <p:nvPr/>
        </p:nvSpPr>
        <p:spPr>
          <a:xfrm>
            <a:off x="731520" y="2697480"/>
            <a:ext cx="5486400" cy="109728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2 · Demand per show (persons)</a:t>
            </a:r>
            <a:endParaRPr lang="en-US" sz="1400" dirty="0"/>
          </a:p>
          <a:p>
            <a:pPr indent="0" marL="0">
              <a:spcAft>
                <a:spcPts val="400"/>
              </a:spcAft>
              <a:buNone/>
            </a:pPr>
            <a:r>
              <a:rPr lang="en-US" sz="1600" dirty="0">
                <a:solidFill>
                  <a:schemeClr val="tx1"/>
                </a:solidFill>
              </a:rPr>
              <a:t>D = scale × e × slot factor × genre–slot affinity</a:t>
            </a:r>
            <a:endParaRPr lang="en-US" sz="1400" dirty="0"/>
          </a:p>
          <a:p>
            <a:pPr indent="0" marL="0">
              <a:spcAft>
                <a:spcPts val="400"/>
              </a:spcAft>
              <a:buNone/>
            </a:pPr>
            <a:r>
              <a:rPr lang="en-US" sz="1200" dirty="0">
                <a:solidFill>
                  <a:schemeClr val="accent4"/>
                </a:solidFill>
              </a:rPr>
              <a:t>prime time and the right genre at the right hour sell more</a:t>
            </a:r>
            <a:endParaRPr lang="en-US" sz="1400" dirty="0"/>
          </a:p>
        </p:txBody>
      </p:sp>
      <p:sp>
        <p:nvSpPr>
          <p:cNvPr id="7" name="card 3 · Capped by the screen"/>
          <p:cNvSpPr/>
          <p:nvPr/>
        </p:nvSpPr>
        <p:spPr>
          <a:xfrm>
            <a:off x="548640" y="4069080"/>
            <a:ext cx="5852160" cy="1371600"/>
          </a:xfrm>
          <a:prstGeom prst="roundRect">
            <a:avLst>
              <a:gd name="adj" fmla="val 5333"/>
            </a:avLst>
          </a:prstGeom>
          <a:solidFill>
            <a:schemeClr val="bg2"/>
          </a:solidFill>
          <a:ln w="12700">
            <a:solidFill>
              <a:schemeClr val="bg2"/>
            </a:solidFill>
            <a:prstDash val="solid"/>
          </a:ln>
        </p:spPr>
      </p:sp>
      <p:sp>
        <p:nvSpPr>
          <p:cNvPr id="8" name="text 3 · Capped by the screen"/>
          <p:cNvSpPr txBox="1"/>
          <p:nvPr/>
        </p:nvSpPr>
        <p:spPr>
          <a:xfrm>
            <a:off x="731520" y="4206240"/>
            <a:ext cx="5486400" cy="109728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3 · Capped by the screen</a:t>
            </a:r>
            <a:endParaRPr lang="en-US" sz="1400" dirty="0"/>
          </a:p>
          <a:p>
            <a:pPr indent="0" marL="0">
              <a:spcAft>
                <a:spcPts val="400"/>
              </a:spcAft>
              <a:buNone/>
            </a:pPr>
            <a:r>
              <a:rPr lang="en-US" sz="1600" dirty="0">
                <a:solidFill>
                  <a:schemeClr val="tx1"/>
                </a:solidFill>
              </a:rPr>
              <a:t>sold = min(D, seats);  revenue = price × sold</a:t>
            </a:r>
            <a:endParaRPr lang="en-US" sz="1400" dirty="0"/>
          </a:p>
          <a:p>
            <a:pPr indent="0" marL="0">
              <a:spcAft>
                <a:spcPts val="400"/>
              </a:spcAft>
              <a:buNone/>
            </a:pPr>
            <a:r>
              <a:rPr lang="en-US" sz="1600" dirty="0">
                <a:solidFill>
                  <a:schemeClr val="tx1"/>
                </a:solidFill>
              </a:rPr>
              <a:t>spill = max(D − seats, 0) people are turned away</a:t>
            </a:r>
            <a:endParaRPr lang="en-US" sz="1400" dirty="0"/>
          </a:p>
        </p:txBody>
      </p:sp>
      <p:graphicFrame>
        <p:nvGraphicFramePr>
          <p:cNvPr id="9" name="Chart 0" descr=""/>
          <p:cNvGraphicFramePr/>
          <p:nvPr/>
        </p:nvGraphicFramePr>
        <p:xfrm>
          <a:off x="6675120" y="123444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10" name="worked example"/>
          <p:cNvSpPr/>
          <p:nvPr/>
        </p:nvSpPr>
        <p:spPr>
          <a:xfrm>
            <a:off x="6675120" y="4114800"/>
            <a:ext cx="4937760" cy="1325880"/>
          </a:xfrm>
          <a:prstGeom prst="roundRect">
            <a:avLst>
              <a:gd name="adj" fmla="val 5517"/>
            </a:avLst>
          </a:prstGeom>
          <a:solidFill>
            <a:schemeClr val="tx2"/>
          </a:solidFill>
          <a:ln w="12700">
            <a:solidFill>
              <a:schemeClr val="tx2"/>
            </a:solidFill>
            <a:prstDash val="solid"/>
          </a:ln>
        </p:spPr>
      </p:sp>
      <p:sp>
        <p:nvSpPr>
          <p:cNvPr id="11" name="Text 8"/>
          <p:cNvSpPr txBox="1"/>
          <p:nvPr/>
        </p:nvSpPr>
        <p:spPr>
          <a:xfrm>
            <a:off x="6858000" y="4224528"/>
            <a:ext cx="4572000" cy="1097280"/>
          </a:xfrm>
          <a:prstGeom prst="rect">
            <a:avLst/>
          </a:prstGeom>
          <a:noFill/>
          <a:ln/>
        </p:spPr>
        <p:txBody>
          <a:bodyPr wrap="square" lIns="0" tIns="0" rIns="0" bIns="0" rtlCol="0" anchor="ctr"/>
          <a:lstStyle/>
          <a:p>
            <a:pPr indent="0" marL="0">
              <a:buNone/>
            </a:pPr>
            <a:r>
              <a:rPr lang="en-US" sz="1400" b="1" dirty="0">
                <a:solidFill>
                  <a:schemeClr val="accent2"/>
                </a:solidFill>
              </a:rPr>
              <a:t>Worked example  </a:t>
            </a:r>
            <a:pPr indent="0" marL="0">
              <a:buNone/>
            </a:pPr>
            <a:r>
              <a:rPr lang="en-US" sz="1400" dirty="0">
                <a:solidFill>
                  <a:schemeClr val="bg1"/>
                </a:solidFill>
              </a:rPr>
              <a:t>Lucy, 9 pm, 250-seat screen: demand 363 → 250 sold → 113 turned away → ₹70,000.</a:t>
            </a:r>
            <a:endParaRPr lang="en-US" sz="1400" dirty="0"/>
          </a:p>
        </p:txBody>
      </p:sp>
      <p:sp>
        <p:nvSpPr>
          <p:cNvPr id="12" name="Text 9"/>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400" dirty="0">
                <a:solidFill>
                  <a:schemeClr val="accent4"/>
                </a:solidFill>
              </a:rPr>
              <a:t>Calibration, fixed before any comparison: demand scale 650 gives average occupancy 36.6% (target band 35–45%) with spill present. It is never re-tuned, and later swept ±30%.</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Methodology: a chain of four OR models</a:t>
            </a:r>
            <a:endParaRPr lang="en-US" sz="3400" dirty="0"/>
          </a:p>
        </p:txBody>
      </p:sp>
      <p:sp>
        <p:nvSpPr>
          <p:cNvPr id="3" name="box Demand model"/>
          <p:cNvSpPr/>
          <p:nvPr/>
        </p:nvSpPr>
        <p:spPr>
          <a:xfrm>
            <a:off x="548640" y="2148840"/>
            <a:ext cx="1965960" cy="1097280"/>
          </a:xfrm>
          <a:prstGeom prst="roundRect">
            <a:avLst>
              <a:gd name="adj" fmla="val 6667"/>
            </a:avLst>
          </a:prstGeom>
          <a:solidFill>
            <a:schemeClr val="accent4"/>
          </a:solidFill>
          <a:ln w="12700">
            <a:solidFill>
              <a:schemeClr val="accent4"/>
            </a:solidFill>
            <a:prstDash val="solid"/>
          </a:ln>
        </p:spPr>
      </p:sp>
      <p:sp>
        <p:nvSpPr>
          <p:cNvPr id="4" name="Text 2"/>
          <p:cNvSpPr txBox="1"/>
          <p:nvPr/>
        </p:nvSpPr>
        <p:spPr>
          <a:xfrm>
            <a:off x="640080" y="2258568"/>
            <a:ext cx="1783080" cy="868680"/>
          </a:xfrm>
          <a:prstGeom prst="rect">
            <a:avLst/>
          </a:prstGeom>
          <a:noFill/>
          <a:ln/>
        </p:spPr>
        <p:txBody>
          <a:bodyPr wrap="square" lIns="0" tIns="0" rIns="0" bIns="0" rtlCol="0" anchor="ctr"/>
          <a:lstStyle/>
          <a:p>
            <a:pPr algn="ctr" indent="0" marL="0">
              <a:buNone/>
            </a:pPr>
            <a:r>
              <a:rPr lang="en-US" sz="1600" b="1" dirty="0">
                <a:solidFill>
                  <a:schemeClr val="bg1"/>
                </a:solidFill>
              </a:rPr>
              <a:t>Demand model</a:t>
            </a:r>
            <a:endParaRPr lang="en-US" sz="1400" dirty="0"/>
          </a:p>
          <a:p>
            <a:pPr algn="ctr" indent="0" marL="0">
              <a:buNone/>
            </a:pPr>
            <a:r>
              <a:rPr lang="en-US" sz="1200" dirty="0">
                <a:solidFill>
                  <a:schemeClr val="bg1"/>
                </a:solidFill>
              </a:rPr>
              <a:t>weekly market, D, spill</a:t>
            </a:r>
            <a:endParaRPr lang="en-US" sz="1400" dirty="0"/>
          </a:p>
        </p:txBody>
      </p:sp>
      <p:sp>
        <p:nvSpPr>
          <p:cNvPr id="5" name="Shape 3"/>
          <p:cNvSpPr/>
          <p:nvPr/>
        </p:nvSpPr>
        <p:spPr>
          <a:xfrm>
            <a:off x="2542032" y="2697480"/>
            <a:ext cx="253746" cy="0"/>
          </a:xfrm>
          <a:prstGeom prst="line">
            <a:avLst/>
          </a:prstGeom>
          <a:noFill/>
          <a:ln w="25400">
            <a:solidFill>
              <a:srgbClr val="6B7280"/>
            </a:solidFill>
            <a:prstDash val="solid"/>
            <a:tailEnd type="triangle"/>
          </a:ln>
        </p:spPr>
      </p:sp>
      <p:sp>
        <p:nvSpPr>
          <p:cNvPr id="6" name="box Model 1"/>
          <p:cNvSpPr/>
          <p:nvPr/>
        </p:nvSpPr>
        <p:spPr>
          <a:xfrm>
            <a:off x="2823210" y="2148840"/>
            <a:ext cx="1965960" cy="1097280"/>
          </a:xfrm>
          <a:prstGeom prst="roundRect">
            <a:avLst>
              <a:gd name="adj" fmla="val 6667"/>
            </a:avLst>
          </a:prstGeom>
          <a:solidFill>
            <a:schemeClr val="accent1"/>
          </a:solidFill>
          <a:ln w="12700">
            <a:solidFill>
              <a:schemeClr val="accent1"/>
            </a:solidFill>
            <a:prstDash val="solid"/>
          </a:ln>
        </p:spPr>
      </p:sp>
      <p:sp>
        <p:nvSpPr>
          <p:cNvPr id="7" name="Text 5"/>
          <p:cNvSpPr txBox="1"/>
          <p:nvPr/>
        </p:nvSpPr>
        <p:spPr>
          <a:xfrm>
            <a:off x="2914650" y="2258568"/>
            <a:ext cx="1783080" cy="868680"/>
          </a:xfrm>
          <a:prstGeom prst="rect">
            <a:avLst/>
          </a:prstGeom>
          <a:noFill/>
          <a:ln/>
        </p:spPr>
        <p:txBody>
          <a:bodyPr wrap="square" lIns="0" tIns="0" rIns="0" bIns="0" rtlCol="0" anchor="ctr"/>
          <a:lstStyle/>
          <a:p>
            <a:pPr algn="ctr" indent="0" marL="0">
              <a:buNone/>
            </a:pPr>
            <a:r>
              <a:rPr lang="en-US" sz="1600" b="1" dirty="0">
                <a:solidFill>
                  <a:schemeClr val="bg1"/>
                </a:solidFill>
              </a:rPr>
              <a:t>Model 1</a:t>
            </a:r>
            <a:endParaRPr lang="en-US" sz="1400" dirty="0"/>
          </a:p>
          <a:p>
            <a:pPr algn="ctr" indent="0" marL="0">
              <a:buNone/>
            </a:pPr>
            <a:r>
              <a:rPr lang="en-US" sz="1200" dirty="0">
                <a:solidFill>
                  <a:schemeClr val="bg1"/>
                </a:solidFill>
              </a:rPr>
              <a:t>Knapsack (ILP)</a:t>
            </a:r>
            <a:endParaRPr lang="en-US" sz="1400" dirty="0"/>
          </a:p>
        </p:txBody>
      </p:sp>
      <p:sp>
        <p:nvSpPr>
          <p:cNvPr id="8" name="Shape 6"/>
          <p:cNvSpPr/>
          <p:nvPr/>
        </p:nvSpPr>
        <p:spPr>
          <a:xfrm>
            <a:off x="4816602" y="2697480"/>
            <a:ext cx="253746" cy="0"/>
          </a:xfrm>
          <a:prstGeom prst="line">
            <a:avLst/>
          </a:prstGeom>
          <a:noFill/>
          <a:ln w="25400">
            <a:solidFill>
              <a:srgbClr val="6B7280"/>
            </a:solidFill>
            <a:prstDash val="solid"/>
            <a:tailEnd type="triangle"/>
          </a:ln>
        </p:spPr>
      </p:sp>
      <p:sp>
        <p:nvSpPr>
          <p:cNvPr id="9" name="box Model 2"/>
          <p:cNvSpPr/>
          <p:nvPr/>
        </p:nvSpPr>
        <p:spPr>
          <a:xfrm>
            <a:off x="5097780" y="2148840"/>
            <a:ext cx="1965960" cy="1097280"/>
          </a:xfrm>
          <a:prstGeom prst="roundRect">
            <a:avLst>
              <a:gd name="adj" fmla="val 6667"/>
            </a:avLst>
          </a:prstGeom>
          <a:solidFill>
            <a:schemeClr val="accent1"/>
          </a:solidFill>
          <a:ln w="12700">
            <a:solidFill>
              <a:schemeClr val="accent1"/>
            </a:solidFill>
            <a:prstDash val="solid"/>
          </a:ln>
        </p:spPr>
      </p:sp>
      <p:sp>
        <p:nvSpPr>
          <p:cNvPr id="10" name="Text 8"/>
          <p:cNvSpPr txBox="1"/>
          <p:nvPr/>
        </p:nvSpPr>
        <p:spPr>
          <a:xfrm>
            <a:off x="5189220" y="2258568"/>
            <a:ext cx="1783080" cy="868680"/>
          </a:xfrm>
          <a:prstGeom prst="rect">
            <a:avLst/>
          </a:prstGeom>
          <a:noFill/>
          <a:ln/>
        </p:spPr>
        <p:txBody>
          <a:bodyPr wrap="square" lIns="0" tIns="0" rIns="0" bIns="0" rtlCol="0" anchor="ctr"/>
          <a:lstStyle/>
          <a:p>
            <a:pPr algn="ctr" indent="0" marL="0">
              <a:buNone/>
            </a:pPr>
            <a:r>
              <a:rPr lang="en-US" sz="1600" b="1" dirty="0">
                <a:solidFill>
                  <a:schemeClr val="bg1"/>
                </a:solidFill>
              </a:rPr>
              <a:t>Model 2</a:t>
            </a:r>
            <a:endParaRPr lang="en-US" sz="1400" dirty="0"/>
          </a:p>
          <a:p>
            <a:pPr algn="ctr" indent="0" marL="0">
              <a:buNone/>
            </a:pPr>
            <a:r>
              <a:rPr lang="en-US" sz="1200" dirty="0">
                <a:solidFill>
                  <a:schemeClr val="bg1"/>
                </a:solidFill>
              </a:rPr>
              <a:t>Transportation (LP)</a:t>
            </a:r>
            <a:endParaRPr lang="en-US" sz="1400" dirty="0"/>
          </a:p>
        </p:txBody>
      </p:sp>
      <p:sp>
        <p:nvSpPr>
          <p:cNvPr id="11" name="Shape 9"/>
          <p:cNvSpPr/>
          <p:nvPr/>
        </p:nvSpPr>
        <p:spPr>
          <a:xfrm>
            <a:off x="7091172" y="2697480"/>
            <a:ext cx="253746" cy="0"/>
          </a:xfrm>
          <a:prstGeom prst="line">
            <a:avLst/>
          </a:prstGeom>
          <a:noFill/>
          <a:ln w="25400">
            <a:solidFill>
              <a:srgbClr val="6B7280"/>
            </a:solidFill>
            <a:prstDash val="solid"/>
            <a:tailEnd type="triangle"/>
          </a:ln>
        </p:spPr>
      </p:sp>
      <p:sp>
        <p:nvSpPr>
          <p:cNvPr id="12" name="box Model 3"/>
          <p:cNvSpPr/>
          <p:nvPr/>
        </p:nvSpPr>
        <p:spPr>
          <a:xfrm>
            <a:off x="7372350" y="2148840"/>
            <a:ext cx="1965960" cy="1097280"/>
          </a:xfrm>
          <a:prstGeom prst="roundRect">
            <a:avLst>
              <a:gd name="adj" fmla="val 6667"/>
            </a:avLst>
          </a:prstGeom>
          <a:solidFill>
            <a:schemeClr val="accent1"/>
          </a:solidFill>
          <a:ln w="12700">
            <a:solidFill>
              <a:schemeClr val="accent1"/>
            </a:solidFill>
            <a:prstDash val="solid"/>
          </a:ln>
        </p:spPr>
      </p:sp>
      <p:sp>
        <p:nvSpPr>
          <p:cNvPr id="13" name="Text 11"/>
          <p:cNvSpPr txBox="1"/>
          <p:nvPr/>
        </p:nvSpPr>
        <p:spPr>
          <a:xfrm>
            <a:off x="7463790" y="2258568"/>
            <a:ext cx="1783080" cy="868680"/>
          </a:xfrm>
          <a:prstGeom prst="rect">
            <a:avLst/>
          </a:prstGeom>
          <a:noFill/>
          <a:ln/>
        </p:spPr>
        <p:txBody>
          <a:bodyPr wrap="square" lIns="0" tIns="0" rIns="0" bIns="0" rtlCol="0" anchor="ctr"/>
          <a:lstStyle/>
          <a:p>
            <a:pPr algn="ctr" indent="0" marL="0">
              <a:buNone/>
            </a:pPr>
            <a:r>
              <a:rPr lang="en-US" sz="1600" b="1" dirty="0">
                <a:solidFill>
                  <a:schemeClr val="bg1"/>
                </a:solidFill>
              </a:rPr>
              <a:t>Model 3</a:t>
            </a:r>
            <a:endParaRPr lang="en-US" sz="1400" dirty="0"/>
          </a:p>
          <a:p>
            <a:pPr algn="ctr" indent="0" marL="0">
              <a:buNone/>
            </a:pPr>
            <a:r>
              <a:rPr lang="en-US" sz="1200" dirty="0">
                <a:solidFill>
                  <a:schemeClr val="bg1"/>
                </a:solidFill>
              </a:rPr>
              <a:t>Assignment (ILP)</a:t>
            </a:r>
            <a:endParaRPr lang="en-US" sz="1400" dirty="0"/>
          </a:p>
        </p:txBody>
      </p:sp>
      <p:sp>
        <p:nvSpPr>
          <p:cNvPr id="14" name="Shape 12"/>
          <p:cNvSpPr/>
          <p:nvPr/>
        </p:nvSpPr>
        <p:spPr>
          <a:xfrm>
            <a:off x="9365742" y="2697480"/>
            <a:ext cx="253746" cy="0"/>
          </a:xfrm>
          <a:prstGeom prst="line">
            <a:avLst/>
          </a:prstGeom>
          <a:noFill/>
          <a:ln w="25400">
            <a:solidFill>
              <a:srgbClr val="6B7280"/>
            </a:solidFill>
            <a:prstDash val="solid"/>
            <a:tailEnd type="triangle"/>
          </a:ln>
        </p:spPr>
      </p:sp>
      <p:sp>
        <p:nvSpPr>
          <p:cNvPr id="15" name="box Model 4"/>
          <p:cNvSpPr/>
          <p:nvPr/>
        </p:nvSpPr>
        <p:spPr>
          <a:xfrm>
            <a:off x="9646920" y="2148840"/>
            <a:ext cx="1965960" cy="1097280"/>
          </a:xfrm>
          <a:prstGeom prst="roundRect">
            <a:avLst>
              <a:gd name="adj" fmla="val 6667"/>
            </a:avLst>
          </a:prstGeom>
          <a:solidFill>
            <a:schemeClr val="accent1"/>
          </a:solidFill>
          <a:ln w="12700">
            <a:solidFill>
              <a:schemeClr val="accent1"/>
            </a:solidFill>
            <a:prstDash val="solid"/>
          </a:ln>
        </p:spPr>
      </p:sp>
      <p:sp>
        <p:nvSpPr>
          <p:cNvPr id="16" name="Text 14"/>
          <p:cNvSpPr txBox="1"/>
          <p:nvPr/>
        </p:nvSpPr>
        <p:spPr>
          <a:xfrm>
            <a:off x="9738360" y="2258568"/>
            <a:ext cx="1783080" cy="868680"/>
          </a:xfrm>
          <a:prstGeom prst="rect">
            <a:avLst/>
          </a:prstGeom>
          <a:noFill/>
          <a:ln/>
        </p:spPr>
        <p:txBody>
          <a:bodyPr wrap="square" lIns="0" tIns="0" rIns="0" bIns="0" rtlCol="0" anchor="ctr"/>
          <a:lstStyle/>
          <a:p>
            <a:pPr algn="ctr" indent="0" marL="0">
              <a:buNone/>
            </a:pPr>
            <a:r>
              <a:rPr lang="en-US" sz="1600" b="1" dirty="0">
                <a:solidFill>
                  <a:schemeClr val="bg1"/>
                </a:solidFill>
              </a:rPr>
              <a:t>Model 4</a:t>
            </a:r>
            <a:endParaRPr lang="en-US" sz="1400" dirty="0"/>
          </a:p>
          <a:p>
            <a:pPr algn="ctr" indent="0" marL="0">
              <a:buNone/>
            </a:pPr>
            <a:r>
              <a:rPr lang="en-US" sz="1200" dirty="0">
                <a:solidFill>
                  <a:schemeClr val="bg1"/>
                </a:solidFill>
              </a:rPr>
              <a:t>Goal programming (MILP)</a:t>
            </a:r>
            <a:endParaRPr lang="en-US" sz="1400" dirty="0"/>
          </a:p>
        </p:txBody>
      </p:sp>
      <p:sp>
        <p:nvSpPr>
          <p:cNvPr id="17" name="box AHP"/>
          <p:cNvSpPr/>
          <p:nvPr/>
        </p:nvSpPr>
        <p:spPr>
          <a:xfrm>
            <a:off x="9646920" y="1188720"/>
            <a:ext cx="1965960" cy="640080"/>
          </a:xfrm>
          <a:prstGeom prst="roundRect">
            <a:avLst>
              <a:gd name="adj" fmla="val 11429"/>
            </a:avLst>
          </a:prstGeom>
          <a:solidFill>
            <a:schemeClr val="accent2"/>
          </a:solidFill>
          <a:ln w="12700">
            <a:solidFill>
              <a:schemeClr val="accent2"/>
            </a:solidFill>
            <a:prstDash val="solid"/>
          </a:ln>
        </p:spPr>
      </p:sp>
      <p:sp>
        <p:nvSpPr>
          <p:cNvPr id="18" name="Text 16"/>
          <p:cNvSpPr txBox="1"/>
          <p:nvPr/>
        </p:nvSpPr>
        <p:spPr>
          <a:xfrm>
            <a:off x="9646920" y="1188720"/>
            <a:ext cx="1965960" cy="640080"/>
          </a:xfrm>
          <a:prstGeom prst="rect">
            <a:avLst/>
          </a:prstGeom>
          <a:noFill/>
          <a:ln/>
        </p:spPr>
        <p:txBody>
          <a:bodyPr wrap="square" lIns="0" tIns="0" rIns="0" bIns="0" rtlCol="0" anchor="ctr"/>
          <a:lstStyle/>
          <a:p>
            <a:pPr algn="ctr" indent="0" marL="0">
              <a:buNone/>
            </a:pPr>
            <a:r>
              <a:rPr lang="en-US" sz="1400" b="1" dirty="0">
                <a:solidFill>
                  <a:schemeClr val="tx1"/>
                </a:solidFill>
              </a:rPr>
              <a:t>AHP weights</a:t>
            </a:r>
            <a:endParaRPr lang="en-US" sz="1400" dirty="0"/>
          </a:p>
        </p:txBody>
      </p:sp>
      <p:sp>
        <p:nvSpPr>
          <p:cNvPr id="19" name="Shape 17"/>
          <p:cNvSpPr/>
          <p:nvPr/>
        </p:nvSpPr>
        <p:spPr>
          <a:xfrm>
            <a:off x="10629900" y="1847088"/>
            <a:ext cx="0" cy="274320"/>
          </a:xfrm>
          <a:prstGeom prst="line">
            <a:avLst/>
          </a:prstGeom>
          <a:noFill/>
          <a:ln w="25400">
            <a:solidFill>
              <a:srgbClr val="6B7280"/>
            </a:solidFill>
            <a:prstDash val="solid"/>
            <a:tailEnd type="triangle"/>
          </a:ln>
        </p:spPr>
      </p:sp>
      <p:sp>
        <p:nvSpPr>
          <p:cNvPr id="20" name="Text 18"/>
          <p:cNvSpPr txBox="1"/>
          <p:nvPr/>
        </p:nvSpPr>
        <p:spPr>
          <a:xfrm>
            <a:off x="2823210" y="3291840"/>
            <a:ext cx="1965960" cy="274320"/>
          </a:xfrm>
          <a:prstGeom prst="rect">
            <a:avLst/>
          </a:prstGeom>
          <a:noFill/>
          <a:ln/>
        </p:spPr>
        <p:txBody>
          <a:bodyPr wrap="square" lIns="0" tIns="0" rIns="0" bIns="0" rtlCol="0" anchor="t"/>
          <a:lstStyle/>
          <a:p>
            <a:pPr algn="ctr" indent="0" marL="0">
              <a:buNone/>
            </a:pPr>
            <a:r>
              <a:rPr lang="en-US" sz="1200" dirty="0">
                <a:solidFill>
                  <a:schemeClr val="accent4"/>
                </a:solidFill>
              </a:rPr>
              <a:t>licensed films</a:t>
            </a:r>
            <a:endParaRPr lang="en-US" sz="1200" dirty="0"/>
          </a:p>
        </p:txBody>
      </p:sp>
      <p:sp>
        <p:nvSpPr>
          <p:cNvPr id="21" name="Text 19"/>
          <p:cNvSpPr txBox="1"/>
          <p:nvPr/>
        </p:nvSpPr>
        <p:spPr>
          <a:xfrm>
            <a:off x="5097780" y="3291840"/>
            <a:ext cx="1965960" cy="274320"/>
          </a:xfrm>
          <a:prstGeom prst="rect">
            <a:avLst/>
          </a:prstGeom>
          <a:noFill/>
          <a:ln/>
        </p:spPr>
        <p:txBody>
          <a:bodyPr wrap="square" lIns="0" tIns="0" rIns="0" bIns="0" rtlCol="0" anchor="t"/>
          <a:lstStyle/>
          <a:p>
            <a:pPr algn="ctr" indent="0" marL="0">
              <a:buNone/>
            </a:pPr>
            <a:r>
              <a:rPr lang="en-US" sz="1200" dirty="0">
                <a:solidFill>
                  <a:schemeClr val="accent4"/>
                </a:solidFill>
              </a:rPr>
              <a:t>quota + preferred genre</a:t>
            </a:r>
            <a:endParaRPr lang="en-US" sz="1200" dirty="0"/>
          </a:p>
        </p:txBody>
      </p:sp>
      <p:sp>
        <p:nvSpPr>
          <p:cNvPr id="22" name="Text 20"/>
          <p:cNvSpPr txBox="1"/>
          <p:nvPr/>
        </p:nvSpPr>
        <p:spPr>
          <a:xfrm>
            <a:off x="7372350" y="3291840"/>
            <a:ext cx="1965960" cy="274320"/>
          </a:xfrm>
          <a:prstGeom prst="rect">
            <a:avLst/>
          </a:prstGeom>
          <a:noFill/>
          <a:ln/>
        </p:spPr>
        <p:txBody>
          <a:bodyPr wrap="square" lIns="0" tIns="0" rIns="0" bIns="0" rtlCol="0" anchor="t"/>
          <a:lstStyle/>
          <a:p>
            <a:pPr algn="ctr" indent="0" marL="0">
              <a:buNone/>
            </a:pPr>
            <a:r>
              <a:rPr lang="en-US" sz="1200" dirty="0">
                <a:solidFill>
                  <a:schemeClr val="accent4"/>
                </a:solidFill>
              </a:rPr>
              <a:t>timetable, R*</a:t>
            </a:r>
            <a:endParaRPr lang="en-US" sz="1200" dirty="0"/>
          </a:p>
        </p:txBody>
      </p:sp>
      <p:sp>
        <p:nvSpPr>
          <p:cNvPr id="23" name="Text 21"/>
          <p:cNvSpPr txBox="1"/>
          <p:nvPr/>
        </p:nvSpPr>
        <p:spPr>
          <a:xfrm>
            <a:off x="9646920" y="3291840"/>
            <a:ext cx="1965960" cy="274320"/>
          </a:xfrm>
          <a:prstGeom prst="rect">
            <a:avLst/>
          </a:prstGeom>
          <a:noFill/>
          <a:ln/>
        </p:spPr>
        <p:txBody>
          <a:bodyPr wrap="square" lIns="0" tIns="0" rIns="0" bIns="0" rtlCol="0" anchor="t"/>
          <a:lstStyle/>
          <a:p>
            <a:pPr algn="ctr" indent="0" marL="0">
              <a:buNone/>
            </a:pPr>
            <a:r>
              <a:rPr lang="en-US" sz="1200" dirty="0">
                <a:solidFill>
                  <a:schemeClr val="accent4"/>
                </a:solidFill>
              </a:rPr>
              <a:t>final schedule</a:t>
            </a:r>
            <a:endParaRPr lang="en-US" sz="1200" dirty="0"/>
          </a:p>
        </p:txBody>
      </p:sp>
      <p:sp>
        <p:nvSpPr>
          <p:cNvPr id="24" name="Text 22"/>
          <p:cNvSpPr txBox="1"/>
          <p:nvPr/>
        </p:nvSpPr>
        <p:spPr>
          <a:xfrm>
            <a:off x="548640" y="3291840"/>
            <a:ext cx="1965960" cy="274320"/>
          </a:xfrm>
          <a:prstGeom prst="rect">
            <a:avLst/>
          </a:prstGeom>
          <a:noFill/>
          <a:ln/>
        </p:spPr>
        <p:txBody>
          <a:bodyPr wrap="square" lIns="0" tIns="0" rIns="0" bIns="0" rtlCol="0" anchor="t"/>
          <a:lstStyle/>
          <a:p>
            <a:pPr algn="ctr" indent="0" marL="0">
              <a:buNone/>
            </a:pPr>
            <a:r>
              <a:rPr lang="en-US" sz="1200" dirty="0">
                <a:solidFill>
                  <a:schemeClr val="accent4"/>
                </a:solidFill>
              </a:rPr>
              <a:t>demand, fees, spill</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822960"/>
                <a:gridCol w="3017520"/>
                <a:gridCol w="4023360"/>
                <a:gridCol w="3200400"/>
              </a:tblGrid>
              <a:tr h="0">
                <a:tc>
                  <a:txBody>
                    <a:bodyPr/>
                    <a:lstStyle/>
                    <a:p>
                      <a:pPr indent="0" marL="0">
                        <a:buNone/>
                      </a:pPr>
                      <a:r>
                        <a:rPr lang="en-US" sz="1300" b="1" dirty="0">
                          <a:solidFill>
                            <a:schemeClr val="bg1"/>
                          </a:solidFill>
                        </a:rPr>
                        <a:t>Model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Question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OR technique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Course topic</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tx1"/>
                          </a:solidFill>
                        </a:rPr>
                        <a:t>1</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Which films to license?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 knapsack, binary ILP, LP relaxation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Integer programming, knapsack, capital budgeting</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2</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Which screens for which genres?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Balanced transportation LP, duals (MODI)</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Transportation, sensitivity analysis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3</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Which film, screen and slot?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Binary assignment ILP with side constraints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Assignment models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4</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How to balance the goals?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Weighted goal programming (MILP) with AHP weights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Goal programming, AHP with consistency check</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1 · Knapsack: which films to license?</a:t>
            </a:r>
            <a:endParaRPr lang="en-US" sz="3400" dirty="0"/>
          </a:p>
        </p:txBody>
      </p:sp>
      <p:sp>
        <p:nvSpPr>
          <p:cNvPr id="3" name="Text 1"/>
          <p:cNvSpPr txBox="1"/>
          <p:nvPr/>
        </p:nvSpPr>
        <p:spPr>
          <a:xfrm>
            <a:off x="548640" y="1234440"/>
            <a:ext cx="5394960" cy="11887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Decision  </a:t>
            </a:r>
            <a:pPr indent="0" marL="0">
              <a:spcAft>
                <a:spcPts val="400"/>
              </a:spcAft>
              <a:buNone/>
            </a:pPr>
            <a:r>
              <a:rPr lang="en-US" sz="1400" dirty="0">
                <a:solidFill>
                  <a:schemeClr val="tx1"/>
                </a:solidFill>
              </a:rPr>
              <a:t>yᵢ ∈ {0,1}: license film i</a:t>
            </a:r>
            <a:endParaRPr lang="en-US" sz="1400" dirty="0"/>
          </a:p>
          <a:p>
            <a:pPr indent="0" marL="0">
              <a:spcAft>
                <a:spcPts val="400"/>
              </a:spcAft>
              <a:buNone/>
            </a:pPr>
            <a:r>
              <a:rPr lang="en-US" sz="1400" b="1" dirty="0">
                <a:solidFill>
                  <a:schemeClr val="accent1"/>
                </a:solidFill>
              </a:rPr>
              <a:t>Maximise  </a:t>
            </a:r>
            <a:pPr indent="0" marL="0">
              <a:spcAft>
                <a:spcPts val="400"/>
              </a:spcAft>
              <a:buNone/>
            </a:pPr>
            <a:r>
              <a:rPr lang="en-US" sz="1400" dirty="0">
                <a:solidFill>
                  <a:schemeClr val="tx1"/>
                </a:solidFill>
              </a:rPr>
              <a:t>Σ vᵢ yᵢ, the daily revenue potential of one show per slot on an average screen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5394960" cy="914400"/>
        </p:xfrm>
        <a:graphic>
          <a:graphicData uri="http://schemas.openxmlformats.org/drawingml/2006/table">
            <a:tbl>
              <a:tblPr/>
              <a:tblGrid>
                <a:gridCol w="731520"/>
                <a:gridCol w="2834640"/>
                <a:gridCol w="1828800"/>
              </a:tblGrid>
              <a:tr h="0">
                <a:tc>
                  <a:txBody>
                    <a:bodyPr/>
                    <a:lstStyle/>
                    <a:p>
                      <a:pPr indent="0" marL="0">
                        <a:buNone/>
                      </a:pP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Constraint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Meaning</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tx1"/>
                          </a:solidFill>
                        </a:rPr>
                        <a:t>K1</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Σ fᵢ yᵢ ≤ ₹20 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weekly budget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K2</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 ≤ Σ yᵢ ≤ 12</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variety policy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K3-4</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 1 action-like, ≥ 1 family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content mix</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K6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yᵢ = 0 if runtime + 20 &gt; 180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must fit a slot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343400"/>
            <a:ext cx="5394960" cy="822960"/>
          </a:xfrm>
          <a:prstGeom prst="rect">
            <a:avLst/>
          </a:prstGeom>
          <a:noFill/>
          <a:ln/>
        </p:spPr>
        <p:txBody>
          <a:bodyPr wrap="square" lIns="0" tIns="0" rIns="0" bIns="0" rtlCol="0" anchor="t"/>
          <a:lstStyle/>
          <a:p>
            <a:pPr indent="0" marL="0">
              <a:buNone/>
            </a:pPr>
            <a:r>
              <a:rPr lang="en-US" sz="1400" dirty="0">
                <a:solidFill>
                  <a:schemeClr val="accent4"/>
                </a:solidFill>
              </a:rPr>
              <a:t>Fee fᵢ = ₹1 L + ₹12.5 L × eᵢ: fresh, popular films cost more, as with real minimum-guarantee terms.</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309360" y="1234440"/>
          <a:ext cx="5303520" cy="914400"/>
        </p:xfrm>
        <a:graphic>
          <a:graphicData uri="http://schemas.openxmlformats.org/drawingml/2006/table">
            <a:tbl>
              <a:tblPr/>
              <a:tblGrid>
                <a:gridCol w="2377440"/>
                <a:gridCol w="914400"/>
                <a:gridCol w="914400"/>
                <a:gridCol w="1097280"/>
              </a:tblGrid>
              <a:tr h="0">
                <a:tc>
                  <a:txBody>
                    <a:bodyPr/>
                    <a:lstStyle/>
                    <a:p>
                      <a:pPr indent="0" marL="0">
                        <a:buNone/>
                      </a:pPr>
                      <a:r>
                        <a:rPr lang="en-US" sz="1200" b="1" dirty="0">
                          <a:solidFill>
                            <a:schemeClr val="bg1"/>
                          </a:solidFill>
                        </a:rPr>
                        <a:t>Licensed film</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Genre</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Fee (₹ k)</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Value (₹ k/day)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tx1"/>
                          </a:solidFill>
                        </a:rPr>
                        <a:t>Lucy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798.5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193.4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Dawn of the Planet of the Apes</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Sci-Fi</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303.0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88.6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Deliver Us from Evil</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Thriller</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263.0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67.7</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How to Train Your Dragon 2</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Fantasy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154.5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23.5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Earth to Echo</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Family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134.0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Maleficent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Fantasy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117.0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Jersey Boys</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Music</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115.0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5.8</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Edge of Tomorrow</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114.5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6.3</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6309360" y="4480560"/>
            <a:ext cx="5303520" cy="1097280"/>
          </a:xfrm>
          <a:prstGeom prst="rect">
            <a:avLst/>
          </a:prstGeom>
          <a:noFill/>
          <a:ln/>
        </p:spPr>
        <p:txBody>
          <a:bodyPr wrap="square" lIns="0" tIns="0" rIns="0" bIns="0" rtlCol="0" anchor="t"/>
          <a:lstStyle/>
          <a:p>
            <a:pPr indent="0" marL="0">
              <a:buNone/>
            </a:pPr>
            <a:r>
              <a:rPr lang="en-US" sz="1400" dirty="0">
                <a:solidFill>
                  <a:schemeClr val="tx1"/>
                </a:solidFill>
              </a:rPr>
              <a:t>8 of 15 candidates licensed; spend ₹19,99,500 of ₹20,00,000. Transformers (165 min) and Boyhood (164 min) cannot fit a slot, so they are never licensed.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1: why an exact ILP, and what the duals say</a:t>
            </a:r>
            <a:endParaRPr lang="en-US" sz="3400" dirty="0"/>
          </a:p>
        </p:txBody>
      </p:sp>
      <p:sp>
        <p:nvSpPr>
          <p:cNvPr id="3" name="card Greedy fails"/>
          <p:cNvSpPr/>
          <p:nvPr/>
        </p:nvSpPr>
        <p:spPr>
          <a:xfrm>
            <a:off x="548640" y="1234440"/>
            <a:ext cx="3566160" cy="3108960"/>
          </a:xfrm>
          <a:prstGeom prst="roundRect">
            <a:avLst>
              <a:gd name="adj" fmla="val 2353"/>
            </a:avLst>
          </a:prstGeom>
          <a:solidFill>
            <a:schemeClr val="bg2"/>
          </a:solidFill>
          <a:ln w="12700">
            <a:solidFill>
              <a:schemeClr val="bg2"/>
            </a:solidFill>
            <a:prstDash val="solid"/>
          </a:ln>
        </p:spPr>
      </p:sp>
      <p:sp>
        <p:nvSpPr>
          <p:cNvPr id="4" name="text Greedy fails"/>
          <p:cNvSpPr txBox="1"/>
          <p:nvPr/>
        </p:nvSpPr>
        <p:spPr>
          <a:xfrm>
            <a:off x="731520" y="1371600"/>
            <a:ext cx="3200400" cy="28346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Greedy fails</a:t>
            </a:r>
            <a:endParaRPr lang="en-US" sz="1600" dirty="0"/>
          </a:p>
          <a:p>
            <a:pPr indent="0" marL="0">
              <a:spcAft>
                <a:spcPts val="400"/>
              </a:spcAft>
              <a:buNone/>
            </a:pPr>
            <a:r>
              <a:rPr lang="en-US" sz="1600" dirty="0">
                <a:solidFill>
                  <a:schemeClr val="tx1"/>
                </a:solidFill>
              </a:rPr>
              <a:t>The classic value-per-rupee greedy rule picks only 6 films and breaks the 8-film minimum. Side constraints are exactly why an exact ILP is needed.</a:t>
            </a:r>
            <a:endParaRPr lang="en-US" sz="1600" dirty="0"/>
          </a:p>
        </p:txBody>
      </p:sp>
      <p:sp>
        <p:nvSpPr>
          <p:cNvPr id="5" name="card LP relaxation"/>
          <p:cNvSpPr/>
          <p:nvPr/>
        </p:nvSpPr>
        <p:spPr>
          <a:xfrm>
            <a:off x="4297680" y="1234440"/>
            <a:ext cx="3566160" cy="3108960"/>
          </a:xfrm>
          <a:prstGeom prst="roundRect">
            <a:avLst>
              <a:gd name="adj" fmla="val 2353"/>
            </a:avLst>
          </a:prstGeom>
          <a:solidFill>
            <a:schemeClr val="bg2"/>
          </a:solidFill>
          <a:ln w="12700">
            <a:solidFill>
              <a:schemeClr val="bg2"/>
            </a:solidFill>
            <a:prstDash val="solid"/>
          </a:ln>
        </p:spPr>
      </p:sp>
      <p:sp>
        <p:nvSpPr>
          <p:cNvPr id="6" name="text LP relaxation"/>
          <p:cNvSpPr txBox="1"/>
          <p:nvPr/>
        </p:nvSpPr>
        <p:spPr>
          <a:xfrm>
            <a:off x="4480560" y="1371600"/>
            <a:ext cx="3200400" cy="283464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rPr>
              <a:t>LP relaxation</a:t>
            </a:r>
            <a:endParaRPr lang="en-US" sz="1600" dirty="0"/>
          </a:p>
          <a:p>
            <a:pPr indent="0" marL="0">
              <a:spcAft>
                <a:spcPts val="400"/>
              </a:spcAft>
              <a:buNone/>
            </a:pPr>
            <a:r>
              <a:rPr lang="en-US" sz="1600" dirty="0">
                <a:solidFill>
                  <a:schemeClr val="tx1"/>
                </a:solidFill>
              </a:rPr>
              <a:t>Relaxing y to [0,1] gives a bound 4.77% above the ILP, but only by licensing fractions of films (Lucy 0.73, Maleficent 0.27). Whole films cost 4.77% of value.</a:t>
            </a:r>
            <a:endParaRPr lang="en-US" sz="1600" dirty="0"/>
          </a:p>
        </p:txBody>
      </p:sp>
      <p:sp>
        <p:nvSpPr>
          <p:cNvPr id="7" name="card Shadow prices"/>
          <p:cNvSpPr/>
          <p:nvPr/>
        </p:nvSpPr>
        <p:spPr>
          <a:xfrm>
            <a:off x="8046720" y="1234440"/>
            <a:ext cx="3566160" cy="3108960"/>
          </a:xfrm>
          <a:prstGeom prst="roundRect">
            <a:avLst>
              <a:gd name="adj" fmla="val 2353"/>
            </a:avLst>
          </a:prstGeom>
          <a:solidFill>
            <a:schemeClr val="bg2"/>
          </a:solidFill>
          <a:ln w="12700">
            <a:solidFill>
              <a:schemeClr val="bg2"/>
            </a:solidFill>
            <a:prstDash val="solid"/>
          </a:ln>
        </p:spPr>
      </p:sp>
      <p:sp>
        <p:nvSpPr>
          <p:cNvPr id="8" name="text Shadow prices"/>
          <p:cNvSpPr txBox="1"/>
          <p:nvPr/>
        </p:nvSpPr>
        <p:spPr>
          <a:xfrm>
            <a:off x="8229600" y="1371600"/>
            <a:ext cx="3200400" cy="2834640"/>
          </a:xfrm>
          <a:prstGeom prst="rect">
            <a:avLst/>
          </a:prstGeom>
          <a:noFill/>
          <a:ln/>
        </p:spPr>
        <p:txBody>
          <a:bodyPr wrap="square" lIns="0" tIns="0" rIns="0" bIns="0" rtlCol="0" anchor="t"/>
          <a:lstStyle/>
          <a:p>
            <a:pPr indent="0" marL="0">
              <a:spcAft>
                <a:spcPts val="400"/>
              </a:spcAft>
              <a:buNone/>
            </a:pPr>
            <a:r>
              <a:rPr lang="en-US" sz="1600" b="1" dirty="0">
                <a:solidFill>
                  <a:schemeClr val="accent5"/>
                </a:solidFill>
              </a:rPr>
              <a:t>Shadow prices</a:t>
            </a:r>
            <a:endParaRPr lang="en-US" sz="1500" dirty="0"/>
          </a:p>
          <a:p>
            <a:pPr indent="0" marL="0">
              <a:spcAft>
                <a:spcPts val="400"/>
              </a:spcAft>
              <a:buNone/>
            </a:pPr>
            <a:r>
              <a:rPr lang="en-US" sz="1500" dirty="0">
                <a:solidFill>
                  <a:schemeClr val="tx1"/>
                </a:solidFill>
              </a:rPr>
              <a:t>Budget: +0.273 value per extra rupee, valid for budgets ₹15.0–21.9 L.</a:t>
            </a:r>
            <a:endParaRPr lang="en-US" sz="1500" dirty="0"/>
          </a:p>
          <a:p>
            <a:pPr indent="0" marL="0">
              <a:spcAft>
                <a:spcPts val="400"/>
              </a:spcAft>
              <a:buNone/>
            </a:pPr>
            <a:r>
              <a:rPr lang="en-US" sz="1500" dirty="0">
                <a:solidFill>
                  <a:schemeClr val="tx1"/>
                </a:solidFill>
              </a:rPr>
              <a:t>Film-count rule: −₹24,486 of daily value per extra film required.</a:t>
            </a:r>
            <a:endParaRPr lang="en-US" sz="1500" dirty="0"/>
          </a:p>
          <a:p>
            <a:pPr indent="0" marL="0">
              <a:spcAft>
                <a:spcPts val="400"/>
              </a:spcAft>
              <a:buNone/>
            </a:pPr>
            <a:r>
              <a:rPr lang="en-US" sz="1500" dirty="0">
                <a:solidFill>
                  <a:schemeClr val="tx1"/>
                </a:solidFill>
              </a:rPr>
              <a:t>Runtime rule: allowing Transformers would add ₹22,993.</a:t>
            </a:r>
            <a:endParaRPr lang="en-US" sz="1500" dirty="0"/>
          </a:p>
        </p:txBody>
      </p:sp>
      <p:sp>
        <p:nvSpPr>
          <p:cNvPr id="9" name="model 1 reading"/>
          <p:cNvSpPr/>
          <p:nvPr/>
        </p:nvSpPr>
        <p:spPr>
          <a:xfrm>
            <a:off x="548640" y="4572000"/>
            <a:ext cx="11064240" cy="1417320"/>
          </a:xfrm>
          <a:prstGeom prst="roundRect">
            <a:avLst>
              <a:gd name="adj" fmla="val 5161"/>
            </a:avLst>
          </a:prstGeom>
          <a:solidFill>
            <a:schemeClr val="tx2"/>
          </a:solidFill>
          <a:ln w="12700">
            <a:solidFill>
              <a:schemeClr val="tx2"/>
            </a:solidFill>
            <a:prstDash val="solid"/>
          </a:ln>
        </p:spPr>
      </p:sp>
      <p:sp>
        <p:nvSpPr>
          <p:cNvPr id="10" name="Text 8"/>
          <p:cNvSpPr txBox="1"/>
          <p:nvPr/>
        </p:nvSpPr>
        <p:spPr>
          <a:xfrm>
            <a:off x="777240" y="4709160"/>
            <a:ext cx="10607040" cy="1143000"/>
          </a:xfrm>
          <a:prstGeom prst="rect">
            <a:avLst/>
          </a:prstGeom>
          <a:noFill/>
          <a:ln/>
        </p:spPr>
        <p:txBody>
          <a:bodyPr wrap="square" lIns="0" tIns="0" rIns="0" bIns="0" rtlCol="0" anchor="ctr"/>
          <a:lstStyle/>
          <a:p>
            <a:pPr indent="0" marL="0">
              <a:buNone/>
            </a:pPr>
            <a:r>
              <a:rPr lang="en-US" sz="1600" b="1" dirty="0">
                <a:solidFill>
                  <a:schemeClr val="accent2"/>
                </a:solidFill>
              </a:rPr>
              <a:t>Reading  </a:t>
            </a:r>
            <a:pPr indent="0" marL="0">
              <a:buNone/>
            </a:pPr>
            <a:r>
              <a:rPr lang="en-US" sz="1600" dirty="0">
                <a:solidFill>
                  <a:schemeClr val="bg1"/>
                </a:solidFill>
              </a:rPr>
              <a:t>the budget and the 8-film rule both bind, so the knapsack is a real trade-off. Without the 8-film rule it picks the same films as a simple demand ranking, so its value is meeting budget, count and content rules together and exactly.</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2 · Transportation: capacity per genre</a:t>
            </a:r>
            <a:endParaRPr lang="en-US" sz="3400" dirty="0"/>
          </a:p>
        </p:txBody>
      </p:sp>
      <p:sp>
        <p:nvSpPr>
          <p:cNvPr id="3" name="Text 1"/>
          <p:cNvSpPr txBox="1"/>
          <p:nvPr/>
        </p:nvSpPr>
        <p:spPr>
          <a:xfrm>
            <a:off x="548640" y="1234440"/>
            <a:ext cx="4754880" cy="30175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 Supply: </a:t>
            </a:r>
            <a:pPr indent="0" marL="0">
              <a:spcAft>
                <a:spcPts val="600"/>
              </a:spcAft>
              <a:buNone/>
            </a:pPr>
            <a:r>
              <a:rPr lang="en-US" sz="1400" dirty="0">
                <a:solidFill>
                  <a:schemeClr val="tx1"/>
                </a:solidFill>
              </a:rPr>
              <a:t>each screen offers 6 show-slots</a:t>
            </a:r>
            <a:endParaRPr lang="en-US" sz="1400" dirty="0"/>
          </a:p>
          <a:p>
            <a:pPr marL="342900" indent="-342900">
              <a:spcAft>
                <a:spcPts val="600"/>
              </a:spcAft>
              <a:buSzPct val="100000"/>
              <a:buChar char="•"/>
            </a:pPr>
            <a:r>
              <a:rPr lang="en-US" sz="1400" b="1" dirty="0">
                <a:solidFill>
                  <a:schemeClr val="tx1"/>
                </a:solidFill>
              </a:rPr>
              <a:t> Demand: </a:t>
            </a:r>
            <a:pPr indent="0" marL="0">
              <a:spcAft>
                <a:spcPts val="600"/>
              </a:spcAft>
              <a:buNone/>
            </a:pPr>
            <a:r>
              <a:rPr lang="en-US" sz="1400" dirty="0">
                <a:solidFill>
                  <a:schemeClr val="tx1"/>
                </a:solidFill>
              </a:rPr>
              <a:t>genre g needs b_g shows (30 in total)</a:t>
            </a:r>
            <a:endParaRPr lang="en-US" sz="1400" dirty="0"/>
          </a:p>
          <a:p>
            <a:pPr marL="342900" indent="-342900">
              <a:spcAft>
                <a:spcPts val="600"/>
              </a:spcAft>
              <a:buSzPct val="100000"/>
              <a:buChar char="•"/>
            </a:pPr>
            <a:r>
              <a:rPr lang="en-US" sz="1400" b="1" dirty="0">
                <a:solidFill>
                  <a:schemeClr val="tx1"/>
                </a:solidFill>
              </a:rPr>
              <a:t> Cost: </a:t>
            </a:r>
            <a:pPr indent="0" marL="0">
              <a:spcAft>
                <a:spcPts val="600"/>
              </a:spcAft>
              <a:buNone/>
            </a:pPr>
            <a:r>
              <a:rPr lang="en-US" sz="1400" dirty="0">
                <a:solidFill>
                  <a:schemeClr val="tx1"/>
                </a:solidFill>
              </a:rPr>
              <a:t>c_sg = lost tickets + empty seats on screen s for genre g (₹20 per empty seat)</a:t>
            </a:r>
            <a:endParaRPr lang="en-US" sz="1400" dirty="0"/>
          </a:p>
          <a:p>
            <a:pPr marL="342900" indent="-342900">
              <a:spcAft>
                <a:spcPts val="600"/>
              </a:spcAft>
              <a:buSzPct val="100000"/>
              <a:buChar char="•"/>
            </a:pPr>
            <a:r>
              <a:rPr lang="en-US" sz="1400" b="1" dirty="0">
                <a:solidFill>
                  <a:schemeClr val="tx1"/>
                </a:solidFill>
              </a:rPr>
              <a:t> Quota: </a:t>
            </a:r>
            <a:pPr indent="0" marL="0">
              <a:spcAft>
                <a:spcPts val="600"/>
              </a:spcAft>
              <a:buNone/>
            </a:pPr>
            <a:r>
              <a:rPr lang="en-US" sz="1400" dirty="0">
                <a:solidFill>
                  <a:schemeClr val="tx1"/>
                </a:solidFill>
              </a:rPr>
              <a:t>each film gets shows ∝ its demand, clipped to 1–5; summed per genre</a:t>
            </a:r>
            <a:endParaRPr lang="en-US" sz="1400" dirty="0"/>
          </a:p>
          <a:p>
            <a:pPr marL="342900" indent="-342900">
              <a:spcAft>
                <a:spcPts val="600"/>
              </a:spcAft>
              <a:buSzPct val="100000"/>
              <a:buChar char="•"/>
            </a:pPr>
            <a:r>
              <a:rPr lang="en-US" sz="1400" b="1" dirty="0">
                <a:solidFill>
                  <a:schemeClr val="tx1"/>
                </a:solidFill>
              </a:rPr>
              <a:t> Integral: </a:t>
            </a:r>
            <a:pPr indent="0" marL="0">
              <a:spcAft>
                <a:spcPts val="600"/>
              </a:spcAft>
              <a:buNone/>
            </a:pPr>
            <a:r>
              <a:rPr lang="en-US" sz="1400" dirty="0">
                <a:solidFill>
                  <a:schemeClr val="tx1"/>
                </a:solidFill>
              </a:rPr>
              <a:t>the matrix is totally unimodular, so the LP optimum needs no integer constraints</a:t>
            </a:r>
            <a:endParaRPr lang="en-US" sz="1400" dirty="0"/>
          </a:p>
        </p:txBody>
      </p:sp>
      <p:sp>
        <p:nvSpPr>
          <p:cNvPr id="4" name="Text 2"/>
          <p:cNvSpPr txBox="1"/>
          <p:nvPr/>
        </p:nvSpPr>
        <p:spPr>
          <a:xfrm>
            <a:off x="548640" y="4343400"/>
            <a:ext cx="4937760" cy="548640"/>
          </a:xfrm>
          <a:prstGeom prst="rect">
            <a:avLst/>
          </a:prstGeom>
          <a:noFill/>
          <a:ln/>
        </p:spPr>
        <p:txBody>
          <a:bodyPr wrap="square" lIns="0" tIns="0" rIns="0" bIns="0" rtlCol="0" anchor="t"/>
          <a:lstStyle/>
          <a:p>
            <a:pPr indent="0" marL="0">
              <a:buNone/>
            </a:pPr>
            <a:r>
              <a:rPr lang="en-US" sz="1500" b="1" dirty="0">
                <a:solidFill>
                  <a:schemeClr val="accent1"/>
                </a:solidFill>
              </a:rPr>
              <a:t>min Σ c_sg x_sg  s.t.  Σ_g x_sg = 6,  Σ_s x_sg = b_g,  x ≥ 0</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0" y="1325880"/>
          <a:ext cx="5943600" cy="914400"/>
        </p:xfrm>
        <a:graphic>
          <a:graphicData uri="http://schemas.openxmlformats.org/drawingml/2006/table">
            <a:tbl>
              <a:tblPr/>
              <a:tblGrid>
                <a:gridCol w="914400"/>
                <a:gridCol w="685800"/>
                <a:gridCol w="685800"/>
                <a:gridCol w="777240"/>
                <a:gridCol w="777240"/>
                <a:gridCol w="685800"/>
                <a:gridCol w="640080"/>
                <a:gridCol w="777240"/>
              </a:tblGrid>
              <a:tr h="0">
                <a:tc>
                  <a:txBody>
                    <a:bodyPr/>
                    <a:lstStyle/>
                    <a:p>
                      <a:pPr indent="0" marL="0">
                        <a:buNone/>
                      </a:pPr>
                      <a:r>
                        <a:rPr lang="en-US" sz="1200" b="1" dirty="0">
                          <a:solidFill>
                            <a:schemeClr val="bg1"/>
                          </a:solidFill>
                        </a:rPr>
                        <a:t>Screen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Action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Sci-Fi</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Thriller</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Fantasy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Family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Music</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Preferred</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tx1"/>
                          </a:solidFill>
                        </a:rPr>
                        <a:t>0 (250)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1 (180)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Thriller</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2 (180)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tx1"/>
                          </a:solidFill>
                        </a:rPr>
                        <a:t>3</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tx1"/>
                          </a:solidFill>
                        </a:rPr>
                        <a:t>2</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indent="0" marL="0">
                        <a:buNone/>
                      </a:pPr>
                      <a:r>
                        <a:rPr lang="en-US" sz="1200" dirty="0">
                          <a:solidFill>
                            <a:schemeClr val="tx1"/>
                          </a:solidFill>
                        </a:rPr>
                        <a:t>Family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3 (120)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Fantasy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4 (120)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accent4"/>
                          </a:solidFill>
                        </a:rPr>
                        <a: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Sci-Fi</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Quota b_g</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7</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7</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2</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M3</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669280" y="3931920"/>
            <a:ext cx="5943600" cy="1737360"/>
          </a:xfrm>
          <a:prstGeom prst="rect">
            <a:avLst/>
          </a:prstGeom>
          <a:noFill/>
          <a:ln/>
        </p:spPr>
        <p:txBody>
          <a:bodyPr wrap="square" lIns="0" tIns="0" rIns="0" bIns="0" rtlCol="0" anchor="t"/>
          <a:lstStyle/>
          <a:p>
            <a:pPr indent="0" marL="0">
              <a:buNone/>
            </a:pPr>
            <a:r>
              <a:rPr lang="en-US" sz="1400" dirty="0">
                <a:solidFill>
                  <a:schemeClr val="tx1"/>
                </a:solidFill>
              </a:rPr>
              <a:t>Result: optimal show allocation x[s,g]. The large screen carries Action; the 120-seat screens carry lower-demand genres, where empty seats cost least. The preferred genre of each screen becomes a hard constraint in Model 3; the whole matrix is a goal in Model 4.</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2: value, optimality test and alternatives</a:t>
            </a:r>
            <a:endParaRPr lang="en-US" sz="3400" dirty="0"/>
          </a:p>
        </p:txBody>
      </p:sp>
      <p:sp>
        <p:nvSpPr>
          <p:cNvPr id="3" name="card Value of optimising"/>
          <p:cNvSpPr/>
          <p:nvPr/>
        </p:nvSpPr>
        <p:spPr>
          <a:xfrm>
            <a:off x="548640" y="1234440"/>
            <a:ext cx="5669280" cy="1188720"/>
          </a:xfrm>
          <a:prstGeom prst="roundRect">
            <a:avLst>
              <a:gd name="adj" fmla="val 6154"/>
            </a:avLst>
          </a:prstGeom>
          <a:solidFill>
            <a:schemeClr val="bg2"/>
          </a:solidFill>
          <a:ln w="12700">
            <a:solidFill>
              <a:schemeClr val="bg2"/>
            </a:solidFill>
            <a:prstDash val="solid"/>
          </a:ln>
        </p:spPr>
      </p:sp>
      <p:sp>
        <p:nvSpPr>
          <p:cNvPr id="4" name="text Value of optimising"/>
          <p:cNvSpPr txBox="1"/>
          <p:nvPr/>
        </p:nvSpPr>
        <p:spPr>
          <a:xfrm>
            <a:off x="731520" y="1371600"/>
            <a:ext cx="5303520" cy="9144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Value of optimising</a:t>
            </a:r>
            <a:endParaRPr lang="en-US" sz="1400" dirty="0"/>
          </a:p>
          <a:p>
            <a:pPr indent="0" marL="0">
              <a:spcAft>
                <a:spcPts val="400"/>
              </a:spcAft>
              <a:buNone/>
            </a:pPr>
            <a:r>
              <a:rPr lang="en-US" sz="1400" dirty="0">
                <a:solidFill>
                  <a:schemeClr val="tx1"/>
                </a:solidFill>
              </a:rPr>
              <a:t>An even genre mix costs ₹1,43,767/day of mismatch; the optimum costs ₹1,09,548. It saves ₹34,219 a day (23.8%).</a:t>
            </a:r>
            <a:endParaRPr lang="en-US" sz="1400" dirty="0"/>
          </a:p>
        </p:txBody>
      </p:sp>
      <p:sp>
        <p:nvSpPr>
          <p:cNvPr id="5" name="card Duals and the MODI test"/>
          <p:cNvSpPr/>
          <p:nvPr/>
        </p:nvSpPr>
        <p:spPr>
          <a:xfrm>
            <a:off x="548640" y="2560320"/>
            <a:ext cx="5669280" cy="1325880"/>
          </a:xfrm>
          <a:prstGeom prst="roundRect">
            <a:avLst>
              <a:gd name="adj" fmla="val 5517"/>
            </a:avLst>
          </a:prstGeom>
          <a:solidFill>
            <a:schemeClr val="bg2"/>
          </a:solidFill>
          <a:ln w="12700">
            <a:solidFill>
              <a:schemeClr val="bg2"/>
            </a:solidFill>
            <a:prstDash val="solid"/>
          </a:ln>
        </p:spPr>
      </p:sp>
      <p:sp>
        <p:nvSpPr>
          <p:cNvPr id="6" name="text Duals and the MODI test"/>
          <p:cNvSpPr txBox="1"/>
          <p:nvPr/>
        </p:nvSpPr>
        <p:spPr>
          <a:xfrm>
            <a:off x="731520" y="2697480"/>
            <a:ext cx="5303520" cy="105156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Duals and the MODI test</a:t>
            </a:r>
            <a:endParaRPr lang="en-US" sz="1400" dirty="0"/>
          </a:p>
          <a:p>
            <a:pPr indent="0" marL="0">
              <a:spcAft>
                <a:spcPts val="400"/>
              </a:spcAft>
              <a:buNone/>
            </a:pPr>
            <a:r>
              <a:rPr lang="en-US" sz="1400" dirty="0">
                <a:solidFill>
                  <a:schemeClr val="tx1"/>
                </a:solidFill>
              </a:rPr>
              <a:t>Every reduced cost c − u − v is ≥ 0 and 0 on used cells, so the plan is optimal. The 250-seat screen has the lowest potential: its show-slots are the most valuable.</a:t>
            </a:r>
            <a:endParaRPr lang="en-US" sz="1400" dirty="0"/>
          </a:p>
        </p:txBody>
      </p:sp>
      <p:sp>
        <p:nvSpPr>
          <p:cNvPr id="7" name="card Alternative optima"/>
          <p:cNvSpPr/>
          <p:nvPr/>
        </p:nvSpPr>
        <p:spPr>
          <a:xfrm>
            <a:off x="548640" y="4023360"/>
            <a:ext cx="5669280" cy="1097280"/>
          </a:xfrm>
          <a:prstGeom prst="roundRect">
            <a:avLst>
              <a:gd name="adj" fmla="val 6667"/>
            </a:avLst>
          </a:prstGeom>
          <a:solidFill>
            <a:schemeClr val="bg2"/>
          </a:solidFill>
          <a:ln w="12700">
            <a:solidFill>
              <a:schemeClr val="bg2"/>
            </a:solidFill>
            <a:prstDash val="solid"/>
          </a:ln>
        </p:spPr>
      </p:sp>
      <p:sp>
        <p:nvSpPr>
          <p:cNvPr id="8" name="text Alternative optima"/>
          <p:cNvSpPr txBox="1"/>
          <p:nvPr/>
        </p:nvSpPr>
        <p:spPr>
          <a:xfrm>
            <a:off x="731520" y="4160520"/>
            <a:ext cx="5303520" cy="822960"/>
          </a:xfrm>
          <a:prstGeom prst="rect">
            <a:avLst/>
          </a:prstGeom>
          <a:noFill/>
          <a:ln/>
        </p:spPr>
        <p:txBody>
          <a:bodyPr wrap="square" lIns="0" tIns="0" rIns="0" bIns="0" rtlCol="0" anchor="t"/>
          <a:lstStyle/>
          <a:p>
            <a:pPr indent="0" marL="0">
              <a:spcAft>
                <a:spcPts val="400"/>
              </a:spcAft>
              <a:buNone/>
            </a:pPr>
            <a:r>
              <a:rPr lang="en-US" sz="1500" b="1" dirty="0">
                <a:solidFill>
                  <a:schemeClr val="accent5"/>
                </a:solidFill>
              </a:rPr>
              <a:t>Alternative optima</a:t>
            </a:r>
            <a:endParaRPr lang="en-US" sz="1400" dirty="0"/>
          </a:p>
          <a:p>
            <a:pPr indent="0" marL="0">
              <a:spcAft>
                <a:spcPts val="400"/>
              </a:spcAft>
              <a:buNone/>
            </a:pPr>
            <a:r>
              <a:rPr lang="en-US" sz="1400" dirty="0">
                <a:solidFill>
                  <a:schemeClr val="tx1"/>
                </a:solidFill>
              </a:rPr>
              <a:t>The sensitivity report shows 14 unused cells with zero reduced cost: several equally cheap plans exist.</a:t>
            </a:r>
            <a:endParaRPr lang="en-US" sz="1400" dirty="0"/>
          </a:p>
        </p:txBody>
      </p:sp>
      <p:sp>
        <p:nvSpPr>
          <p:cNvPr id="9" name="card A correction we made"/>
          <p:cNvSpPr/>
          <p:nvPr/>
        </p:nvSpPr>
        <p:spPr>
          <a:xfrm>
            <a:off x="548640" y="5257800"/>
            <a:ext cx="5669280" cy="1051560"/>
          </a:xfrm>
          <a:prstGeom prst="roundRect">
            <a:avLst>
              <a:gd name="adj" fmla="val 6957"/>
            </a:avLst>
          </a:prstGeom>
          <a:solidFill>
            <a:schemeClr val="bg2"/>
          </a:solidFill>
          <a:ln w="12700">
            <a:solidFill>
              <a:schemeClr val="bg2"/>
            </a:solidFill>
            <a:prstDash val="solid"/>
          </a:ln>
        </p:spPr>
      </p:sp>
      <p:sp>
        <p:nvSpPr>
          <p:cNvPr id="10" name="text A correction we made"/>
          <p:cNvSpPr txBox="1"/>
          <p:nvPr/>
        </p:nvSpPr>
        <p:spPr>
          <a:xfrm>
            <a:off x="731520" y="5394960"/>
            <a:ext cx="5303520" cy="77724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A correction we made</a:t>
            </a:r>
            <a:endParaRPr lang="en-US" sz="1400" dirty="0"/>
          </a:p>
          <a:p>
            <a:pPr indent="0" marL="0">
              <a:spcAft>
                <a:spcPts val="400"/>
              </a:spcAft>
              <a:buNone/>
            </a:pPr>
            <a:r>
              <a:rPr lang="en-US" sz="1400" dirty="0">
                <a:solidFill>
                  <a:schemeClr val="tx1"/>
                </a:solidFill>
              </a:rPr>
              <a:t>Quotas per genre gave Action 10 shows because Lucy is strong. Per film gives 7.</a:t>
            </a:r>
            <a:endParaRPr lang="en-US" sz="1400" dirty="0"/>
          </a:p>
        </p:txBody>
      </p:sp>
      <p:graphicFrame>
        <p:nvGraphicFramePr>
          <p:cNvPr id="11" name="Chart 0" descr=""/>
          <p:cNvGraphicFramePr/>
          <p:nvPr/>
        </p:nvGraphicFramePr>
        <p:xfrm>
          <a:off x="6492240" y="1234440"/>
          <a:ext cx="5120640" cy="384048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6492240" y="5212080"/>
            <a:ext cx="5120640" cy="914400"/>
          </a:xfrm>
          <a:prstGeom prst="rect">
            <a:avLst/>
          </a:prstGeom>
          <a:noFill/>
          <a:ln/>
        </p:spPr>
        <p:txBody>
          <a:bodyPr wrap="square" lIns="0" tIns="0" rIns="0" bIns="0" rtlCol="0" anchor="t"/>
          <a:lstStyle/>
          <a:p>
            <a:pPr indent="0" marL="0">
              <a:buNone/>
            </a:pPr>
            <a:r>
              <a:rPr lang="en-US" sz="1400" dirty="0">
                <a:solidFill>
                  <a:schemeClr val="accent4"/>
                </a:solidFill>
              </a:rPr>
              <a:t>Saves ₹34,219 a day (23.8%) of lost tickets and empty seats by putting the right genres on the right screen sizes.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3 · Assignment: the revenue-optimal timetable</a:t>
            </a:r>
            <a:endParaRPr lang="en-US" sz="3400" dirty="0"/>
          </a:p>
        </p:txBody>
      </p:sp>
      <p:sp>
        <p:nvSpPr>
          <p:cNvPr id="3"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400" b="1" dirty="0">
                <a:solidFill>
                  <a:schemeClr val="accent1"/>
                </a:solidFill>
              </a:rPr>
              <a:t>Decision  </a:t>
            </a:r>
            <a:pPr indent="0" marL="0">
              <a:buNone/>
            </a:pPr>
            <a:r>
              <a:rPr lang="en-US" sz="1400" dirty="0">
                <a:solidFill>
                  <a:schemeClr val="tx1"/>
                </a:solidFill>
              </a:rPr>
              <a:t>a[i,j,s] ∈ {0,1}: film i plays slot j on screen s.   </a:t>
            </a:r>
            <a:pPr indent="0" marL="0">
              <a:buNone/>
            </a:pPr>
            <a:r>
              <a:rPr lang="en-US" sz="1400" b="1" dirty="0">
                <a:solidFill>
                  <a:schemeClr val="accent1"/>
                </a:solidFill>
              </a:rPr>
              <a:t>Maximise  </a:t>
            </a:r>
            <a:pPr indent="0" marL="0">
              <a:buNone/>
            </a:pPr>
            <a:r>
              <a:rPr lang="en-US" sz="1400" dirty="0">
                <a:solidFill>
                  <a:schemeClr val="tx1"/>
                </a:solidFill>
              </a:rPr>
              <a:t>Σ revenue[i,j,s] · a[i,j,s]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760720" cy="914400"/>
        </p:xfrm>
        <a:graphic>
          <a:graphicData uri="http://schemas.openxmlformats.org/drawingml/2006/table">
            <a:tbl>
              <a:tblPr/>
              <a:tblGrid>
                <a:gridCol w="548640"/>
                <a:gridCol w="2926080"/>
                <a:gridCol w="2286000"/>
              </a:tblGrid>
              <a:tr h="0">
                <a:tc>
                  <a:txBody>
                    <a:bodyPr/>
                    <a:lstStyle/>
                    <a:p>
                      <a:pPr indent="0" marL="0">
                        <a:buNone/>
                      </a:pP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Constraint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Meaning</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tx1"/>
                          </a:solidFill>
                        </a:rPr>
                        <a:t>C1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 film per screen and slot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show per cell</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C2</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1 screen per film and slot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 simultaneous duplicate</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C3</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 0 if runtime + 20 &gt; 180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show must fit the slot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C4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5 shows per film</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cap on repetition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C5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 show per licensed film</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 paid for it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C6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4 screens open per slot</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minimum operation</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C7</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each screen shows its preferred genre</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from Model 2</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bl>
          </a:graphicData>
        </a:graphic>
      </p:graphicFrame>
      <p:pic>
        <p:nvPicPr>
          <p:cNvPr id="5" name="Image 0" descr="Gantt chart of the revenue-optimal timetable">    </p:cNvPr>
          <p:cNvPicPr>
            <a:picLocks noChangeAspect="1"/>
          </p:cNvPicPr>
          <p:nvPr/>
        </p:nvPicPr>
        <p:blipFill>
          <a:blip r:embed="rId1"/>
          <a:stretch>
            <a:fillRect/>
          </a:stretch>
        </p:blipFill>
        <p:spPr>
          <a:xfrm>
            <a:off x="6583680" y="1691640"/>
            <a:ext cx="5029200" cy="1463216"/>
          </a:xfrm>
          <a:prstGeom prst="rect">
            <a:avLst/>
          </a:prstGeom>
        </p:spPr>
      </p:pic>
      <p:sp>
        <p:nvSpPr>
          <p:cNvPr id="6" name="stat optimal revenue R* per day"/>
          <p:cNvSpPr txBox="1"/>
          <p:nvPr/>
        </p:nvSpPr>
        <p:spPr>
          <a:xfrm>
            <a:off x="6583680" y="3429000"/>
            <a:ext cx="1600200" cy="640080"/>
          </a:xfrm>
          <a:prstGeom prst="rect">
            <a:avLst/>
          </a:prstGeom>
          <a:noFill/>
          <a:ln/>
        </p:spPr>
        <p:txBody>
          <a:bodyPr wrap="square" lIns="0" tIns="0" rIns="0" bIns="0" rtlCol="0" anchor="t"/>
          <a:lstStyle/>
          <a:p>
            <a:pPr indent="0" marL="0">
              <a:buNone/>
            </a:pPr>
            <a:r>
              <a:rPr lang="en-US" sz="2800" b="1" dirty="0">
                <a:solidFill>
                  <a:schemeClr val="accent1"/>
                </a:solidFill>
              </a:rPr>
              <a:t>₹4.20 L</a:t>
            </a:r>
            <a:endParaRPr lang="en-US" sz="2800" dirty="0"/>
          </a:p>
        </p:txBody>
      </p:sp>
      <p:sp>
        <p:nvSpPr>
          <p:cNvPr id="7" name="label optimal revenue R* per day"/>
          <p:cNvSpPr txBox="1"/>
          <p:nvPr/>
        </p:nvSpPr>
        <p:spPr>
          <a:xfrm>
            <a:off x="6583680" y="4050792"/>
            <a:ext cx="1600200" cy="548640"/>
          </a:xfrm>
          <a:prstGeom prst="rect">
            <a:avLst/>
          </a:prstGeom>
          <a:noFill/>
          <a:ln/>
        </p:spPr>
        <p:txBody>
          <a:bodyPr wrap="square" lIns="0" tIns="0" rIns="0" bIns="0" rtlCol="0" anchor="t"/>
          <a:lstStyle/>
          <a:p>
            <a:pPr indent="0" marL="0">
              <a:buNone/>
            </a:pPr>
            <a:r>
              <a:rPr lang="en-US" sz="1200" dirty="0">
                <a:solidFill>
                  <a:schemeClr val="accent4"/>
                </a:solidFill>
              </a:rPr>
              <a:t>optimal revenue R* per day</a:t>
            </a:r>
            <a:endParaRPr lang="en-US" sz="1200" dirty="0"/>
          </a:p>
        </p:txBody>
      </p:sp>
      <p:sp>
        <p:nvSpPr>
          <p:cNvPr id="8" name="stat binary variables, 105 constraints"/>
          <p:cNvSpPr txBox="1"/>
          <p:nvPr/>
        </p:nvSpPr>
        <p:spPr>
          <a:xfrm>
            <a:off x="8275320" y="3429000"/>
            <a:ext cx="1600200" cy="640080"/>
          </a:xfrm>
          <a:prstGeom prst="rect">
            <a:avLst/>
          </a:prstGeom>
          <a:noFill/>
          <a:ln/>
        </p:spPr>
        <p:txBody>
          <a:bodyPr wrap="square" lIns="0" tIns="0" rIns="0" bIns="0" rtlCol="0" anchor="t"/>
          <a:lstStyle/>
          <a:p>
            <a:pPr indent="0" marL="0">
              <a:buNone/>
            </a:pPr>
            <a:r>
              <a:rPr lang="en-US" sz="2800" b="1" dirty="0">
                <a:solidFill>
                  <a:schemeClr val="accent1"/>
                </a:solidFill>
              </a:rPr>
              <a:t>240</a:t>
            </a:r>
            <a:endParaRPr lang="en-US" sz="2800" dirty="0"/>
          </a:p>
        </p:txBody>
      </p:sp>
      <p:sp>
        <p:nvSpPr>
          <p:cNvPr id="9" name="label binary variables, 105 constraints"/>
          <p:cNvSpPr txBox="1"/>
          <p:nvPr/>
        </p:nvSpPr>
        <p:spPr>
          <a:xfrm>
            <a:off x="8275320" y="4050792"/>
            <a:ext cx="1600200" cy="548640"/>
          </a:xfrm>
          <a:prstGeom prst="rect">
            <a:avLst/>
          </a:prstGeom>
          <a:noFill/>
          <a:ln/>
        </p:spPr>
        <p:txBody>
          <a:bodyPr wrap="square" lIns="0" tIns="0" rIns="0" bIns="0" rtlCol="0" anchor="t"/>
          <a:lstStyle/>
          <a:p>
            <a:pPr indent="0" marL="0">
              <a:buNone/>
            </a:pPr>
            <a:r>
              <a:rPr lang="en-US" sz="1200" dirty="0">
                <a:solidFill>
                  <a:schemeClr val="accent4"/>
                </a:solidFill>
              </a:rPr>
              <a:t>binary variables, 105 constraints</a:t>
            </a:r>
            <a:endParaRPr lang="en-US" sz="1200" dirty="0"/>
          </a:p>
        </p:txBody>
      </p:sp>
      <p:sp>
        <p:nvSpPr>
          <p:cNvPr id="10" name="stat to proven optimality (CBC)"/>
          <p:cNvSpPr txBox="1"/>
          <p:nvPr/>
        </p:nvSpPr>
        <p:spPr>
          <a:xfrm>
            <a:off x="9966960" y="3429000"/>
            <a:ext cx="1645920" cy="640080"/>
          </a:xfrm>
          <a:prstGeom prst="rect">
            <a:avLst/>
          </a:prstGeom>
          <a:noFill/>
          <a:ln/>
        </p:spPr>
        <p:txBody>
          <a:bodyPr wrap="square" lIns="0" tIns="0" rIns="0" bIns="0" rtlCol="0" anchor="t"/>
          <a:lstStyle/>
          <a:p>
            <a:pPr indent="0" marL="0">
              <a:buNone/>
            </a:pPr>
            <a:r>
              <a:rPr lang="en-US" sz="2800" b="1" dirty="0">
                <a:solidFill>
                  <a:schemeClr val="accent1"/>
                </a:solidFill>
              </a:rPr>
              <a:t>0.1 s</a:t>
            </a:r>
            <a:endParaRPr lang="en-US" sz="2800" dirty="0"/>
          </a:p>
        </p:txBody>
      </p:sp>
      <p:sp>
        <p:nvSpPr>
          <p:cNvPr id="11" name="label to proven optimality (CBC)"/>
          <p:cNvSpPr txBox="1"/>
          <p:nvPr/>
        </p:nvSpPr>
        <p:spPr>
          <a:xfrm>
            <a:off x="9966960" y="4050792"/>
            <a:ext cx="1645920" cy="548640"/>
          </a:xfrm>
          <a:prstGeom prst="rect">
            <a:avLst/>
          </a:prstGeom>
          <a:noFill/>
          <a:ln/>
        </p:spPr>
        <p:txBody>
          <a:bodyPr wrap="square" lIns="0" tIns="0" rIns="0" bIns="0" rtlCol="0" anchor="t"/>
          <a:lstStyle/>
          <a:p>
            <a:pPr indent="0" marL="0">
              <a:buNone/>
            </a:pPr>
            <a:r>
              <a:rPr lang="en-US" sz="1200" dirty="0">
                <a:solidFill>
                  <a:schemeClr val="accent4"/>
                </a:solidFill>
              </a:rPr>
              <a:t>to proven optimality (CBC)</a:t>
            </a:r>
            <a:endParaRPr lang="en-US" sz="1200" dirty="0"/>
          </a:p>
        </p:txBody>
      </p:sp>
      <p:sp>
        <p:nvSpPr>
          <p:cNvPr id="12" name="Text 8"/>
          <p:cNvSpPr txBox="1"/>
          <p:nvPr/>
        </p:nvSpPr>
        <p:spPr>
          <a:xfrm>
            <a:off x="6583680" y="4754880"/>
            <a:ext cx="5029200" cy="1280160"/>
          </a:xfrm>
          <a:prstGeom prst="rect">
            <a:avLst/>
          </a:prstGeom>
          <a:noFill/>
          <a:ln/>
        </p:spPr>
        <p:txBody>
          <a:bodyPr wrap="square" lIns="0" tIns="0" rIns="0" bIns="0" rtlCol="0" anchor="t"/>
          <a:lstStyle/>
          <a:p>
            <a:pPr indent="0" marL="0">
              <a:buNone/>
            </a:pPr>
            <a:r>
              <a:rPr lang="en-US" sz="1400" dirty="0">
                <a:solidFill>
                  <a:schemeClr val="tx1"/>
                </a:solidFill>
              </a:rPr>
              <a:t>R* = ₹4,19,711. Average occupancy 36.6%, prime-time 54.6%, 208 people turned away; 29 of 30 cells used. R* becomes the revenue target of Model 4.</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4 · Goal programming with AHP weights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040880" cy="914400"/>
        </p:xfrm>
        <a:graphic>
          <a:graphicData uri="http://schemas.openxmlformats.org/drawingml/2006/table">
            <a:tbl>
              <a:tblPr/>
              <a:tblGrid>
                <a:gridCol w="2377440"/>
                <a:gridCol w="2194560"/>
                <a:gridCol w="1188720"/>
                <a:gridCol w="1280160"/>
              </a:tblGrid>
              <a:tr h="0">
                <a:tc>
                  <a:txBody>
                    <a:bodyPr/>
                    <a:lstStyle/>
                    <a:p>
                      <a:pPr indent="0" marL="0">
                        <a:buNone/>
                      </a:pPr>
                      <a:r>
                        <a:rPr lang="en-US" sz="1300" b="1" dirty="0">
                          <a:solidFill>
                            <a:schemeClr val="bg1"/>
                          </a:solidFill>
                        </a:rPr>
                        <a:t>Goal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Aspiration (target)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Penalise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AHP weight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tx1"/>
                          </a:solidFill>
                        </a:rPr>
                        <a:t>G1 Revenue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 R* from Model 3</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shortfall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0.399</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G2 Average occupancy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Model 3 + 3 points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shortfall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0.095</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G3 Prime-time genres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Model 3 + 1 genre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shortfall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0.095</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G4 Idle time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Model 3 − 5 min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excess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0.051</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G5 Prime-time occupancy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Model 3 + 3 points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shortfall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0.170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G6 Follow Model 2 plan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shows = x[s,g]</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deviation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0.190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3749040"/>
            <a:ext cx="7040880" cy="22860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Objective  </a:t>
            </a:r>
            <a:pPr indent="0" marL="0">
              <a:spcAft>
                <a:spcPts val="600"/>
              </a:spcAft>
              <a:buNone/>
            </a:pPr>
            <a:r>
              <a:rPr lang="en-US" sz="1500" dirty="0">
                <a:solidFill>
                  <a:schemeClr val="tx1"/>
                </a:solidFill>
              </a:rPr>
              <a:t>min Σ wₖ · (unwanted deviation of goal k), subject to the same hard rules C1–C7. Each goal is normalised, so ₹, %, genres and minutes are comparable. Ratio goals are linearised.</a:t>
            </a:r>
            <a:endParaRPr lang="en-US" sz="1500" dirty="0"/>
          </a:p>
          <a:p>
            <a:pPr indent="0" marL="0">
              <a:spcAft>
                <a:spcPts val="600"/>
              </a:spcAft>
              <a:buNone/>
            </a:pPr>
            <a:r>
              <a:rPr lang="en-US" sz="1500" dirty="0">
                <a:solidFill>
                  <a:schemeClr val="accent4"/>
                </a:solidFill>
              </a:rPr>
              <a:t>Targets are one step better than Model 3, so the goals genuinely conflict; otherwise goal programming would just return Model 3.</a:t>
            </a:r>
            <a:endParaRPr lang="en-US" sz="1500" dirty="0"/>
          </a:p>
        </p:txBody>
      </p:sp>
      <p:sp>
        <p:nvSpPr>
          <p:cNvPr id="5" name="card AHP: where the weights come from"/>
          <p:cNvSpPr/>
          <p:nvPr/>
        </p:nvSpPr>
        <p:spPr>
          <a:xfrm>
            <a:off x="7955280" y="1234440"/>
            <a:ext cx="3657600" cy="3200400"/>
          </a:xfrm>
          <a:prstGeom prst="roundRect">
            <a:avLst>
              <a:gd name="adj" fmla="val 2286"/>
            </a:avLst>
          </a:prstGeom>
          <a:solidFill>
            <a:schemeClr val="bg2"/>
          </a:solidFill>
          <a:ln w="12700">
            <a:solidFill>
              <a:schemeClr val="bg2"/>
            </a:solidFill>
            <a:prstDash val="solid"/>
          </a:ln>
        </p:spPr>
      </p:sp>
      <p:sp>
        <p:nvSpPr>
          <p:cNvPr id="6" name="text AHP: where the weights come from"/>
          <p:cNvSpPr txBox="1"/>
          <p:nvPr/>
        </p:nvSpPr>
        <p:spPr>
          <a:xfrm>
            <a:off x="8138160" y="1371600"/>
            <a:ext cx="3291840" cy="292608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AHP: where the weights come from</a:t>
            </a:r>
            <a:endParaRPr lang="en-US" sz="1400" dirty="0"/>
          </a:p>
          <a:p>
            <a:pPr indent="0" marL="0">
              <a:spcAft>
                <a:spcPts val="400"/>
              </a:spcAft>
              <a:buNone/>
            </a:pPr>
            <a:r>
              <a:rPr lang="en-US" sz="1400" dirty="0">
                <a:solidFill>
                  <a:schemeClr val="tx1"/>
                </a:solidFill>
              </a:rPr>
              <a:t>Goals are compared in pairs on Saaty's 1–9 scale (revenue first, capacity plan second, idle time last). The weights are the principal eigenvector.</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b="1" dirty="0">
                <a:solidFill>
                  <a:schemeClr val="tx1"/>
                </a:solidFill>
              </a:rPr>
              <a:t>λmax = 6.024</a:t>
            </a:r>
            <a:endParaRPr lang="en-US" sz="1400" dirty="0"/>
          </a:p>
          <a:p>
            <a:pPr indent="0" marL="0">
              <a:spcAft>
                <a:spcPts val="400"/>
              </a:spcAft>
              <a:buNone/>
            </a:pPr>
            <a:r>
              <a:rPr lang="en-US" sz="1400" b="1" dirty="0">
                <a:solidFill>
                  <a:schemeClr val="tx1"/>
                </a:solidFill>
              </a:rPr>
              <a:t>CI = 0.0048,  RI(6) = 1.24</a:t>
            </a:r>
            <a:endParaRPr lang="en-US" sz="1400" dirty="0"/>
          </a:p>
          <a:p>
            <a:pPr indent="0" marL="0">
              <a:spcAft>
                <a:spcPts val="400"/>
              </a:spcAft>
              <a:buNone/>
            </a:pPr>
            <a:r>
              <a:rPr lang="en-US" sz="1400" b="1" dirty="0">
                <a:solidFill>
                  <a:schemeClr val="accent6"/>
                </a:solidFill>
              </a:rPr>
              <a:t>CR = 0.004 &lt; 0.10: consistent</a:t>
            </a:r>
            <a:endParaRPr lang="en-US" sz="1400" dirty="0"/>
          </a:p>
        </p:txBody>
      </p:sp>
      <p:sp>
        <p:nvSpPr>
          <p:cNvPr id="7" name="Text 4"/>
          <p:cNvSpPr txBox="1"/>
          <p:nvPr/>
        </p:nvSpPr>
        <p:spPr>
          <a:xfrm>
            <a:off x="7955280" y="4617720"/>
            <a:ext cx="3657600" cy="1097280"/>
          </a:xfrm>
          <a:prstGeom prst="rect">
            <a:avLst/>
          </a:prstGeom>
          <a:noFill/>
          <a:ln/>
        </p:spPr>
        <p:txBody>
          <a:bodyPr wrap="square" lIns="0" tIns="0" rIns="0" bIns="0" rtlCol="0" anchor="t"/>
          <a:lstStyle/>
          <a:p>
            <a:pPr indent="0" marL="0">
              <a:buNone/>
            </a:pPr>
            <a:r>
              <a:rPr lang="en-US" sz="1400" dirty="0">
                <a:solidFill>
                  <a:schemeClr val="accent4"/>
                </a:solidFill>
              </a:rPr>
              <a:t>Judgments were declared before any Model 4 result was computed with them. Only the consistency ratio was checked.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Model 4: results and the price of balance</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766560" cy="914400"/>
        </p:xfrm>
        <a:graphic>
          <a:graphicData uri="http://schemas.openxmlformats.org/drawingml/2006/table">
            <a:tbl>
              <a:tblPr/>
              <a:tblGrid>
                <a:gridCol w="2286000"/>
                <a:gridCol w="1234440"/>
                <a:gridCol w="1234440"/>
                <a:gridCol w="1280160"/>
                <a:gridCol w="731520"/>
              </a:tblGrid>
              <a:tr h="0">
                <a:tc>
                  <a:txBody>
                    <a:bodyPr/>
                    <a:lstStyle/>
                    <a:p>
                      <a:pPr indent="0" marL="0">
                        <a:buNone/>
                      </a:pPr>
                      <a:r>
                        <a:rPr lang="en-US" sz="1300" b="1" dirty="0">
                          <a:solidFill>
                            <a:schemeClr val="bg1"/>
                          </a:solidFill>
                        </a:rPr>
                        <a:t>Goal</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Target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Model 3</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Model 4</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Met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tx1"/>
                          </a:solidFill>
                        </a:rPr>
                        <a:t>G1 Revenue</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₹4,19,711</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₹4,19,711</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₹4,16,230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G2 Avg occupancy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39.6%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36.6%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34.9%</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G3 Prime-time genres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6"/>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G4 Idle (min)</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53.0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58.0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52.0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6"/>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G5 Prime occupancy</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57.6%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54.6%</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51.4%</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G6 Off-plan shows</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35</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6"/>
                          </a:solidFill>
                        </a:rPr>
                        <a:t>✔</a:t>
                      </a:r>
                      <a:endParaRPr lang="en-US" sz="13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4114800"/>
            <a:ext cx="6766560" cy="1188720"/>
          </a:xfrm>
          <a:prstGeom prst="rect">
            <a:avLst/>
          </a:prstGeom>
          <a:noFill/>
          <a:ln/>
        </p:spPr>
        <p:txBody>
          <a:bodyPr wrap="square" lIns="0" tIns="0" rIns="0" bIns="0" rtlCol="0" anchor="t"/>
          <a:lstStyle/>
          <a:p>
            <a:pPr indent="0" marL="0">
              <a:buNone/>
            </a:pPr>
            <a:r>
              <a:rPr lang="en-US" sz="1400" dirty="0">
                <a:solidFill>
                  <a:schemeClr val="tx1"/>
                </a:solidFill>
              </a:rPr>
              <a:t>Model 4 meets 3 of 6 goals and changes 18 of 30 cells. The remaining gaps are real conflicts: more prime-time variety means weaker films in prime-time cells, which lowers prime-time occupancy.</a:t>
            </a:r>
            <a:endParaRPr lang="en-US" sz="1400" dirty="0"/>
          </a:p>
        </p:txBody>
      </p:sp>
      <p:sp>
        <p:nvSpPr>
          <p:cNvPr id="5" name="price card"/>
          <p:cNvSpPr/>
          <p:nvPr/>
        </p:nvSpPr>
        <p:spPr>
          <a:xfrm>
            <a:off x="7680960" y="1234440"/>
            <a:ext cx="3931920" cy="2103120"/>
          </a:xfrm>
          <a:prstGeom prst="roundRect">
            <a:avLst>
              <a:gd name="adj" fmla="val 3478"/>
            </a:avLst>
          </a:prstGeom>
          <a:solidFill>
            <a:schemeClr val="tx2"/>
          </a:solidFill>
          <a:ln w="12700">
            <a:solidFill>
              <a:schemeClr val="tx2"/>
            </a:solidFill>
            <a:prstDash val="solid"/>
          </a:ln>
        </p:spPr>
      </p:sp>
      <p:sp>
        <p:nvSpPr>
          <p:cNvPr id="6" name="Text 3"/>
          <p:cNvSpPr txBox="1"/>
          <p:nvPr/>
        </p:nvSpPr>
        <p:spPr>
          <a:xfrm>
            <a:off x="7863840" y="1371600"/>
            <a:ext cx="3566160" cy="914400"/>
          </a:xfrm>
          <a:prstGeom prst="rect">
            <a:avLst/>
          </a:prstGeom>
          <a:noFill/>
          <a:ln/>
        </p:spPr>
        <p:txBody>
          <a:bodyPr wrap="square" lIns="0" tIns="0" rIns="0" bIns="0" rtlCol="0" anchor="t"/>
          <a:lstStyle/>
          <a:p>
            <a:pPr indent="0" marL="0">
              <a:buNone/>
            </a:pPr>
            <a:r>
              <a:rPr lang="en-US" sz="5400" b="1" dirty="0">
                <a:solidFill>
                  <a:schemeClr val="accent2"/>
                </a:solidFill>
              </a:rPr>
              <a:t>0.83%</a:t>
            </a:r>
            <a:endParaRPr lang="en-US" sz="5400" dirty="0"/>
          </a:p>
        </p:txBody>
      </p:sp>
      <p:sp>
        <p:nvSpPr>
          <p:cNvPr id="7" name="Text 4"/>
          <p:cNvSpPr txBox="1"/>
          <p:nvPr/>
        </p:nvSpPr>
        <p:spPr>
          <a:xfrm>
            <a:off x="7863840" y="2331720"/>
            <a:ext cx="3566160" cy="868680"/>
          </a:xfrm>
          <a:prstGeom prst="rect">
            <a:avLst/>
          </a:prstGeom>
          <a:noFill/>
          <a:ln/>
        </p:spPr>
        <p:txBody>
          <a:bodyPr wrap="square" lIns="0" tIns="0" rIns="0" bIns="0" rtlCol="0" anchor="t"/>
          <a:lstStyle/>
          <a:p>
            <a:pPr indent="0" marL="0">
              <a:buNone/>
            </a:pPr>
            <a:r>
              <a:rPr lang="en-US" sz="1400" dirty="0">
                <a:solidFill>
                  <a:schemeClr val="bg1"/>
                </a:solidFill>
              </a:rPr>
              <a:t>of revenue given up (₹3,481 a day): the price of balance, (R* − R) / R*</a:t>
            </a:r>
            <a:endParaRPr lang="en-US" sz="1400" dirty="0"/>
          </a:p>
        </p:txBody>
      </p:sp>
      <p:sp>
        <p:nvSpPr>
          <p:cNvPr id="8" name="Text 5"/>
          <p:cNvSpPr txBox="1"/>
          <p:nvPr/>
        </p:nvSpPr>
        <p:spPr>
          <a:xfrm>
            <a:off x="7680960" y="3520440"/>
            <a:ext cx="39319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Prime-time genres 5 → 6</a:t>
            </a:r>
            <a:endParaRPr lang="en-US" sz="1400" dirty="0"/>
          </a:p>
          <a:p>
            <a:pPr marL="342900" indent="-342900">
              <a:spcAft>
                <a:spcPts val="600"/>
              </a:spcAft>
              <a:buSzPct val="100000"/>
              <a:buChar char="•"/>
            </a:pPr>
            <a:r>
              <a:rPr lang="en-US" sz="1400" dirty="0">
                <a:solidFill>
                  <a:schemeClr val="tx1"/>
                </a:solidFill>
              </a:rPr>
              <a:t>Off-plan shows 35 → 0</a:t>
            </a:r>
            <a:endParaRPr lang="en-US" sz="1400" dirty="0"/>
          </a:p>
          <a:p>
            <a:pPr marL="342900" indent="-342900">
              <a:spcAft>
                <a:spcPts val="600"/>
              </a:spcAft>
              <a:buSzPct val="100000"/>
              <a:buChar char="•"/>
            </a:pPr>
            <a:r>
              <a:rPr lang="en-US" sz="1400" dirty="0">
                <a:solidFill>
                  <a:schemeClr val="tx1"/>
                </a:solidFill>
              </a:rPr>
              <a:t>Idle per cell 58.0 → 52.0 min</a:t>
            </a:r>
            <a:endParaRPr lang="en-US" sz="1400" dirty="0"/>
          </a:p>
          <a:p>
            <a:pPr marL="342900" indent="-342900">
              <a:spcAft>
                <a:spcPts val="600"/>
              </a:spcAft>
              <a:buSzPct val="100000"/>
              <a:buChar char="•"/>
            </a:pPr>
            <a:r>
              <a:rPr lang="en-US" sz="1400" dirty="0">
                <a:solidFill>
                  <a:schemeClr val="tx1"/>
                </a:solidFill>
              </a:rPr>
              <a:t>Occupancy 36.6% → 34.9%; prime 54.6% → 51.4%</a:t>
            </a:r>
            <a:endParaRPr lang="en-US" sz="1400" dirty="0"/>
          </a:p>
        </p:txBody>
      </p:sp>
      <p:sp>
        <p:nvSpPr>
          <p:cNvPr id="9" name="model 4 caveat"/>
          <p:cNvSpPr/>
          <p:nvPr/>
        </p:nvSpPr>
        <p:spPr>
          <a:xfrm>
            <a:off x="548640" y="5440680"/>
            <a:ext cx="11064240" cy="822960"/>
          </a:xfrm>
          <a:prstGeom prst="roundRect">
            <a:avLst>
              <a:gd name="adj" fmla="val 8889"/>
            </a:avLst>
          </a:prstGeom>
          <a:solidFill>
            <a:schemeClr val="bg2"/>
          </a:solidFill>
          <a:ln w="12700">
            <a:solidFill>
              <a:schemeClr val="bg2"/>
            </a:solidFill>
            <a:prstDash val="solid"/>
          </a:ln>
        </p:spPr>
      </p:sp>
      <p:sp>
        <p:nvSpPr>
          <p:cNvPr id="10" name="Text 7"/>
          <p:cNvSpPr txBox="1"/>
          <p:nvPr/>
        </p:nvSpPr>
        <p:spPr>
          <a:xfrm>
            <a:off x="731520" y="5486400"/>
            <a:ext cx="10698480" cy="731520"/>
          </a:xfrm>
          <a:prstGeom prst="rect">
            <a:avLst/>
          </a:prstGeom>
          <a:noFill/>
          <a:ln/>
        </p:spPr>
        <p:txBody>
          <a:bodyPr wrap="square" lIns="0" tIns="0" rIns="0" bIns="0" rtlCol="0" anchor="ctr"/>
          <a:lstStyle/>
          <a:p>
            <a:pPr indent="0" marL="0">
              <a:buNone/>
            </a:pPr>
            <a:r>
              <a:rPr lang="en-US" sz="1400" dirty="0">
                <a:solidFill>
                  <a:schemeClr val="tx1"/>
                </a:solidFill>
              </a:rPr>
              <a:t>How to read it: the weighted deviation (0.018) is Model 4's own objective, so Model 4 always scores lowest on it. The evidence is the per-goal change and its price, not that number.</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final operating plan (week of 16 July 2014)</a:t>
            </a:r>
            <a:endParaRPr lang="en-US" sz="3400" dirty="0"/>
          </a:p>
        </p:txBody>
      </p:sp>
      <p:pic>
        <p:nvPicPr>
          <p:cNvPr id="3" name="Image 0" descr="Gantt chart of the final Model 4 schedule">    </p:cNvPr>
          <p:cNvPicPr>
            <a:picLocks noChangeAspect="1"/>
          </p:cNvPicPr>
          <p:nvPr/>
        </p:nvPicPr>
        <p:blipFill>
          <a:blip r:embed="rId1"/>
          <a:stretch>
            <a:fillRect/>
          </a:stretch>
        </p:blipFill>
        <p:spPr>
          <a:xfrm>
            <a:off x="548640" y="1188720"/>
            <a:ext cx="11064240" cy="3219076"/>
          </a:xfrm>
          <a:prstGeom prst="rect">
            <a:avLst/>
          </a:prstGeom>
        </p:spPr>
      </p:pic>
      <p:sp>
        <p:nvSpPr>
          <p:cNvPr id="4" name="stat ticket revenue per day"/>
          <p:cNvSpPr txBox="1"/>
          <p:nvPr/>
        </p:nvSpPr>
        <p:spPr>
          <a:xfrm>
            <a:off x="548640" y="4617720"/>
            <a:ext cx="2103120" cy="640080"/>
          </a:xfrm>
          <a:prstGeom prst="rect">
            <a:avLst/>
          </a:prstGeom>
          <a:noFill/>
          <a:ln/>
        </p:spPr>
        <p:txBody>
          <a:bodyPr wrap="square" lIns="0" tIns="0" rIns="0" bIns="0" rtlCol="0" anchor="t"/>
          <a:lstStyle/>
          <a:p>
            <a:pPr indent="0" marL="0">
              <a:buNone/>
            </a:pPr>
            <a:r>
              <a:rPr lang="en-US" sz="3600" b="1" dirty="0">
                <a:solidFill>
                  <a:schemeClr val="accent1"/>
                </a:solidFill>
              </a:rPr>
              <a:t>₹4.16 L</a:t>
            </a:r>
            <a:endParaRPr lang="en-US" sz="3600" dirty="0"/>
          </a:p>
        </p:txBody>
      </p:sp>
      <p:sp>
        <p:nvSpPr>
          <p:cNvPr id="5" name="label ticket revenue per day"/>
          <p:cNvSpPr txBox="1"/>
          <p:nvPr/>
        </p:nvSpPr>
        <p:spPr>
          <a:xfrm>
            <a:off x="548640" y="5239512"/>
            <a:ext cx="2103120" cy="548640"/>
          </a:xfrm>
          <a:prstGeom prst="rect">
            <a:avLst/>
          </a:prstGeom>
          <a:noFill/>
          <a:ln/>
        </p:spPr>
        <p:txBody>
          <a:bodyPr wrap="square" lIns="0" tIns="0" rIns="0" bIns="0" rtlCol="0" anchor="t"/>
          <a:lstStyle/>
          <a:p>
            <a:pPr indent="0" marL="0">
              <a:buNone/>
            </a:pPr>
            <a:r>
              <a:rPr lang="en-US" sz="1200" dirty="0">
                <a:solidFill>
                  <a:schemeClr val="accent4"/>
                </a:solidFill>
              </a:rPr>
              <a:t>ticket revenue per day</a:t>
            </a:r>
            <a:endParaRPr lang="en-US" sz="1200" dirty="0"/>
          </a:p>
        </p:txBody>
      </p:sp>
      <p:sp>
        <p:nvSpPr>
          <p:cNvPr id="6" name="stat seats sold per day"/>
          <p:cNvSpPr txBox="1"/>
          <p:nvPr/>
        </p:nvSpPr>
        <p:spPr>
          <a:xfrm>
            <a:off x="2834640" y="4617720"/>
            <a:ext cx="2103120" cy="640080"/>
          </a:xfrm>
          <a:prstGeom prst="rect">
            <a:avLst/>
          </a:prstGeom>
          <a:noFill/>
          <a:ln/>
        </p:spPr>
        <p:txBody>
          <a:bodyPr wrap="square" lIns="0" tIns="0" rIns="0" bIns="0" rtlCol="0" anchor="t"/>
          <a:lstStyle/>
          <a:p>
            <a:pPr indent="0" marL="0">
              <a:buNone/>
            </a:pPr>
            <a:r>
              <a:rPr lang="en-US" sz="3600" b="1" dirty="0">
                <a:solidFill>
                  <a:schemeClr val="accent1"/>
                </a:solidFill>
              </a:rPr>
              <a:t>1,893</a:t>
            </a:r>
            <a:endParaRPr lang="en-US" sz="3600" dirty="0"/>
          </a:p>
        </p:txBody>
      </p:sp>
      <p:sp>
        <p:nvSpPr>
          <p:cNvPr id="7" name="label seats sold per day"/>
          <p:cNvSpPr txBox="1"/>
          <p:nvPr/>
        </p:nvSpPr>
        <p:spPr>
          <a:xfrm>
            <a:off x="2834640" y="5239512"/>
            <a:ext cx="2103120" cy="548640"/>
          </a:xfrm>
          <a:prstGeom prst="rect">
            <a:avLst/>
          </a:prstGeom>
          <a:noFill/>
          <a:ln/>
        </p:spPr>
        <p:txBody>
          <a:bodyPr wrap="square" lIns="0" tIns="0" rIns="0" bIns="0" rtlCol="0" anchor="t"/>
          <a:lstStyle/>
          <a:p>
            <a:pPr indent="0" marL="0">
              <a:buNone/>
            </a:pPr>
            <a:r>
              <a:rPr lang="en-US" sz="1200" dirty="0">
                <a:solidFill>
                  <a:schemeClr val="accent4"/>
                </a:solidFill>
              </a:rPr>
              <a:t>seats sold per day</a:t>
            </a:r>
            <a:endParaRPr lang="en-US" sz="1200" dirty="0"/>
          </a:p>
        </p:txBody>
      </p:sp>
      <p:sp>
        <p:nvSpPr>
          <p:cNvPr id="8" name="stat genres in prime time"/>
          <p:cNvSpPr txBox="1"/>
          <p:nvPr/>
        </p:nvSpPr>
        <p:spPr>
          <a:xfrm>
            <a:off x="5120640" y="4617720"/>
            <a:ext cx="2103120" cy="640080"/>
          </a:xfrm>
          <a:prstGeom prst="rect">
            <a:avLst/>
          </a:prstGeom>
          <a:noFill/>
          <a:ln/>
        </p:spPr>
        <p:txBody>
          <a:bodyPr wrap="square" lIns="0" tIns="0" rIns="0" bIns="0" rtlCol="0" anchor="t"/>
          <a:lstStyle/>
          <a:p>
            <a:pPr indent="0" marL="0">
              <a:buNone/>
            </a:pPr>
            <a:r>
              <a:rPr lang="en-US" sz="3600" b="1" dirty="0">
                <a:solidFill>
                  <a:schemeClr val="accent1"/>
                </a:solidFill>
              </a:rPr>
              <a:t>6</a:t>
            </a:r>
            <a:endParaRPr lang="en-US" sz="3600" dirty="0"/>
          </a:p>
        </p:txBody>
      </p:sp>
      <p:sp>
        <p:nvSpPr>
          <p:cNvPr id="9" name="label genres in prime time"/>
          <p:cNvSpPr txBox="1"/>
          <p:nvPr/>
        </p:nvSpPr>
        <p:spPr>
          <a:xfrm>
            <a:off x="5120640" y="5239512"/>
            <a:ext cx="2103120" cy="548640"/>
          </a:xfrm>
          <a:prstGeom prst="rect">
            <a:avLst/>
          </a:prstGeom>
          <a:noFill/>
          <a:ln/>
        </p:spPr>
        <p:txBody>
          <a:bodyPr wrap="square" lIns="0" tIns="0" rIns="0" bIns="0" rtlCol="0" anchor="t"/>
          <a:lstStyle/>
          <a:p>
            <a:pPr indent="0" marL="0">
              <a:buNone/>
            </a:pPr>
            <a:r>
              <a:rPr lang="en-US" sz="1200" dirty="0">
                <a:solidFill>
                  <a:schemeClr val="accent4"/>
                </a:solidFill>
              </a:rPr>
              <a:t>genres in prime time</a:t>
            </a:r>
            <a:endParaRPr lang="en-US" sz="1200" dirty="0"/>
          </a:p>
        </p:txBody>
      </p:sp>
      <p:sp>
        <p:nvSpPr>
          <p:cNvPr id="10" name="stat screen-slots used"/>
          <p:cNvSpPr txBox="1"/>
          <p:nvPr/>
        </p:nvSpPr>
        <p:spPr>
          <a:xfrm>
            <a:off x="7406640" y="4617720"/>
            <a:ext cx="2011680" cy="640080"/>
          </a:xfrm>
          <a:prstGeom prst="rect">
            <a:avLst/>
          </a:prstGeom>
          <a:noFill/>
          <a:ln/>
        </p:spPr>
        <p:txBody>
          <a:bodyPr wrap="square" lIns="0" tIns="0" rIns="0" bIns="0" rtlCol="0" anchor="t"/>
          <a:lstStyle/>
          <a:p>
            <a:pPr indent="0" marL="0">
              <a:buNone/>
            </a:pPr>
            <a:r>
              <a:rPr lang="en-US" sz="3600" b="1" dirty="0">
                <a:solidFill>
                  <a:schemeClr val="accent1"/>
                </a:solidFill>
              </a:rPr>
              <a:t>30 / 30</a:t>
            </a:r>
            <a:endParaRPr lang="en-US" sz="3600" dirty="0"/>
          </a:p>
        </p:txBody>
      </p:sp>
      <p:sp>
        <p:nvSpPr>
          <p:cNvPr id="11" name="label screen-slots used"/>
          <p:cNvSpPr txBox="1"/>
          <p:nvPr/>
        </p:nvSpPr>
        <p:spPr>
          <a:xfrm>
            <a:off x="7406640" y="5239512"/>
            <a:ext cx="2011680" cy="548640"/>
          </a:xfrm>
          <a:prstGeom prst="rect">
            <a:avLst/>
          </a:prstGeom>
          <a:noFill/>
          <a:ln/>
        </p:spPr>
        <p:txBody>
          <a:bodyPr wrap="square" lIns="0" tIns="0" rIns="0" bIns="0" rtlCol="0" anchor="t"/>
          <a:lstStyle/>
          <a:p>
            <a:pPr indent="0" marL="0">
              <a:buNone/>
            </a:pPr>
            <a:r>
              <a:rPr lang="en-US" sz="1200" dirty="0">
                <a:solidFill>
                  <a:schemeClr val="accent4"/>
                </a:solidFill>
              </a:rPr>
              <a:t>screen-slots used</a:t>
            </a:r>
            <a:endParaRPr lang="en-US" sz="1200" dirty="0"/>
          </a:p>
        </p:txBody>
      </p:sp>
      <p:sp>
        <p:nvSpPr>
          <p:cNvPr id="12" name="stat constraint checks pass"/>
          <p:cNvSpPr txBox="1"/>
          <p:nvPr/>
        </p:nvSpPr>
        <p:spPr>
          <a:xfrm>
            <a:off x="9601200" y="4617720"/>
            <a:ext cx="2011680" cy="640080"/>
          </a:xfrm>
          <a:prstGeom prst="rect">
            <a:avLst/>
          </a:prstGeom>
          <a:noFill/>
          <a:ln/>
        </p:spPr>
        <p:txBody>
          <a:bodyPr wrap="square" lIns="0" tIns="0" rIns="0" bIns="0" rtlCol="0" anchor="t"/>
          <a:lstStyle/>
          <a:p>
            <a:pPr indent="0" marL="0">
              <a:buNone/>
            </a:pPr>
            <a:r>
              <a:rPr lang="en-US" sz="3600" b="1" dirty="0">
                <a:solidFill>
                  <a:schemeClr val="accent1"/>
                </a:solidFill>
              </a:rPr>
              <a:t>9 / 9</a:t>
            </a:r>
            <a:endParaRPr lang="en-US" sz="3600" dirty="0"/>
          </a:p>
        </p:txBody>
      </p:sp>
      <p:sp>
        <p:nvSpPr>
          <p:cNvPr id="13" name="label constraint checks pass"/>
          <p:cNvSpPr txBox="1"/>
          <p:nvPr/>
        </p:nvSpPr>
        <p:spPr>
          <a:xfrm>
            <a:off x="9601200" y="5239512"/>
            <a:ext cx="2011680" cy="548640"/>
          </a:xfrm>
          <a:prstGeom prst="rect">
            <a:avLst/>
          </a:prstGeom>
          <a:noFill/>
          <a:ln/>
        </p:spPr>
        <p:txBody>
          <a:bodyPr wrap="square" lIns="0" tIns="0" rIns="0" bIns="0" rtlCol="0" anchor="t"/>
          <a:lstStyle/>
          <a:p>
            <a:pPr indent="0" marL="0">
              <a:buNone/>
            </a:pPr>
            <a:r>
              <a:rPr lang="en-US" sz="1200" dirty="0">
                <a:solidFill>
                  <a:schemeClr val="accent4"/>
                </a:solidFill>
              </a:rPr>
              <a:t>constraint checks pass</a:t>
            </a:r>
            <a:endParaRPr lang="en-US" sz="1200" dirty="0"/>
          </a:p>
        </p:txBody>
      </p:sp>
      <p:sp>
        <p:nvSpPr>
          <p:cNvPr id="14" name="Text 11"/>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400" dirty="0">
                <a:solidFill>
                  <a:schemeClr val="accent4"/>
                </a:solidFill>
              </a:rPr>
              <a:t>Licensed: Lucy, Dawn of the Planet of the Apes, Deliver Us from Evil, How to Train Your Dragon 2, Earth to Echo, Maleficent, Jersey Boys, Edge of Tomorrow, for ₹19,99,500.</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Results: better than naive, honest against greedy</a:t>
            </a:r>
            <a:endParaRPr lang="en-US" sz="3400" dirty="0"/>
          </a:p>
        </p:txBody>
      </p:sp>
      <p:graphicFrame>
        <p:nvGraphicFramePr>
          <p:cNvPr id="3" name="Chart 0" descr=""/>
          <p:cNvGraphicFramePr/>
          <p:nvPr/>
        </p:nvGraphicFramePr>
        <p:xfrm>
          <a:off x="548640" y="1188720"/>
          <a:ext cx="512064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0" y="1280160"/>
          <a:ext cx="5669280" cy="914400"/>
        </p:xfrm>
        <a:graphic>
          <a:graphicData uri="http://schemas.openxmlformats.org/drawingml/2006/table">
            <a:tbl>
              <a:tblPr/>
              <a:tblGrid>
                <a:gridCol w="1143000"/>
                <a:gridCol w="1097280"/>
                <a:gridCol w="868680"/>
                <a:gridCol w="914400"/>
                <a:gridCol w="868680"/>
                <a:gridCol w="777240"/>
              </a:tblGrid>
              <a:tr h="0">
                <a:tc>
                  <a:txBody>
                    <a:bodyPr/>
                    <a:lstStyle/>
                    <a:p>
                      <a:pPr indent="0" marL="0">
                        <a:buNone/>
                      </a:pP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Revenue</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Avg occ.</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Prime occ.</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Prime genres</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Turned away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tx1"/>
                          </a:solidFill>
                        </a:rPr>
                        <a:t>B1 naive</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₹2,57,294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25.9%</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38.1%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468</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B2 greedy</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₹4,19,711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39.1%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54.6%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208</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M3 optimum</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₹4,19,711</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36.6%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54.6%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208</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M4 final</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₹4,16,230</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34.9%</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51.4%</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208</a:t>
                      </a:r>
                      <a:endParaRPr lang="en-US" sz="12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943600" y="3200400"/>
            <a:ext cx="5669280" cy="914400"/>
          </a:xfrm>
          <a:prstGeom prst="rect">
            <a:avLst/>
          </a:prstGeom>
          <a:noFill/>
          <a:ln/>
        </p:spPr>
        <p:txBody>
          <a:bodyPr wrap="square" lIns="0" tIns="0" rIns="0" bIns="0" rtlCol="0" anchor="t"/>
          <a:lstStyle/>
          <a:p>
            <a:pPr indent="0" marL="0">
              <a:buNone/>
            </a:pPr>
            <a:r>
              <a:rPr lang="en-US" sz="1400" dirty="0">
                <a:solidFill>
                  <a:schemeClr val="accent4"/>
                </a:solidFill>
              </a:rPr>
              <a:t>B1 = top films by raw popularity, rotated across cells. B2 = a sensible greedy manager using Model 1's films. Both pass every physical constraint.</a:t>
            </a:r>
            <a:endParaRPr lang="en-US" sz="1400" dirty="0"/>
          </a:p>
        </p:txBody>
      </p:sp>
      <p:sp>
        <p:nvSpPr>
          <p:cNvPr id="6" name="bridge 0"/>
          <p:cNvSpPr/>
          <p:nvPr/>
        </p:nvSpPr>
        <p:spPr>
          <a:xfrm>
            <a:off x="548640" y="4526280"/>
            <a:ext cx="2011680" cy="1051560"/>
          </a:xfrm>
          <a:prstGeom prst="roundRect">
            <a:avLst>
              <a:gd name="adj" fmla="val 6957"/>
            </a:avLst>
          </a:prstGeom>
          <a:solidFill>
            <a:schemeClr val="accent4"/>
          </a:solidFill>
          <a:ln w="12700">
            <a:solidFill>
              <a:schemeClr val="accent4"/>
            </a:solidFill>
            <a:prstDash val="solid"/>
          </a:ln>
        </p:spPr>
      </p:sp>
      <p:sp>
        <p:nvSpPr>
          <p:cNvPr id="7" name="Text 3"/>
          <p:cNvSpPr txBox="1"/>
          <p:nvPr/>
        </p:nvSpPr>
        <p:spPr>
          <a:xfrm>
            <a:off x="640080" y="4572000"/>
            <a:ext cx="1828800" cy="960120"/>
          </a:xfrm>
          <a:prstGeom prst="rect">
            <a:avLst/>
          </a:prstGeom>
          <a:noFill/>
          <a:ln/>
        </p:spPr>
        <p:txBody>
          <a:bodyPr wrap="square" lIns="0" tIns="0" rIns="0" bIns="0" rtlCol="0" anchor="ctr"/>
          <a:lstStyle/>
          <a:p>
            <a:pPr algn="ctr" indent="0" marL="0">
              <a:buNone/>
            </a:pPr>
            <a:r>
              <a:rPr lang="en-US" sz="1800" b="1" dirty="0">
                <a:solidFill>
                  <a:schemeClr val="bg1"/>
                </a:solidFill>
              </a:rPr>
              <a:t>B1 naive</a:t>
            </a:r>
            <a:endParaRPr lang="en-US" sz="1400" dirty="0"/>
          </a:p>
          <a:p>
            <a:pPr algn="ctr" indent="0" marL="0">
              <a:buNone/>
            </a:pPr>
            <a:r>
              <a:rPr lang="en-US" sz="1200" dirty="0">
                <a:solidFill>
                  <a:schemeClr val="bg1"/>
                </a:solidFill>
              </a:rPr>
              <a:t>₹2,57,294</a:t>
            </a:r>
            <a:endParaRPr lang="en-US" sz="1400" dirty="0"/>
          </a:p>
        </p:txBody>
      </p:sp>
      <p:sp>
        <p:nvSpPr>
          <p:cNvPr id="8" name="bridge 1"/>
          <p:cNvSpPr/>
          <p:nvPr/>
        </p:nvSpPr>
        <p:spPr>
          <a:xfrm>
            <a:off x="2811780" y="4526280"/>
            <a:ext cx="2011680" cy="1051560"/>
          </a:xfrm>
          <a:prstGeom prst="roundRect">
            <a:avLst>
              <a:gd name="adj" fmla="val 6957"/>
            </a:avLst>
          </a:prstGeom>
          <a:solidFill>
            <a:schemeClr val="accent3"/>
          </a:solidFill>
          <a:ln w="12700">
            <a:solidFill>
              <a:schemeClr val="accent3"/>
            </a:solidFill>
            <a:prstDash val="solid"/>
          </a:ln>
        </p:spPr>
      </p:sp>
      <p:sp>
        <p:nvSpPr>
          <p:cNvPr id="9" name="Text 5"/>
          <p:cNvSpPr txBox="1"/>
          <p:nvPr/>
        </p:nvSpPr>
        <p:spPr>
          <a:xfrm>
            <a:off x="2903220" y="4572000"/>
            <a:ext cx="1828800" cy="960120"/>
          </a:xfrm>
          <a:prstGeom prst="rect">
            <a:avLst/>
          </a:prstGeom>
          <a:noFill/>
          <a:ln/>
        </p:spPr>
        <p:txBody>
          <a:bodyPr wrap="square" lIns="0" tIns="0" rIns="0" bIns="0" rtlCol="0" anchor="ctr"/>
          <a:lstStyle/>
          <a:p>
            <a:pPr algn="ctr" indent="0" marL="0">
              <a:buNone/>
            </a:pPr>
            <a:r>
              <a:rPr lang="en-US" sz="1800" b="1" dirty="0">
                <a:solidFill>
                  <a:schemeClr val="bg1"/>
                </a:solidFill>
              </a:rPr>
              <a:t>+ ₹1,01,166</a:t>
            </a:r>
            <a:endParaRPr lang="en-US" sz="1400" dirty="0"/>
          </a:p>
          <a:p>
            <a:pPr algn="ctr" indent="0" marL="0">
              <a:buNone/>
            </a:pPr>
            <a:r>
              <a:rPr lang="en-US" sz="1200" dirty="0">
                <a:solidFill>
                  <a:schemeClr val="bg1"/>
                </a:solidFill>
              </a:rPr>
              <a:t>smarter placement</a:t>
            </a:r>
            <a:endParaRPr lang="en-US" sz="1400" dirty="0"/>
          </a:p>
        </p:txBody>
      </p:sp>
      <p:sp>
        <p:nvSpPr>
          <p:cNvPr id="10" name="bridge 2"/>
          <p:cNvSpPr/>
          <p:nvPr/>
        </p:nvSpPr>
        <p:spPr>
          <a:xfrm>
            <a:off x="5074920" y="4526280"/>
            <a:ext cx="2011680" cy="1051560"/>
          </a:xfrm>
          <a:prstGeom prst="roundRect">
            <a:avLst>
              <a:gd name="adj" fmla="val 6957"/>
            </a:avLst>
          </a:prstGeom>
          <a:solidFill>
            <a:schemeClr val="accent3"/>
          </a:solidFill>
          <a:ln w="12700">
            <a:solidFill>
              <a:schemeClr val="accent3"/>
            </a:solidFill>
            <a:prstDash val="solid"/>
          </a:ln>
        </p:spPr>
      </p:sp>
      <p:sp>
        <p:nvSpPr>
          <p:cNvPr id="11" name="Text 7"/>
          <p:cNvSpPr txBox="1"/>
          <p:nvPr/>
        </p:nvSpPr>
        <p:spPr>
          <a:xfrm>
            <a:off x="5166360" y="4572000"/>
            <a:ext cx="1828800" cy="960120"/>
          </a:xfrm>
          <a:prstGeom prst="rect">
            <a:avLst/>
          </a:prstGeom>
          <a:noFill/>
          <a:ln/>
        </p:spPr>
        <p:txBody>
          <a:bodyPr wrap="square" lIns="0" tIns="0" rIns="0" bIns="0" rtlCol="0" anchor="ctr"/>
          <a:lstStyle/>
          <a:p>
            <a:pPr algn="ctr" indent="0" marL="0">
              <a:buNone/>
            </a:pPr>
            <a:r>
              <a:rPr lang="en-US" sz="1800" b="1" dirty="0">
                <a:solidFill>
                  <a:schemeClr val="bg1"/>
                </a:solidFill>
              </a:rPr>
              <a:t>+ ₹61,251</a:t>
            </a:r>
            <a:endParaRPr lang="en-US" sz="1400" dirty="0"/>
          </a:p>
          <a:p>
            <a:pPr algn="ctr" indent="0" marL="0">
              <a:buNone/>
            </a:pPr>
            <a:r>
              <a:rPr lang="en-US" sz="1200" dirty="0">
                <a:solidFill>
                  <a:schemeClr val="bg1"/>
                </a:solidFill>
              </a:rPr>
              <a:t>smarter licensing</a:t>
            </a:r>
            <a:endParaRPr lang="en-US" sz="1400" dirty="0"/>
          </a:p>
        </p:txBody>
      </p:sp>
      <p:sp>
        <p:nvSpPr>
          <p:cNvPr id="12" name="bridge 3"/>
          <p:cNvSpPr/>
          <p:nvPr/>
        </p:nvSpPr>
        <p:spPr>
          <a:xfrm>
            <a:off x="7338060" y="4526280"/>
            <a:ext cx="2011680" cy="1051560"/>
          </a:xfrm>
          <a:prstGeom prst="roundRect">
            <a:avLst>
              <a:gd name="adj" fmla="val 6957"/>
            </a:avLst>
          </a:prstGeom>
          <a:solidFill>
            <a:schemeClr val="accent1"/>
          </a:solidFill>
          <a:ln w="12700">
            <a:solidFill>
              <a:schemeClr val="accent1"/>
            </a:solidFill>
            <a:prstDash val="solid"/>
          </a:ln>
        </p:spPr>
      </p:sp>
      <p:sp>
        <p:nvSpPr>
          <p:cNvPr id="13" name="Text 9"/>
          <p:cNvSpPr txBox="1"/>
          <p:nvPr/>
        </p:nvSpPr>
        <p:spPr>
          <a:xfrm>
            <a:off x="7429500" y="4572000"/>
            <a:ext cx="1828800" cy="960120"/>
          </a:xfrm>
          <a:prstGeom prst="rect">
            <a:avLst/>
          </a:prstGeom>
          <a:noFill/>
          <a:ln/>
        </p:spPr>
        <p:txBody>
          <a:bodyPr wrap="square" lIns="0" tIns="0" rIns="0" bIns="0" rtlCol="0" anchor="ctr"/>
          <a:lstStyle/>
          <a:p>
            <a:pPr algn="ctr" indent="0" marL="0">
              <a:buNone/>
            </a:pPr>
            <a:r>
              <a:rPr lang="en-US" sz="1800" b="1" dirty="0">
                <a:solidFill>
                  <a:schemeClr val="bg1"/>
                </a:solidFill>
              </a:rPr>
              <a:t>− ₹3,481</a:t>
            </a:r>
            <a:endParaRPr lang="en-US" sz="1400" dirty="0"/>
          </a:p>
          <a:p>
            <a:pPr algn="ctr" indent="0" marL="0">
              <a:buNone/>
            </a:pPr>
            <a:r>
              <a:rPr lang="en-US" sz="1200" dirty="0">
                <a:solidFill>
                  <a:schemeClr val="bg1"/>
                </a:solidFill>
              </a:rPr>
              <a:t>price of balance</a:t>
            </a:r>
            <a:endParaRPr lang="en-US" sz="1400" dirty="0"/>
          </a:p>
        </p:txBody>
      </p:sp>
      <p:sp>
        <p:nvSpPr>
          <p:cNvPr id="14" name="bridge 4"/>
          <p:cNvSpPr/>
          <p:nvPr/>
        </p:nvSpPr>
        <p:spPr>
          <a:xfrm>
            <a:off x="9601200" y="4526280"/>
            <a:ext cx="2011680" cy="1051560"/>
          </a:xfrm>
          <a:prstGeom prst="roundRect">
            <a:avLst>
              <a:gd name="adj" fmla="val 6957"/>
            </a:avLst>
          </a:prstGeom>
          <a:solidFill>
            <a:schemeClr val="tx2"/>
          </a:solidFill>
          <a:ln w="12700">
            <a:solidFill>
              <a:schemeClr val="tx2"/>
            </a:solidFill>
            <a:prstDash val="solid"/>
          </a:ln>
        </p:spPr>
      </p:sp>
      <p:sp>
        <p:nvSpPr>
          <p:cNvPr id="15" name="Text 11"/>
          <p:cNvSpPr txBox="1"/>
          <p:nvPr/>
        </p:nvSpPr>
        <p:spPr>
          <a:xfrm>
            <a:off x="9692640" y="4572000"/>
            <a:ext cx="1828800" cy="960120"/>
          </a:xfrm>
          <a:prstGeom prst="rect">
            <a:avLst/>
          </a:prstGeom>
          <a:noFill/>
          <a:ln/>
        </p:spPr>
        <p:txBody>
          <a:bodyPr wrap="square" lIns="0" tIns="0" rIns="0" bIns="0" rtlCol="0" anchor="ctr"/>
          <a:lstStyle/>
          <a:p>
            <a:pPr algn="ctr" indent="0" marL="0">
              <a:buNone/>
            </a:pPr>
            <a:r>
              <a:rPr lang="en-US" sz="1800" b="1" dirty="0">
                <a:solidFill>
                  <a:schemeClr val="bg1"/>
                </a:solidFill>
              </a:rPr>
              <a:t>₹4,16,230</a:t>
            </a:r>
            <a:endParaRPr lang="en-US" sz="1400" dirty="0"/>
          </a:p>
          <a:p>
            <a:pPr algn="ctr" indent="0" marL="0">
              <a:buNone/>
            </a:pPr>
            <a:r>
              <a:rPr lang="en-US" sz="1200" dirty="0">
                <a:solidFill>
                  <a:schemeClr val="bg1"/>
                </a:solidFill>
              </a:rPr>
              <a:t>M4 final: +61.8%</a:t>
            </a:r>
            <a:endParaRPr lang="en-US" sz="1400" dirty="0"/>
          </a:p>
        </p:txBody>
      </p:sp>
      <p:sp>
        <p:nvSpPr>
          <p:cNvPr id="16" name="Text 12"/>
          <p:cNvSpPr txBox="1"/>
          <p:nvPr/>
        </p:nvSpPr>
        <p:spPr>
          <a:xfrm>
            <a:off x="548640" y="5715000"/>
            <a:ext cx="11064240" cy="640080"/>
          </a:xfrm>
          <a:prstGeom prst="rect">
            <a:avLst/>
          </a:prstGeom>
          <a:noFill/>
          <a:ln/>
        </p:spPr>
        <p:txBody>
          <a:bodyPr wrap="square" lIns="0" tIns="0" rIns="0" bIns="0" rtlCol="0" anchor="t"/>
          <a:lstStyle/>
          <a:p>
            <a:pPr indent="0" marL="0">
              <a:buNone/>
            </a:pPr>
            <a:r>
              <a:rPr lang="en-US" sz="1400" dirty="0">
                <a:solidFill>
                  <a:schemeClr val="tx1"/>
                </a:solidFill>
              </a:rPr>
              <a:t>Greedy matches the revenue optimum here (≤ 0.9% apart across 10 weeks): pure revenue is easy to approach. The exact models add proven optimality, rule satisfaction and priced trade-offs.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Every rule has a price: trade-offs, quantified</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3291840"/>
                <a:gridCol w="3291840"/>
                <a:gridCol w="2286000"/>
              </a:tblGrid>
              <a:tr h="0">
                <a:tc>
                  <a:txBody>
                    <a:bodyPr/>
                    <a:lstStyle/>
                    <a:p>
                      <a:pPr indent="0" marL="0">
                        <a:buNone/>
                      </a:pPr>
                      <a:r>
                        <a:rPr lang="en-US" sz="1400" b="1" dirty="0">
                          <a:solidFill>
                            <a:schemeClr val="bg1"/>
                          </a:solidFill>
                        </a:rPr>
                        <a:t>Trade-off</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the manager gets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costs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OR tool</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Balance (Model 4)</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 prime-time genres, capacity plan followed, idle −6 min</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0.83% of revenue (₹3,481/day); prime occupancy −3.2 points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goal programming, AHP</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Variety policy (≥ 8 films)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wider catalogue of 8 films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₹44,251/day (9.5% of revenue); free up to 6 films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constraint sweep, shadow price</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Licensing budget</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Access to the blockbuster</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0.273 value per ₹; returns shrink once Lucy is affordable</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LP duals, budget sweep</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Fixed 180-min slots</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simple, regular timetable</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Films over 160 min excluded; worth ₹22,993 of value</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shadow price of K6</a:t>
                      </a:r>
                      <a:endParaRPr lang="en-US" sz="14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4" name="OR inference"/>
          <p:cNvSpPr/>
          <p:nvPr/>
        </p:nvSpPr>
        <p:spPr>
          <a:xfrm>
            <a:off x="548640" y="4709160"/>
            <a:ext cx="11064240" cy="1554480"/>
          </a:xfrm>
          <a:prstGeom prst="roundRect">
            <a:avLst>
              <a:gd name="adj" fmla="val 4706"/>
            </a:avLst>
          </a:prstGeom>
          <a:solidFill>
            <a:schemeClr val="tx2"/>
          </a:solidFill>
          <a:ln w="12700">
            <a:solidFill>
              <a:schemeClr val="tx2"/>
            </a:solidFill>
            <a:prstDash val="solid"/>
          </a:ln>
        </p:spPr>
      </p:sp>
      <p:sp>
        <p:nvSpPr>
          <p:cNvPr id="5" name="Text 2"/>
          <p:cNvSpPr txBox="1"/>
          <p:nvPr/>
        </p:nvSpPr>
        <p:spPr>
          <a:xfrm>
            <a:off x="777240" y="4846320"/>
            <a:ext cx="10607040" cy="1325880"/>
          </a:xfrm>
          <a:prstGeom prst="rect">
            <a:avLst/>
          </a:prstGeom>
          <a:noFill/>
          <a:ln/>
        </p:spPr>
        <p:txBody>
          <a:bodyPr wrap="square" lIns="0" tIns="0" rIns="0" bIns="0" rtlCol="0" anchor="ctr"/>
          <a:lstStyle/>
          <a:p>
            <a:pPr indent="0" marL="0">
              <a:buNone/>
            </a:pPr>
            <a:r>
              <a:rPr lang="en-US" sz="1500" b="1" dirty="0">
                <a:solidFill>
                  <a:schemeClr val="accent2"/>
                </a:solidFill>
              </a:rPr>
              <a:t>OR inference  </a:t>
            </a:r>
            <a:pPr indent="0" marL="0">
              <a:buNone/>
            </a:pPr>
            <a:r>
              <a:rPr lang="en-US" sz="1500" dirty="0">
                <a:solidFill>
                  <a:schemeClr val="bg1"/>
                </a:solidFill>
              </a:rPr>
              <a:t>a constraint is a decision. Dual values and parametric sweeps turn each rule into a price in rupees, so the manager can accept it, relax it, or change the weights, instead of discovering the cost afterwards. A sacrifice in revenue is a successful result when it is measured and bought on purpose.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Pricing the variety policy (minimum films)</a:t>
            </a:r>
            <a:endParaRPr lang="en-US" sz="3400" dirty="0"/>
          </a:p>
        </p:txBody>
      </p:sp>
      <p:graphicFrame>
        <p:nvGraphicFramePr>
          <p:cNvPr id="3" name="Chart 0" descr=""/>
          <p:cNvGraphicFramePr/>
          <p:nvPr/>
        </p:nvGraphicFramePr>
        <p:xfrm>
          <a:off x="548640" y="123444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06640" y="1280160"/>
            <a:ext cx="4206240" cy="48463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Free up to 6 films. </a:t>
            </a:r>
            <a:pPr indent="0" marL="0">
              <a:spcAft>
                <a:spcPts val="600"/>
              </a:spcAft>
              <a:buNone/>
            </a:pPr>
            <a:r>
              <a:rPr lang="en-US" sz="1400" dirty="0">
                <a:solidFill>
                  <a:schemeClr val="tx1"/>
                </a:solidFill>
              </a:rPr>
              <a:t>Model 1 licenses 6 films anyway.</a:t>
            </a:r>
            <a:endParaRPr lang="en-US" sz="1400" dirty="0"/>
          </a:p>
          <a:p>
            <a:pPr marL="342900" indent="-342900">
              <a:spcAft>
                <a:spcPts val="600"/>
              </a:spcAft>
              <a:buSzPct val="100000"/>
              <a:buChar char="•"/>
            </a:pPr>
            <a:r>
              <a:rPr lang="en-US" sz="1400" b="1" dirty="0">
                <a:solidFill>
                  <a:schemeClr val="tx1"/>
                </a:solidFill>
              </a:rPr>
              <a:t>The policy of 8 costs ₹44,251 a day (9.5%). </a:t>
            </a:r>
            <a:pPr indent="0" marL="0">
              <a:spcAft>
                <a:spcPts val="600"/>
              </a:spcAft>
              <a:buNone/>
            </a:pPr>
            <a:r>
              <a:rPr lang="en-US" sz="1400" dirty="0">
                <a:solidFill>
                  <a:schemeClr val="tx1"/>
                </a:solidFill>
              </a:rPr>
              <a:t>Relaxing to 7 recovers ₹41,433; tightening to 9 costs ₹44,786 more.</a:t>
            </a:r>
            <a:endParaRPr lang="en-US" sz="1400" dirty="0"/>
          </a:p>
          <a:p>
            <a:pPr marL="342900" indent="-342900">
              <a:spcAft>
                <a:spcPts val="600"/>
              </a:spcAft>
              <a:buSzPct val="100000"/>
              <a:buChar char="•"/>
            </a:pPr>
            <a:r>
              <a:rPr lang="en-US" sz="1400" b="1" dirty="0">
                <a:solidFill>
                  <a:schemeClr val="tx1"/>
                </a:solidFill>
              </a:rPr>
              <a:t>Why a show can have 2 viewers: </a:t>
            </a:r>
            <a:pPr indent="0" marL="0">
              <a:spcAft>
                <a:spcPts val="600"/>
              </a:spcAft>
              <a:buNone/>
            </a:pPr>
            <a:r>
              <a:rPr lang="en-US" sz="1400" dirty="0">
                <a:solidFill>
                  <a:schemeClr val="tx1"/>
                </a:solidFill>
              </a:rPr>
              <a:t>old films have little demand left, and the policy plus “every licensed film is shown” forces them in.</a:t>
            </a:r>
            <a:endParaRPr lang="en-US" sz="1400" dirty="0"/>
          </a:p>
          <a:p>
            <a:pPr marL="342900" indent="-342900">
              <a:spcAft>
                <a:spcPts val="600"/>
              </a:spcAft>
              <a:buSzPct val="100000"/>
              <a:buChar char="•"/>
            </a:pPr>
            <a:r>
              <a:rPr lang="en-US" sz="1400" b="1" dirty="0">
                <a:solidFill>
                  <a:schemeClr val="tx1"/>
                </a:solidFill>
              </a:rPr>
              <a:t>Without the rule, </a:t>
            </a:r>
            <a:pPr indent="0" marL="0">
              <a:spcAft>
                <a:spcPts val="600"/>
              </a:spcAft>
              <a:buNone/>
            </a:pPr>
            <a:r>
              <a:rPr lang="en-US" sz="1400" dirty="0">
                <a:solidFill>
                  <a:schemeClr val="tx1"/>
                </a:solidFill>
              </a:rPr>
              <a:t>Model 1 equals a demand ranking (₹4,63,961 both); its value is meeting budget, count and content rules exactly.</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Sensitivity and robustness: end to end</a:t>
            </a:r>
            <a:endParaRPr lang="en-US" sz="3400" dirty="0"/>
          </a:p>
        </p:txBody>
      </p:sp>
      <p:graphicFrame>
        <p:nvGraphicFramePr>
          <p:cNvPr id="3" name="Chart 0" descr=""/>
          <p:cNvGraphicFramePr/>
          <p:nvPr/>
        </p:nvGraphicFramePr>
        <p:xfrm>
          <a:off x="548640" y="1188720"/>
          <a:ext cx="54864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188720"/>
          <a:ext cx="5394960" cy="3200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4572000"/>
            <a:ext cx="11064240" cy="17373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Every point re-solves the whole chain </a:t>
            </a:r>
            <a:pPr indent="0" marL="0">
              <a:spcAft>
                <a:spcPts val="600"/>
              </a:spcAft>
              <a:buNone/>
            </a:pPr>
            <a:r>
              <a:rPr lang="en-US" sz="1400" dirty="0">
                <a:solidFill>
                  <a:schemeClr val="tx1"/>
                </a:solidFill>
              </a:rPr>
              <a:t>(market, demand, Models 1–4, baselines, validation): 7 values of λ, 7 budgets, 5 demand scales, 7 policy levels, 10 weeks. All schedules valid.</a:t>
            </a:r>
            <a:endParaRPr lang="en-US" sz="1400" dirty="0"/>
          </a:p>
          <a:p>
            <a:pPr marL="342900" indent="-342900">
              <a:spcAft>
                <a:spcPts val="600"/>
              </a:spcAft>
              <a:buSzPct val="100000"/>
              <a:buChar char="•"/>
            </a:pPr>
            <a:r>
              <a:rPr lang="en-US" sz="1400" b="1" dirty="0">
                <a:solidFill>
                  <a:schemeClr val="tx1"/>
                </a:solidFill>
              </a:rPr>
              <a:t>Demand ±30%: </a:t>
            </a:r>
            <a:pPr indent="0" marL="0">
              <a:spcAft>
                <a:spcPts val="600"/>
              </a:spcAft>
              <a:buNone/>
            </a:pPr>
            <a:r>
              <a:rPr lang="en-US" sz="1400" dirty="0">
                <a:solidFill>
                  <a:schemeClr val="tx1"/>
                </a:solidFill>
              </a:rPr>
              <a:t>lift over naive stays +62% to +65%; the ranking of methods does not change.</a:t>
            </a:r>
            <a:endParaRPr lang="en-US" sz="1400" dirty="0"/>
          </a:p>
          <a:p>
            <a:pPr marL="342900" indent="-342900">
              <a:spcAft>
                <a:spcPts val="600"/>
              </a:spcAft>
              <a:buSzPct val="100000"/>
              <a:buChar char="•"/>
            </a:pPr>
            <a:r>
              <a:rPr lang="en-US" sz="1400" b="1" dirty="0">
                <a:solidFill>
                  <a:schemeClr val="tx1"/>
                </a:solidFill>
              </a:rPr>
              <a:t>10 weeks chosen by a fixed rule, not by hand: </a:t>
            </a:r>
            <a:pPr indent="0" marL="0">
              <a:spcAft>
                <a:spcPts val="600"/>
              </a:spcAft>
              <a:buNone/>
            </a:pPr>
            <a:r>
              <a:rPr lang="en-US" sz="1400" dirty="0">
                <a:solidFill>
                  <a:schemeClr val="tx1"/>
                </a:solidFill>
              </a:rPr>
              <a:t>M4 wins in 9, mean +44%. The one loss (2011-05) is a week where the naive plan costs more than the budget.</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results do not say: honest findings</a:t>
            </a:r>
            <a:endParaRPr lang="en-US" sz="3400" dirty="0"/>
          </a:p>
        </p:txBody>
      </p:sp>
      <p:sp>
        <p:nvSpPr>
          <p:cNvPr id="3" name="card Greedy ≈ ILP on pure revenue"/>
          <p:cNvSpPr/>
          <p:nvPr/>
        </p:nvSpPr>
        <p:spPr>
          <a:xfrm>
            <a:off x="548640" y="1234440"/>
            <a:ext cx="5440680" cy="2377440"/>
          </a:xfrm>
          <a:prstGeom prst="roundRect">
            <a:avLst>
              <a:gd name="adj" fmla="val 3077"/>
            </a:avLst>
          </a:prstGeom>
          <a:solidFill>
            <a:schemeClr val="bg2"/>
          </a:solidFill>
          <a:ln w="12700">
            <a:solidFill>
              <a:schemeClr val="bg2"/>
            </a:solidFill>
            <a:prstDash val="solid"/>
          </a:ln>
        </p:spPr>
      </p:sp>
      <p:sp>
        <p:nvSpPr>
          <p:cNvPr id="4" name="text Greedy ≈ ILP on pure revenue"/>
          <p:cNvSpPr txBox="1"/>
          <p:nvPr/>
        </p:nvSpPr>
        <p:spPr>
          <a:xfrm>
            <a:off x="731520" y="1371600"/>
            <a:ext cx="5074920" cy="2103120"/>
          </a:xfrm>
          <a:prstGeom prst="rect">
            <a:avLst/>
          </a:prstGeom>
          <a:noFill/>
          <a:ln/>
        </p:spPr>
        <p:txBody>
          <a:bodyPr wrap="square" lIns="0" tIns="0" rIns="0" bIns="0" rtlCol="0" anchor="t"/>
          <a:lstStyle/>
          <a:p>
            <a:pPr indent="0" marL="0">
              <a:spcAft>
                <a:spcPts val="400"/>
              </a:spcAft>
              <a:buNone/>
            </a:pPr>
            <a:r>
              <a:rPr lang="en-US" sz="1800" b="1" dirty="0">
                <a:solidFill>
                  <a:schemeClr val="accent1"/>
                </a:solidFill>
              </a:rPr>
              <a:t>Greedy ≈ ILP on pure revenue</a:t>
            </a:r>
            <a:endParaRPr lang="en-US" sz="1600" dirty="0"/>
          </a:p>
          <a:p>
            <a:pPr indent="0" marL="0">
              <a:spcAft>
                <a:spcPts val="400"/>
              </a:spcAft>
              <a:buNone/>
            </a:pPr>
            <a:r>
              <a:rPr lang="en-US" sz="1600" dirty="0">
                <a:solidFill>
                  <a:schemeClr val="tx1"/>
                </a:solidFill>
              </a:rPr>
              <a:t>A greedy manager is within 0.9% of the optimum in every tested week. The ILP's value is the proof of optimality, exact handling of the rules, and pricing the balance.</a:t>
            </a:r>
            <a:endParaRPr lang="en-US" sz="1600" dirty="0"/>
          </a:p>
        </p:txBody>
      </p:sp>
      <p:sp>
        <p:nvSpPr>
          <p:cNvPr id="5" name="card Naive wins in some settings"/>
          <p:cNvSpPr/>
          <p:nvPr/>
        </p:nvSpPr>
        <p:spPr>
          <a:xfrm>
            <a:off x="6172200" y="1234440"/>
            <a:ext cx="5440680" cy="2377440"/>
          </a:xfrm>
          <a:prstGeom prst="roundRect">
            <a:avLst>
              <a:gd name="adj" fmla="val 3077"/>
            </a:avLst>
          </a:prstGeom>
          <a:solidFill>
            <a:schemeClr val="bg2"/>
          </a:solidFill>
          <a:ln w="12700">
            <a:solidFill>
              <a:schemeClr val="bg2"/>
            </a:solidFill>
            <a:prstDash val="solid"/>
          </a:ln>
        </p:spPr>
      </p:sp>
      <p:sp>
        <p:nvSpPr>
          <p:cNvPr id="6" name="text Naive wins in some settings"/>
          <p:cNvSpPr txBox="1"/>
          <p:nvPr/>
        </p:nvSpPr>
        <p:spPr>
          <a:xfrm>
            <a:off x="6355080" y="1371600"/>
            <a:ext cx="5074920" cy="2103120"/>
          </a:xfrm>
          <a:prstGeom prst="rect">
            <a:avLst/>
          </a:prstGeom>
          <a:noFill/>
          <a:ln/>
        </p:spPr>
        <p:txBody>
          <a:bodyPr wrap="square" lIns="0" tIns="0" rIns="0" bIns="0" rtlCol="0" anchor="t"/>
          <a:lstStyle/>
          <a:p>
            <a:pPr indent="0" marL="0">
              <a:spcAft>
                <a:spcPts val="400"/>
              </a:spcAft>
              <a:buNone/>
            </a:pPr>
            <a:r>
              <a:rPr lang="en-US" sz="1800" b="1" dirty="0">
                <a:solidFill>
                  <a:schemeClr val="accent3"/>
                </a:solidFill>
              </a:rPr>
              <a:t>Naive wins in some settings</a:t>
            </a:r>
            <a:endParaRPr lang="en-US" sz="1600" dirty="0"/>
          </a:p>
          <a:p>
            <a:pPr indent="0" marL="0">
              <a:spcAft>
                <a:spcPts val="400"/>
              </a:spcAft>
              <a:buNone/>
            </a:pPr>
            <a:r>
              <a:rPr lang="en-US" sz="1600" dirty="0">
                <a:solidFill>
                  <a:schemeClr val="tx1"/>
                </a:solidFill>
              </a:rPr>
              <a:t>At λ = 0.25, budgets ≤ ₹17.5 L, 1 of 10 weeks and a 10-film minimum. Cause: Model 1 scores films one by one, but all films share 30 show-slots (sequential decomposition).</a:t>
            </a:r>
            <a:endParaRPr lang="en-US" sz="1600" dirty="0"/>
          </a:p>
        </p:txBody>
      </p:sp>
      <p:sp>
        <p:nvSpPr>
          <p:cNvPr id="7" name="card Synthetic demand and fees"/>
          <p:cNvSpPr/>
          <p:nvPr/>
        </p:nvSpPr>
        <p:spPr>
          <a:xfrm>
            <a:off x="548640" y="3794760"/>
            <a:ext cx="5440680" cy="2377440"/>
          </a:xfrm>
          <a:prstGeom prst="roundRect">
            <a:avLst>
              <a:gd name="adj" fmla="val 3077"/>
            </a:avLst>
          </a:prstGeom>
          <a:solidFill>
            <a:schemeClr val="bg2"/>
          </a:solidFill>
          <a:ln w="12700">
            <a:solidFill>
              <a:schemeClr val="bg2"/>
            </a:solidFill>
            <a:prstDash val="solid"/>
          </a:ln>
        </p:spPr>
      </p:sp>
      <p:sp>
        <p:nvSpPr>
          <p:cNvPr id="8" name="text Synthetic demand and fees"/>
          <p:cNvSpPr txBox="1"/>
          <p:nvPr/>
        </p:nvSpPr>
        <p:spPr>
          <a:xfrm>
            <a:off x="731520" y="3931920"/>
            <a:ext cx="5074920" cy="2103120"/>
          </a:xfrm>
          <a:prstGeom prst="rect">
            <a:avLst/>
          </a:prstGeom>
          <a:noFill/>
          <a:ln/>
        </p:spPr>
        <p:txBody>
          <a:bodyPr wrap="square" lIns="0" tIns="0" rIns="0" bIns="0" rtlCol="0" anchor="t"/>
          <a:lstStyle/>
          <a:p>
            <a:pPr indent="0" marL="0">
              <a:spcAft>
                <a:spcPts val="400"/>
              </a:spcAft>
              <a:buNone/>
            </a:pPr>
            <a:r>
              <a:rPr lang="en-US" sz="1800" b="1" dirty="0">
                <a:solidFill>
                  <a:schemeClr val="accent5"/>
                </a:solidFill>
              </a:rPr>
              <a:t>Synthetic demand and fees</a:t>
            </a:r>
            <a:endParaRPr lang="en-US" sz="1600" dirty="0"/>
          </a:p>
          <a:p>
            <a:pPr indent="0" marL="0">
              <a:spcAft>
                <a:spcPts val="400"/>
              </a:spcAft>
              <a:buNone/>
            </a:pPr>
            <a:r>
              <a:rPr lang="en-US" sz="1600" dirty="0">
                <a:solidFill>
                  <a:schemeClr val="tx1"/>
                </a:solidFill>
              </a:rPr>
              <a:t>TMDB has no ticket sales, so revenue is a model estimate. λ is assumed, not learned (swept 0.25–0.85). Fees were set so weekly revenue covers licensing (1.46×).</a:t>
            </a:r>
            <a:endParaRPr lang="en-US" sz="1600" dirty="0"/>
          </a:p>
        </p:txBody>
      </p:sp>
      <p:sp>
        <p:nvSpPr>
          <p:cNvPr id="9" name="card Model quirks"/>
          <p:cNvSpPr/>
          <p:nvPr/>
        </p:nvSpPr>
        <p:spPr>
          <a:xfrm>
            <a:off x="6172200" y="3794760"/>
            <a:ext cx="5440680" cy="2377440"/>
          </a:xfrm>
          <a:prstGeom prst="roundRect">
            <a:avLst>
              <a:gd name="adj" fmla="val 3077"/>
            </a:avLst>
          </a:prstGeom>
          <a:solidFill>
            <a:schemeClr val="bg2"/>
          </a:solidFill>
          <a:ln w="12700">
            <a:solidFill>
              <a:schemeClr val="bg2"/>
            </a:solidFill>
            <a:prstDash val="solid"/>
          </a:ln>
        </p:spPr>
      </p:sp>
      <p:sp>
        <p:nvSpPr>
          <p:cNvPr id="10" name="text Model quirks"/>
          <p:cNvSpPr txBox="1"/>
          <p:nvPr/>
        </p:nvSpPr>
        <p:spPr>
          <a:xfrm>
            <a:off x="6355080" y="3931920"/>
            <a:ext cx="5074920" cy="210312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Model quirks</a:t>
            </a:r>
            <a:endParaRPr lang="en-US" sz="1600" dirty="0"/>
          </a:p>
          <a:p>
            <a:pPr indent="0" marL="0">
              <a:spcAft>
                <a:spcPts val="400"/>
              </a:spcAft>
              <a:buNone/>
            </a:pPr>
            <a:r>
              <a:rPr lang="en-US" sz="1600" dirty="0">
                <a:solidFill>
                  <a:schemeClr val="tx1"/>
                </a:solidFill>
              </a:rPr>
              <a:t>With fixed slot starts, idle time has little economic meaning (lowest AHP weight). Model 2 has alternative optima. Future work: feed Model 3's shadow prices back to Model 1.</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First review to final: what we closed</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754880"/>
                <a:gridCol w="6309360"/>
              </a:tblGrid>
              <a:tr h="548640">
                <a:tc>
                  <a:txBody>
                    <a:bodyPr/>
                    <a:lstStyle/>
                    <a:p>
                      <a:pPr indent="0" marL="0">
                        <a:buNone/>
                      </a:pPr>
                      <a:r>
                        <a:rPr lang="en-US" sz="1500" b="1" dirty="0">
                          <a:solidFill>
                            <a:schemeClr val="bg1"/>
                          </a:solidFill>
                        </a:rPr>
                        <a:t>First review (promise or limitation)</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Final review (done)</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accent1"/>
                    </a:solidFill>
                  </a:tcPr>
                </a:tc>
              </a:tr>
              <a:tr h="548640">
                <a:tc>
                  <a:txBody>
                    <a:bodyPr/>
                    <a:lstStyle/>
                    <a:p>
                      <a:pPr indent="0" marL="0">
                        <a:buNone/>
                      </a:pPr>
                      <a:r>
                        <a:rPr lang="en-US" sz="1500" dirty="0">
                          <a:solidFill>
                            <a:schemeClr val="tx1"/>
                          </a:solidFill>
                        </a:rPr>
                        <a:t>Implement the models and verify the chain</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Four models implemented; 7 hand-offs verified in code; 26 automated tests</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Check all hard constraints</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9-check validator on every schedule (M3, M4, B1, B2) and every sweep run</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Compare with a popularity baseline</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B1 naive plus B2 greedy manager; revenue bridge: selection vs placement</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Sensitivity only at demand/licensing layer; end-to-end = future work</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Every sweep re-optimises the whole chain: λ, budget, demand scale, 10 weeks, variety policy</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Films over 160 min are infeasible</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Excluded explicitly (K6, C3) and priced by a shadow price</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Goal-attainment report</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Goal report, price of balance; weights by AHP (CR 0.004)</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Assumed six 180-min slots</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Found the 9 pm slot was only 120 min; moved last slot to 00:00 so all are 180 min</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Popularity static; cold start</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Still a limitation: λ-decay gives a weekly signal and is swept</a:t>
                      </a:r>
                      <a:endParaRPr lang="en-US" sz="1500" dirty="0"/>
                    </a:p>
                  </a:txBody>
                  <a:tcPr marL="73152" marR="73152" marT="36576" marB="36576" anchor="ctr">
                    <a:lnL w="6350" cap="flat" cmpd="sng" algn="ctr">
                      <a:solidFill>
                        <a:srgbClr val="D9D4D6"/>
                      </a:solidFill>
                      <a:prstDash val="solid"/>
                      <a:round/>
                      <a:headEnd type="none" w="med" len="med"/>
                      <a:tailEnd type="none" w="med" len="med"/>
                    </a:lnL>
                    <a:lnR w="6350" cap="flat" cmpd="sng" algn="ctr">
                      <a:solidFill>
                        <a:srgbClr val="D9D4D6"/>
                      </a:solidFill>
                      <a:prstDash val="solid"/>
                      <a:round/>
                      <a:headEnd type="none" w="med" len="med"/>
                      <a:tailEnd type="none" w="med" len="med"/>
                    </a:lnR>
                    <a:lnT w="6350" cap="flat" cmpd="sng" algn="ctr">
                      <a:solidFill>
                        <a:srgbClr val="D9D4D6"/>
                      </a:solidFill>
                      <a:prstDash val="solid"/>
                      <a:round/>
                      <a:headEnd type="none" w="med" len="med"/>
                      <a:tailEnd type="none" w="med" len="med"/>
                    </a:lnT>
                    <a:lnB w="6350" cap="flat" cmpd="sng" algn="ctr">
                      <a:solidFill>
                        <a:srgbClr val="D9D4D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interactive app (Streamlit)</a:t>
            </a:r>
            <a:endParaRPr lang="en-US" sz="3400" dirty="0"/>
          </a:p>
        </p:txBody>
      </p:sp>
      <p:pic>
        <p:nvPicPr>
          <p:cNvPr id="3" name="Image 0" descr="Model page: timetable and Gantt chart">    </p:cNvPr>
          <p:cNvPicPr>
            <a:picLocks noChangeAspect="1"/>
          </p:cNvPicPr>
          <p:nvPr/>
        </p:nvPicPr>
        <p:blipFill>
          <a:blip r:embed="rId1"/>
          <a:stretch>
            <a:fillRect/>
          </a:stretch>
        </p:blipFill>
        <p:spPr>
          <a:xfrm>
            <a:off x="548640" y="1188720"/>
            <a:ext cx="3611880" cy="2838312"/>
          </a:xfrm>
          <a:prstGeom prst="rect">
            <a:avLst/>
          </a:prstGeom>
        </p:spPr>
      </p:pic>
      <p:sp>
        <p:nvSpPr>
          <p:cNvPr id="4" name="Text 1"/>
          <p:cNvSpPr txBox="1"/>
          <p:nvPr/>
        </p:nvSpPr>
        <p:spPr>
          <a:xfrm>
            <a:off x="548640" y="4072752"/>
            <a:ext cx="3611880" cy="274320"/>
          </a:xfrm>
          <a:prstGeom prst="rect">
            <a:avLst/>
          </a:prstGeom>
          <a:noFill/>
          <a:ln/>
        </p:spPr>
        <p:txBody>
          <a:bodyPr wrap="square" lIns="0" tIns="0" rIns="0" bIns="0" rtlCol="0" anchor="t"/>
          <a:lstStyle/>
          <a:p>
            <a:pPr indent="0" marL="0">
              <a:buNone/>
            </a:pPr>
            <a:r>
              <a:rPr lang="en-US" sz="1200" dirty="0">
                <a:solidFill>
                  <a:schemeClr val="accent4"/>
                </a:solidFill>
              </a:rPr>
              <a:t>Model page: timetable and Gantt chart</a:t>
            </a:r>
            <a:endParaRPr lang="en-US" sz="1200" dirty="0"/>
          </a:p>
        </p:txBody>
      </p:sp>
      <p:pic>
        <p:nvPicPr>
          <p:cNvPr id="5" name="Image 1" descr="Model 4: AHP weights, consistency check">    </p:cNvPr>
          <p:cNvPicPr>
            <a:picLocks noChangeAspect="1"/>
          </p:cNvPicPr>
          <p:nvPr/>
        </p:nvPicPr>
        <p:blipFill>
          <a:blip r:embed="rId2"/>
          <a:stretch>
            <a:fillRect/>
          </a:stretch>
        </p:blipFill>
        <p:spPr>
          <a:xfrm>
            <a:off x="4274820" y="1188720"/>
            <a:ext cx="3611880" cy="2838312"/>
          </a:xfrm>
          <a:prstGeom prst="rect">
            <a:avLst/>
          </a:prstGeom>
        </p:spPr>
      </p:pic>
      <p:sp>
        <p:nvSpPr>
          <p:cNvPr id="6" name="Text 2"/>
          <p:cNvSpPr txBox="1"/>
          <p:nvPr/>
        </p:nvSpPr>
        <p:spPr>
          <a:xfrm>
            <a:off x="4274820" y="4072752"/>
            <a:ext cx="3611880" cy="274320"/>
          </a:xfrm>
          <a:prstGeom prst="rect">
            <a:avLst/>
          </a:prstGeom>
          <a:noFill/>
          <a:ln/>
        </p:spPr>
        <p:txBody>
          <a:bodyPr wrap="square" lIns="0" tIns="0" rIns="0" bIns="0" rtlCol="0" anchor="t"/>
          <a:lstStyle/>
          <a:p>
            <a:pPr indent="0" marL="0">
              <a:buNone/>
            </a:pPr>
            <a:r>
              <a:rPr lang="en-US" sz="1200" dirty="0">
                <a:solidFill>
                  <a:schemeClr val="accent4"/>
                </a:solidFill>
              </a:rPr>
              <a:t>Model 4: AHP weights, consistency check</a:t>
            </a:r>
            <a:endParaRPr lang="en-US" sz="1200" dirty="0"/>
          </a:p>
        </p:txBody>
      </p:sp>
      <p:pic>
        <p:nvPicPr>
          <p:cNvPr id="7" name="Image 2" descr="Compare: baselines and revenue bridge">    </p:cNvPr>
          <p:cNvPicPr>
            <a:picLocks noChangeAspect="1"/>
          </p:cNvPicPr>
          <p:nvPr/>
        </p:nvPicPr>
        <p:blipFill>
          <a:blip r:embed="rId3"/>
          <a:stretch>
            <a:fillRect/>
          </a:stretch>
        </p:blipFill>
        <p:spPr>
          <a:xfrm>
            <a:off x="8001000" y="1188720"/>
            <a:ext cx="3611880" cy="2838312"/>
          </a:xfrm>
          <a:prstGeom prst="rect">
            <a:avLst/>
          </a:prstGeom>
        </p:spPr>
      </p:pic>
      <p:sp>
        <p:nvSpPr>
          <p:cNvPr id="8" name="Text 3"/>
          <p:cNvSpPr txBox="1"/>
          <p:nvPr/>
        </p:nvSpPr>
        <p:spPr>
          <a:xfrm>
            <a:off x="8001000" y="4072752"/>
            <a:ext cx="3611880" cy="274320"/>
          </a:xfrm>
          <a:prstGeom prst="rect">
            <a:avLst/>
          </a:prstGeom>
          <a:noFill/>
          <a:ln/>
        </p:spPr>
        <p:txBody>
          <a:bodyPr wrap="square" lIns="0" tIns="0" rIns="0" bIns="0" rtlCol="0" anchor="t"/>
          <a:lstStyle/>
          <a:p>
            <a:pPr indent="0" marL="0">
              <a:buNone/>
            </a:pPr>
            <a:r>
              <a:rPr lang="en-US" sz="1200" dirty="0">
                <a:solidFill>
                  <a:schemeClr val="accent4"/>
                </a:solidFill>
              </a:rPr>
              <a:t>Compare: baselines and revenue bridge</a:t>
            </a:r>
            <a:endParaRPr lang="en-US" sz="1200" dirty="0"/>
          </a:p>
        </p:txBody>
      </p:sp>
      <p:sp>
        <p:nvSpPr>
          <p:cNvPr id="9" name="feature Load data"/>
          <p:cNvSpPr/>
          <p:nvPr/>
        </p:nvSpPr>
        <p:spPr>
          <a:xfrm>
            <a:off x="548640" y="4526280"/>
            <a:ext cx="3611880" cy="822960"/>
          </a:xfrm>
          <a:prstGeom prst="roundRect">
            <a:avLst>
              <a:gd name="adj" fmla="val 8889"/>
            </a:avLst>
          </a:prstGeom>
          <a:solidFill>
            <a:schemeClr val="bg2"/>
          </a:solidFill>
          <a:ln w="12700">
            <a:solidFill>
              <a:schemeClr val="bg2"/>
            </a:solidFill>
            <a:prstDash val="solid"/>
          </a:ln>
        </p:spPr>
      </p:sp>
      <p:sp>
        <p:nvSpPr>
          <p:cNvPr id="10" name="Text 5"/>
          <p:cNvSpPr txBox="1"/>
          <p:nvPr/>
        </p:nvSpPr>
        <p:spPr>
          <a:xfrm>
            <a:off x="685800" y="45994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Load data</a:t>
            </a:r>
            <a:endParaRPr lang="en-US" sz="1400" dirty="0"/>
          </a:p>
          <a:p>
            <a:pPr indent="0" marL="0">
              <a:buNone/>
            </a:pPr>
            <a:r>
              <a:rPr lang="en-US" sz="1300" dirty="0">
                <a:solidFill>
                  <a:schemeClr val="tx1"/>
                </a:solidFill>
              </a:rPr>
              <a:t>bundled TMDB file or upload; schema check; cleaning funnel</a:t>
            </a:r>
            <a:endParaRPr lang="en-US" sz="1400" dirty="0"/>
          </a:p>
        </p:txBody>
      </p:sp>
      <p:sp>
        <p:nvSpPr>
          <p:cNvPr id="11" name="feature Statistics on demand"/>
          <p:cNvSpPr/>
          <p:nvPr/>
        </p:nvSpPr>
        <p:spPr>
          <a:xfrm>
            <a:off x="4274820" y="4526280"/>
            <a:ext cx="3611880" cy="822960"/>
          </a:xfrm>
          <a:prstGeom prst="roundRect">
            <a:avLst>
              <a:gd name="adj" fmla="val 8889"/>
            </a:avLst>
          </a:prstGeom>
          <a:solidFill>
            <a:schemeClr val="bg2"/>
          </a:solidFill>
          <a:ln w="12700">
            <a:solidFill>
              <a:schemeClr val="bg2"/>
            </a:solidFill>
            <a:prstDash val="solid"/>
          </a:ln>
        </p:spPr>
      </p:sp>
      <p:sp>
        <p:nvSpPr>
          <p:cNvPr id="12" name="Text 7"/>
          <p:cNvSpPr txBox="1"/>
          <p:nvPr/>
        </p:nvSpPr>
        <p:spPr>
          <a:xfrm>
            <a:off x="4411980" y="45994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Statistics on demand</a:t>
            </a:r>
            <a:endParaRPr lang="en-US" sz="1400" dirty="0"/>
          </a:p>
          <a:p>
            <a:pPr indent="0" marL="0">
              <a:buNone/>
            </a:pPr>
            <a:r>
              <a:rPr lang="en-US" sz="1300" dirty="0">
                <a:solidFill>
                  <a:schemeClr val="tx1"/>
                </a:solidFill>
              </a:rPr>
              <a:t>9 analyses with filters, charts, CSV export</a:t>
            </a:r>
            <a:endParaRPr lang="en-US" sz="1400" dirty="0"/>
          </a:p>
        </p:txBody>
      </p:sp>
      <p:sp>
        <p:nvSpPr>
          <p:cNvPr id="13" name="feature Run any optimisation"/>
          <p:cNvSpPr/>
          <p:nvPr/>
        </p:nvSpPr>
        <p:spPr>
          <a:xfrm>
            <a:off x="8001000" y="4526280"/>
            <a:ext cx="3611880" cy="822960"/>
          </a:xfrm>
          <a:prstGeom prst="roundRect">
            <a:avLst>
              <a:gd name="adj" fmla="val 8889"/>
            </a:avLst>
          </a:prstGeom>
          <a:solidFill>
            <a:schemeClr val="bg2"/>
          </a:solidFill>
          <a:ln w="12700">
            <a:solidFill>
              <a:schemeClr val="bg2"/>
            </a:solidFill>
            <a:prstDash val="solid"/>
          </a:ln>
        </p:spPr>
      </p:sp>
      <p:sp>
        <p:nvSpPr>
          <p:cNvPr id="14" name="Text 9"/>
          <p:cNvSpPr txBox="1"/>
          <p:nvPr/>
        </p:nvSpPr>
        <p:spPr>
          <a:xfrm>
            <a:off x="8138160" y="45994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Run any optimisation</a:t>
            </a:r>
            <a:endParaRPr lang="en-US" sz="1400" dirty="0"/>
          </a:p>
          <a:p>
            <a:pPr indent="0" marL="0">
              <a:buNone/>
            </a:pPr>
            <a:r>
              <a:rPr lang="en-US" sz="1300" dirty="0">
                <a:solidFill>
                  <a:schemeClr val="tx1"/>
                </a:solidFill>
              </a:rPr>
              <a:t>Models 1–4 on their own pages, or the full chain</a:t>
            </a:r>
            <a:endParaRPr lang="en-US" sz="1400" dirty="0"/>
          </a:p>
        </p:txBody>
      </p:sp>
      <p:sp>
        <p:nvSpPr>
          <p:cNvPr id="15" name="feature See the model"/>
          <p:cNvSpPr/>
          <p:nvPr/>
        </p:nvSpPr>
        <p:spPr>
          <a:xfrm>
            <a:off x="548640" y="5440680"/>
            <a:ext cx="3611880" cy="822960"/>
          </a:xfrm>
          <a:prstGeom prst="roundRect">
            <a:avLst>
              <a:gd name="adj" fmla="val 8889"/>
            </a:avLst>
          </a:prstGeom>
          <a:solidFill>
            <a:schemeClr val="bg2"/>
          </a:solidFill>
          <a:ln w="12700">
            <a:solidFill>
              <a:schemeClr val="bg2"/>
            </a:solidFill>
            <a:prstDash val="solid"/>
          </a:ln>
        </p:spPr>
      </p:sp>
      <p:sp>
        <p:nvSpPr>
          <p:cNvPr id="16" name="Text 11"/>
          <p:cNvSpPr txBox="1"/>
          <p:nvPr/>
        </p:nvSpPr>
        <p:spPr>
          <a:xfrm>
            <a:off x="685800" y="55138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See the model</a:t>
            </a:r>
            <a:endParaRPr lang="en-US" sz="1400" dirty="0"/>
          </a:p>
          <a:p>
            <a:pPr indent="0" marL="0">
              <a:buNone/>
            </a:pPr>
            <a:r>
              <a:rPr lang="en-US" sz="1300" dirty="0">
                <a:solidFill>
                  <a:schemeClr val="tx1"/>
                </a:solidFill>
              </a:rPr>
              <a:t>formulation, input data, exact .lp file, duals</a:t>
            </a:r>
            <a:endParaRPr lang="en-US" sz="1400" dirty="0"/>
          </a:p>
        </p:txBody>
      </p:sp>
      <p:sp>
        <p:nvSpPr>
          <p:cNvPr id="17" name="feature What-if and sweeps"/>
          <p:cNvSpPr/>
          <p:nvPr/>
        </p:nvSpPr>
        <p:spPr>
          <a:xfrm>
            <a:off x="4274820" y="5440680"/>
            <a:ext cx="3611880" cy="822960"/>
          </a:xfrm>
          <a:prstGeom prst="roundRect">
            <a:avLst>
              <a:gd name="adj" fmla="val 8889"/>
            </a:avLst>
          </a:prstGeom>
          <a:solidFill>
            <a:schemeClr val="bg2"/>
          </a:solidFill>
          <a:ln w="12700">
            <a:solidFill>
              <a:schemeClr val="bg2"/>
            </a:solidFill>
            <a:prstDash val="solid"/>
          </a:ln>
        </p:spPr>
      </p:sp>
      <p:sp>
        <p:nvSpPr>
          <p:cNvPr id="18" name="Text 13"/>
          <p:cNvSpPr txBox="1"/>
          <p:nvPr/>
        </p:nvSpPr>
        <p:spPr>
          <a:xfrm>
            <a:off x="4411980" y="55138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What-if and sweeps</a:t>
            </a:r>
            <a:endParaRPr lang="en-US" sz="1400" dirty="0"/>
          </a:p>
          <a:p>
            <a:pPr indent="0" marL="0">
              <a:buNone/>
            </a:pPr>
            <a:r>
              <a:rPr lang="en-US" sz="1300" dirty="0">
                <a:solidFill>
                  <a:schemeClr val="tx1"/>
                </a:solidFill>
              </a:rPr>
              <a:t>pick your own films; re-solve the chain live</a:t>
            </a:r>
            <a:endParaRPr lang="en-US" sz="1400" dirty="0"/>
          </a:p>
        </p:txBody>
      </p:sp>
      <p:sp>
        <p:nvSpPr>
          <p:cNvPr id="19" name="feature Compare and export"/>
          <p:cNvSpPr/>
          <p:nvPr/>
        </p:nvSpPr>
        <p:spPr>
          <a:xfrm>
            <a:off x="8001000" y="5440680"/>
            <a:ext cx="3611880" cy="822960"/>
          </a:xfrm>
          <a:prstGeom prst="roundRect">
            <a:avLst>
              <a:gd name="adj" fmla="val 8889"/>
            </a:avLst>
          </a:prstGeom>
          <a:solidFill>
            <a:schemeClr val="bg2"/>
          </a:solidFill>
          <a:ln w="12700">
            <a:solidFill>
              <a:schemeClr val="bg2"/>
            </a:solidFill>
            <a:prstDash val="solid"/>
          </a:ln>
        </p:spPr>
      </p:sp>
      <p:sp>
        <p:nvSpPr>
          <p:cNvPr id="20" name="Text 15"/>
          <p:cNvSpPr txBox="1"/>
          <p:nvPr/>
        </p:nvSpPr>
        <p:spPr>
          <a:xfrm>
            <a:off x="8138160" y="5513832"/>
            <a:ext cx="3337560" cy="713232"/>
          </a:xfrm>
          <a:prstGeom prst="rect">
            <a:avLst/>
          </a:prstGeom>
          <a:noFill/>
          <a:ln/>
        </p:spPr>
        <p:txBody>
          <a:bodyPr wrap="square" lIns="0" tIns="0" rIns="0" bIns="0" rtlCol="0" anchor="t"/>
          <a:lstStyle/>
          <a:p>
            <a:pPr indent="0" marL="0">
              <a:buNone/>
            </a:pPr>
            <a:r>
              <a:rPr lang="en-US" sz="1400" b="1" dirty="0">
                <a:solidFill>
                  <a:schemeClr val="accent1"/>
                </a:solidFill>
              </a:rPr>
              <a:t>Compare and export</a:t>
            </a:r>
            <a:endParaRPr lang="en-US" sz="1400" dirty="0"/>
          </a:p>
          <a:p>
            <a:pPr indent="0" marL="0">
              <a:buNone/>
            </a:pPr>
            <a:r>
              <a:rPr lang="en-US" sz="1300" dirty="0">
                <a:solidFill>
                  <a:schemeClr val="tx1"/>
                </a:solidFill>
              </a:rPr>
              <a:t>baselines, validator matrix, final plan files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code: one engine, two front ends</a:t>
            </a:r>
            <a:endParaRPr lang="en-US" sz="3400" dirty="0"/>
          </a:p>
        </p:txBody>
      </p:sp>
      <p:sp>
        <p:nvSpPr>
          <p:cNvPr id="3" name="tree card"/>
          <p:cNvSpPr/>
          <p:nvPr/>
        </p:nvSpPr>
        <p:spPr>
          <a:xfrm>
            <a:off x="548640" y="1234440"/>
            <a:ext cx="3657600" cy="4389120"/>
          </a:xfrm>
          <a:prstGeom prst="roundRect">
            <a:avLst>
              <a:gd name="adj" fmla="val 2000"/>
            </a:avLst>
          </a:prstGeom>
          <a:solidFill>
            <a:schemeClr val="bg2"/>
          </a:solidFill>
          <a:ln w="12700">
            <a:solidFill>
              <a:schemeClr val="bg2"/>
            </a:solidFill>
            <a:prstDash val="solid"/>
          </a:ln>
        </p:spPr>
      </p:sp>
      <p:sp>
        <p:nvSpPr>
          <p:cNvPr id="4" name="Text 2"/>
          <p:cNvSpPr txBox="1"/>
          <p:nvPr/>
        </p:nvSpPr>
        <p:spPr>
          <a:xfrm>
            <a:off x="731520" y="1371600"/>
            <a:ext cx="3291840" cy="402336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latin typeface="Courier New" pitchFamily="34" charset="0"/>
                <a:ea typeface="Courier New" pitchFamily="34" charset="-122"/>
                <a:cs typeface="Courier New" pitchFamily="34" charset="-120"/>
              </a:rPr>
              <a:t>engine/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config.py  every assumption</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data · market · demand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models.py  Models 1–4</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baselines · metrics (validator)</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pipeline.py  chain, sweeps</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analysis.py  LP sensitivity</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ahp.py</a:t>
            </a:r>
            <a:endParaRPr lang="en-US" sz="1200" dirty="0"/>
          </a:p>
          <a:p>
            <a:pPr indent="0" marL="0">
              <a:spcAft>
                <a:spcPts val="400"/>
              </a:spcAft>
              <a:buNone/>
            </a:pPr>
            <a:r>
              <a:rPr lang="en-US" sz="1200" b="1" dirty="0">
                <a:solidFill>
                  <a:schemeClr val="tx1"/>
                </a:solidFill>
                <a:latin typeface="Courier New" pitchFamily="34" charset="0"/>
                <a:ea typeface="Courier New" pitchFamily="34" charset="-122"/>
                <a:cs typeface="Courier New" pitchFamily="34" charset="-120"/>
              </a:rPr>
              <a:t>app/  Streamlit, 12 pages</a:t>
            </a:r>
            <a:endParaRPr lang="en-US" sz="1200" dirty="0"/>
          </a:p>
          <a:p>
            <a:pPr indent="0" marL="0">
              <a:spcAft>
                <a:spcPts val="400"/>
              </a:spcAft>
              <a:buNone/>
            </a:pPr>
            <a:r>
              <a:rPr lang="en-US" sz="1200" b="1" dirty="0">
                <a:solidFill>
                  <a:schemeClr val="tx1"/>
                </a:solidFill>
                <a:latin typeface="Courier New" pitchFamily="34" charset="0"/>
                <a:ea typeface="Courier New" pitchFamily="34" charset="-122"/>
                <a:cs typeface="Courier New" pitchFamily="34" charset="-120"/>
              </a:rPr>
              <a:t>tests/  26 tests</a:t>
            </a:r>
            <a:endParaRPr lang="en-US" sz="1200" dirty="0"/>
          </a:p>
          <a:p>
            <a:pPr indent="0" marL="0">
              <a:spcAft>
                <a:spcPts val="400"/>
              </a:spcAft>
              <a:buNone/>
            </a:pPr>
            <a:r>
              <a:rPr lang="en-US" sz="1200" b="1" dirty="0">
                <a:solidFill>
                  <a:schemeClr val="tx1"/>
                </a:solidFill>
                <a:latin typeface="Courier New" pitchFamily="34" charset="0"/>
                <a:ea typeface="Courier New" pitchFamily="34" charset="-122"/>
                <a:cs typeface="Courier New" pitchFamily="34" charset="-120"/>
              </a:rPr>
              <a:t>report notebook</a:t>
            </a:r>
            <a:endParaRPr lang="en-US" sz="1200" dirty="0"/>
          </a:p>
        </p:txBody>
      </p:sp>
      <p:sp>
        <p:nvSpPr>
          <p:cNvPr id="5" name="Text 3"/>
          <p:cNvSpPr txBox="1"/>
          <p:nvPr/>
        </p:nvSpPr>
        <p:spPr>
          <a:xfrm>
            <a:off x="4480560" y="1234440"/>
            <a:ext cx="7132320" cy="320040"/>
          </a:xfrm>
          <a:prstGeom prst="rect">
            <a:avLst/>
          </a:prstGeom>
          <a:noFill/>
          <a:ln/>
        </p:spPr>
        <p:txBody>
          <a:bodyPr wrap="square" lIns="0" tIns="0" rIns="0" bIns="0" rtlCol="0" anchor="t"/>
          <a:lstStyle/>
          <a:p>
            <a:pPr indent="0" marL="0">
              <a:buNone/>
            </a:pPr>
            <a:r>
              <a:rPr lang="en-US" sz="1400" b="1" dirty="0">
                <a:solidFill>
                  <a:schemeClr val="accent1"/>
                </a:solidFill>
              </a:rPr>
              <a:t>Model 1 in PuLP (simplified)</a:t>
            </a:r>
            <a:endParaRPr lang="en-US" sz="1400" dirty="0"/>
          </a:p>
        </p:txBody>
      </p:sp>
      <p:sp>
        <p:nvSpPr>
          <p:cNvPr id="6" name="code card"/>
          <p:cNvSpPr/>
          <p:nvPr/>
        </p:nvSpPr>
        <p:spPr>
          <a:xfrm>
            <a:off x="4480560" y="1645920"/>
            <a:ext cx="7132320" cy="2377440"/>
          </a:xfrm>
          <a:prstGeom prst="roundRect">
            <a:avLst>
              <a:gd name="adj" fmla="val 3077"/>
            </a:avLst>
          </a:prstGeom>
          <a:solidFill>
            <a:schemeClr val="tx1"/>
          </a:solidFill>
          <a:ln w="12700">
            <a:solidFill>
              <a:schemeClr val="tx1"/>
            </a:solidFill>
            <a:prstDash val="solid"/>
          </a:ln>
        </p:spPr>
      </p:sp>
      <p:sp>
        <p:nvSpPr>
          <p:cNvPr id="7" name="Text 5"/>
          <p:cNvSpPr txBox="1"/>
          <p:nvPr/>
        </p:nvSpPr>
        <p:spPr>
          <a:xfrm>
            <a:off x="4663440" y="1783080"/>
            <a:ext cx="6766560" cy="2103120"/>
          </a:xfrm>
          <a:prstGeom prst="rect">
            <a:avLst/>
          </a:prstGeom>
          <a:noFill/>
          <a:ln/>
        </p:spPr>
        <p:txBody>
          <a:bodyPr wrap="square" lIns="0" tIns="0" rIns="0" bIns="0" rtlCol="0" anchor="ctr"/>
          <a:lstStyle/>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y = pulp.LpVariable.dicts('y', films, cat='Binary')</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prob += lpSum(value[i] * y[i] for i in films)</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prob += lpSum(fee[i] * y[i] for i in films) &lt;= budget   # K1</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prob += lpSum(y[i] for i in films) &gt;= n_min             # K2</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prob.solve(PULP_CBC_CMD(msg=False))   # branch and bound</a:t>
            </a:r>
            <a:endParaRPr lang="en-US" sz="1200" dirty="0"/>
          </a:p>
        </p:txBody>
      </p:sp>
      <p:sp>
        <p:nvSpPr>
          <p:cNvPr id="8" name="Text 6"/>
          <p:cNvSpPr txBox="1"/>
          <p:nvPr/>
        </p:nvSpPr>
        <p:spPr>
          <a:xfrm>
            <a:off x="4480560" y="4206240"/>
            <a:ext cx="7132320" cy="21031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Single source of truth: </a:t>
            </a:r>
            <a:pPr indent="0" marL="0">
              <a:spcAft>
                <a:spcPts val="600"/>
              </a:spcAft>
              <a:buNone/>
            </a:pPr>
            <a:r>
              <a:rPr lang="en-US" sz="1400" dirty="0">
                <a:solidFill>
                  <a:schemeClr val="tx1"/>
                </a:solidFill>
              </a:rPr>
              <a:t>the notebook and the app import the same engine, so their numbers cannot drift apart.</a:t>
            </a:r>
            <a:endParaRPr lang="en-US" sz="1400" dirty="0"/>
          </a:p>
          <a:p>
            <a:pPr marL="342900" indent="-342900">
              <a:spcAft>
                <a:spcPts val="600"/>
              </a:spcAft>
              <a:buSzPct val="100000"/>
              <a:buChar char="•"/>
            </a:pPr>
            <a:r>
              <a:rPr lang="en-US" sz="1400" b="1" dirty="0">
                <a:solidFill>
                  <a:schemeClr val="tx1"/>
                </a:solidFill>
              </a:rPr>
              <a:t>Verified: </a:t>
            </a:r>
            <a:pPr indent="0" marL="0">
              <a:spcAft>
                <a:spcPts val="600"/>
              </a:spcAft>
              <a:buNone/>
            </a:pPr>
            <a:r>
              <a:rPr lang="en-US" sz="1400" dirty="0">
                <a:solidFill>
                  <a:schemeClr val="tx1"/>
                </a:solidFill>
              </a:rPr>
              <a:t>26 tests, including exact sensitivity ranges checked by brute-force re-solving, and the first version's numbers reproduced exactly.</a:t>
            </a:r>
            <a:endParaRPr lang="en-US" sz="1400" dirty="0"/>
          </a:p>
          <a:p>
            <a:pPr marL="342900" indent="-342900">
              <a:spcAft>
                <a:spcPts val="600"/>
              </a:spcAft>
              <a:buSzPct val="100000"/>
              <a:buChar char="•"/>
            </a:pPr>
            <a:r>
              <a:rPr lang="en-US" sz="1400" b="1" dirty="0">
                <a:solidFill>
                  <a:schemeClr val="tx1"/>
                </a:solidFill>
              </a:rPr>
              <a:t>Tools: </a:t>
            </a:r>
            <a:pPr indent="0" marL="0">
              <a:spcAft>
                <a:spcPts val="600"/>
              </a:spcAft>
              <a:buNone/>
            </a:pPr>
            <a:r>
              <a:rPr lang="en-US" sz="1400" dirty="0">
                <a:solidFill>
                  <a:schemeClr val="tx1"/>
                </a:solidFill>
              </a:rPr>
              <a:t>Python, PuLP with the CBC solver, SciPy (HiGHS) for sensitivity reports, Pandas, Plotly, Streamlit. Every model solves in under a second.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oncl Answer"/>
          <p:cNvSpPr/>
          <p:nvPr/>
        </p:nvSpPr>
        <p:spPr>
          <a:xfrm>
            <a:off x="548640" y="1280160"/>
            <a:ext cx="5440680" cy="2148840"/>
          </a:xfrm>
          <a:prstGeom prst="roundRect">
            <a:avLst>
              <a:gd name="adj" fmla="val 3404"/>
            </a:avLst>
          </a:prstGeom>
          <a:solidFill>
            <a:schemeClr val="tx2"/>
          </a:solidFill>
          <a:ln w="12700">
            <a:solidFill>
              <a:schemeClr val="tx2"/>
            </a:solidFill>
            <a:prstDash val="solid"/>
          </a:ln>
        </p:spPr>
      </p:sp>
      <p:sp>
        <p:nvSpPr>
          <p:cNvPr id="4" name="Text 2"/>
          <p:cNvSpPr txBox="1"/>
          <p:nvPr/>
        </p:nvSpPr>
        <p:spPr>
          <a:xfrm>
            <a:off x="777240" y="1444752"/>
            <a:ext cx="498348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Answer</a:t>
            </a:r>
            <a:endParaRPr lang="en-US" sz="1700" dirty="0"/>
          </a:p>
          <a:p>
            <a:pPr indent="0" marL="0">
              <a:spcAft>
                <a:spcPts val="600"/>
              </a:spcAft>
              <a:buNone/>
            </a:pPr>
            <a:r>
              <a:rPr lang="en-US" sz="1700" dirty="0">
                <a:solidFill>
                  <a:schemeClr val="bg1"/>
                </a:solidFill>
              </a:rPr>
              <a:t>Yes. A chain of four OR models gives a feasible plan that earns 61.8% more than the popularity-based schedule (₹4,16,230 vs ₹2,57,294 a day) and wins in 9 of 10 test weeks.</a:t>
            </a:r>
            <a:endParaRPr lang="en-US" sz="1700" dirty="0"/>
          </a:p>
        </p:txBody>
      </p:sp>
      <p:sp>
        <p:nvSpPr>
          <p:cNvPr id="5" name="concl OR contribution"/>
          <p:cNvSpPr/>
          <p:nvPr/>
        </p:nvSpPr>
        <p:spPr>
          <a:xfrm>
            <a:off x="6172200" y="1280160"/>
            <a:ext cx="5440680" cy="2148840"/>
          </a:xfrm>
          <a:prstGeom prst="roundRect">
            <a:avLst>
              <a:gd name="adj" fmla="val 3404"/>
            </a:avLst>
          </a:prstGeom>
          <a:solidFill>
            <a:schemeClr val="tx2"/>
          </a:solidFill>
          <a:ln w="12700">
            <a:solidFill>
              <a:schemeClr val="tx2"/>
            </a:solidFill>
            <a:prstDash val="solid"/>
          </a:ln>
        </p:spPr>
      </p:sp>
      <p:sp>
        <p:nvSpPr>
          <p:cNvPr id="6" name="Text 4"/>
          <p:cNvSpPr txBox="1"/>
          <p:nvPr/>
        </p:nvSpPr>
        <p:spPr>
          <a:xfrm>
            <a:off x="6400800" y="1444752"/>
            <a:ext cx="498348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OR contribution</a:t>
            </a:r>
            <a:endParaRPr lang="en-US" sz="1700" dirty="0"/>
          </a:p>
          <a:p>
            <a:pPr indent="0" marL="0">
              <a:spcAft>
                <a:spcPts val="600"/>
              </a:spcAft>
              <a:buNone/>
            </a:pPr>
            <a:r>
              <a:rPr lang="en-US" sz="1700" dirty="0">
                <a:solidFill>
                  <a:schemeClr val="bg1"/>
                </a:solidFill>
              </a:rPr>
              <a:t>Knapsack, transportation, assignment and goal programming, linked in code, with duals, LP sensitivity reports and AHP, all checked by a validator.</a:t>
            </a:r>
            <a:endParaRPr lang="en-US" sz="1700" dirty="0"/>
          </a:p>
        </p:txBody>
      </p:sp>
      <p:sp>
        <p:nvSpPr>
          <p:cNvPr id="7" name="concl Key inference"/>
          <p:cNvSpPr/>
          <p:nvPr/>
        </p:nvSpPr>
        <p:spPr>
          <a:xfrm>
            <a:off x="548640" y="3611880"/>
            <a:ext cx="5440680" cy="2148840"/>
          </a:xfrm>
          <a:prstGeom prst="roundRect">
            <a:avLst>
              <a:gd name="adj" fmla="val 3404"/>
            </a:avLst>
          </a:prstGeom>
          <a:solidFill>
            <a:schemeClr val="tx2"/>
          </a:solidFill>
          <a:ln w="12700">
            <a:solidFill>
              <a:schemeClr val="tx2"/>
            </a:solidFill>
            <a:prstDash val="solid"/>
          </a:ln>
        </p:spPr>
      </p:sp>
      <p:sp>
        <p:nvSpPr>
          <p:cNvPr id="8" name="Text 6"/>
          <p:cNvSpPr txBox="1"/>
          <p:nvPr/>
        </p:nvSpPr>
        <p:spPr>
          <a:xfrm>
            <a:off x="777240" y="3776472"/>
            <a:ext cx="498348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Key inference</a:t>
            </a:r>
            <a:endParaRPr lang="en-US" sz="1700" dirty="0"/>
          </a:p>
          <a:p>
            <a:pPr indent="0" marL="0">
              <a:spcAft>
                <a:spcPts val="600"/>
              </a:spcAft>
              <a:buNone/>
            </a:pPr>
            <a:r>
              <a:rPr lang="en-US" sz="1700" dirty="0">
                <a:solidFill>
                  <a:schemeClr val="bg1"/>
                </a:solidFill>
              </a:rPr>
              <a:t>Trade-offs are priced: balance costs 0.83% of revenue, the 8-film policy ₹44,251 a day. Greedy matches pure revenue, so exactness pays in rules, proofs and prices.</a:t>
            </a:r>
            <a:endParaRPr lang="en-US" sz="1700" dirty="0"/>
          </a:p>
        </p:txBody>
      </p:sp>
      <p:sp>
        <p:nvSpPr>
          <p:cNvPr id="9" name="concl Next"/>
          <p:cNvSpPr/>
          <p:nvPr/>
        </p:nvSpPr>
        <p:spPr>
          <a:xfrm>
            <a:off x="6172200" y="3611880"/>
            <a:ext cx="5440680" cy="2148840"/>
          </a:xfrm>
          <a:prstGeom prst="roundRect">
            <a:avLst>
              <a:gd name="adj" fmla="val 3404"/>
            </a:avLst>
          </a:prstGeom>
          <a:solidFill>
            <a:schemeClr val="tx2"/>
          </a:solidFill>
          <a:ln w="12700">
            <a:solidFill>
              <a:schemeClr val="tx2"/>
            </a:solidFill>
            <a:prstDash val="solid"/>
          </a:ln>
        </p:spPr>
      </p:sp>
      <p:sp>
        <p:nvSpPr>
          <p:cNvPr id="10" name="Text 8"/>
          <p:cNvSpPr txBox="1"/>
          <p:nvPr/>
        </p:nvSpPr>
        <p:spPr>
          <a:xfrm>
            <a:off x="6400800" y="3776472"/>
            <a:ext cx="498348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Next</a:t>
            </a:r>
            <a:endParaRPr lang="en-US" sz="1700" dirty="0"/>
          </a:p>
          <a:p>
            <a:pPr indent="0" marL="0">
              <a:spcAft>
                <a:spcPts val="600"/>
              </a:spcAft>
              <a:buNone/>
            </a:pPr>
            <a:r>
              <a:rPr lang="en-US" sz="1700" dirty="0">
                <a:solidFill>
                  <a:schemeClr val="bg1"/>
                </a:solidFill>
              </a:rPr>
              <a:t>Feed Model 3's shadow prices back to Model 1, fit λ from weekly box-office data, and try lexicographic goal programming.</a:t>
            </a:r>
            <a:endParaRPr lang="en-US" sz="1700" dirty="0"/>
          </a:p>
        </p:txBody>
      </p:sp>
      <p:sp>
        <p:nvSpPr>
          <p:cNvPr id="11" name="Text 9"/>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800" b="1" dirty="0">
                <a:solidFill>
                  <a:schemeClr val="accent2"/>
                </a:solidFill>
              </a:rPr>
              <a:t>Thank you · Questions</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Cinema OR">
  <a:themeElements>
    <a:clrScheme name="Cinema OR">
      <a:dk1>
        <a:srgbClr val="22252B"/>
      </a:dk1>
      <a:lt1>
        <a:srgbClr val="FFFFFF"/>
      </a:lt1>
      <a:dk2>
        <a:srgbClr val="7A1F2E"/>
      </a:dk2>
      <a:lt2>
        <a:srgbClr val="F3F0F1"/>
      </a:lt2>
      <a:accent1>
        <a:srgbClr val="9B1B30"/>
      </a:accent1>
      <a:accent2>
        <a:srgbClr val="D99A1E"/>
      </a:accent2>
      <a:accent3>
        <a:srgbClr val="2F6F73"/>
      </a:accent3>
      <a:accent4>
        <a:srgbClr val="6B7280"/>
      </a:accent4>
      <a:accent5>
        <a:srgbClr val="3B5BA5"/>
      </a:accent5>
      <a:accent6>
        <a:srgbClr val="5E8C61"/>
      </a:accent6>
      <a:hlink>
        <a:srgbClr val="3B5BA5"/>
      </a:hlink>
      <a:folHlink>
        <a:srgbClr val="6B7280"/>
      </a:folHlink>
    </a:clrScheme>
    <a:fontScheme name="Cinema 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Multi-Model Optimization for Multiplex Screen Scheduling</dc:title>
  <dc:subject>PptxGenJS Presentation</dc:subject>
  <dc:creator>Group 14</dc:creator>
  <cp:lastModifiedBy>Group 14</cp:lastModifiedBy>
  <cp:revision>1</cp:revision>
  <dcterms:created xsi:type="dcterms:W3CDTF">2026-10-14T11:29:13Z</dcterms:created>
  <dcterms:modified xsi:type="dcterms:W3CDTF">2026-10-14T11:29:13Z</dcterms:modified>
</cp:coreProperties>
</file>